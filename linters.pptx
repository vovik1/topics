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ppt/_rels/presentation.xml.rels" ContentType="application/vnd.openxmlformats-package.relationships+xml"/>
  <Override PartName="/ppt/slideLayouts/slideLayout6.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43.xml" ContentType="application/vnd.openxmlformats-officedocument.presentationml.slideLayout+xml"/>
  <Override PartName="/ppt/slideLayouts/slideLayout8.xml" ContentType="application/vnd.openxmlformats-officedocument.presentationml.slideLayout+xml"/>
  <Override PartName="/ppt/slideLayouts/slideLayout44.xml" ContentType="application/vnd.openxmlformats-officedocument.presentationml.slideLayout+xml"/>
  <Override PartName="/ppt/slideLayouts/slideLayout9.xml" ContentType="application/vnd.openxmlformats-officedocument.presentationml.slideLayout+xml"/>
  <Override PartName="/ppt/slideLayouts/slideLayout20.xml" ContentType="application/vnd.openxmlformats-officedocument.presentationml.slideLayout+xml"/>
  <Override PartName="/ppt/slideLayouts/slideLayout45.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59.xml" ContentType="application/vnd.openxmlformats-officedocument.presentationml.slideLayout+xml"/>
  <Override PartName="/ppt/slideLayouts/slideLayout33.xml" ContentType="application/vnd.openxmlformats-officedocument.presentationml.slideLayout+xml"/>
  <Override PartName="/ppt/slideLayouts/slideLayout58.xml" ContentType="application/vnd.openxmlformats-officedocument.presentationml.slideLayout+xml"/>
  <Override PartName="/ppt/slideLayouts/_rels/slideLayout57.xml.rels" ContentType="application/vnd.openxmlformats-package.relationships+xml"/>
  <Override PartName="/ppt/slideLayouts/_rels/slideLayout56.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8.xml.rels" ContentType="application/vnd.openxmlformats-package.relationships+xml"/>
  <Override PartName="/ppt/slideLayouts/_rels/slideLayout32.xml.rels" ContentType="application/vnd.openxmlformats-package.relationships+xml"/>
  <Override PartName="/ppt/slideLayouts/_rels/slideLayout60.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31.xml.rels" ContentType="application/vnd.openxmlformats-package.relationships+xml"/>
  <Override PartName="/ppt/slideLayouts/_rels/slideLayout25.xml.rels" ContentType="application/vnd.openxmlformats-package.relationships+xml"/>
  <Override PartName="/ppt/slideLayouts/_rels/slideLayout30.xml.rels" ContentType="application/vnd.openxmlformats-package.relationships+xml"/>
  <Override PartName="/ppt/slideLayouts/_rels/slideLayout24.xml.rels" ContentType="application/vnd.openxmlformats-package.relationships+xml"/>
  <Override PartName="/ppt/slideLayouts/_rels/slideLayout55.xml.rels" ContentType="application/vnd.openxmlformats-package.relationships+xml"/>
  <Override PartName="/ppt/slideLayouts/_rels/slideLayout49.xml.rels" ContentType="application/vnd.openxmlformats-package.relationships+xml"/>
  <Override PartName="/ppt/slideLayouts/_rels/slideLayout5.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19.xml.rels" ContentType="application/vnd.openxmlformats-package.relationships+xml"/>
  <Override PartName="/ppt/slideLayouts/_rels/slideLayout47.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1.xml.rels" ContentType="application/vnd.openxmlformats-package.relationships+xml"/>
  <Override PartName="/ppt/slideLayouts/_rels/slideLayout58.xml.rels" ContentType="application/vnd.openxmlformats-package.relationships+xml"/>
  <Override PartName="/ppt/slideLayouts/_rels/slideLayout53.xml.rels" ContentType="application/vnd.openxmlformats-package.relationships+xml"/>
  <Override PartName="/ppt/slideLayouts/_rels/slideLayout33.xml.rels" ContentType="application/vnd.openxmlformats-package.relationships+xml"/>
  <Override PartName="/ppt/slideLayouts/_rels/slideLayout8.xml.rels" ContentType="application/vnd.openxmlformats-package.relationships+xml"/>
  <Override PartName="/ppt/slideLayouts/_rels/slideLayout52.xml.rels" ContentType="application/vnd.openxmlformats-package.relationships+xml"/>
  <Override PartName="/ppt/slideLayouts/_rels/slideLayout51.xml.rels" ContentType="application/vnd.openxmlformats-package.relationships+xml"/>
  <Override PartName="/ppt/slideLayouts/_rels/slideLayout36.xml.rels" ContentType="application/vnd.openxmlformats-package.relationships+xml"/>
  <Override PartName="/ppt/slideLayouts/_rels/slideLayout42.xml.rels" ContentType="application/vnd.openxmlformats-package.relationships+xml"/>
  <Override PartName="/ppt/slideLayouts/_rels/slideLayout45.xml.rels" ContentType="application/vnd.openxmlformats-package.relationships+xml"/>
  <Override PartName="/ppt/slideLayouts/_rels/slideLayout44.xml.rels" ContentType="application/vnd.openxmlformats-package.relationships+xml"/>
  <Override PartName="/ppt/slideLayouts/_rels/slideLayout38.xml.rels" ContentType="application/vnd.openxmlformats-package.relationships+xml"/>
  <Override PartName="/ppt/slideLayouts/_rels/slideLayout9.xml.rels" ContentType="application/vnd.openxmlformats-package.relationships+xml"/>
  <Override PartName="/ppt/slideLayouts/_rels/slideLayout34.xml.rels" ContentType="application/vnd.openxmlformats-package.relationships+xml"/>
  <Override PartName="/ppt/slideLayouts/_rels/slideLayout40.xml.rels" ContentType="application/vnd.openxmlformats-package.relationships+xml"/>
  <Override PartName="/ppt/slideLayouts/_rels/slideLayout6.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7.xml.rels" ContentType="application/vnd.openxmlformats-package.relationships+xml"/>
  <Override PartName="/ppt/slideLayouts/_rels/slideLayout43.xml.rels" ContentType="application/vnd.openxmlformats-package.relationships+xml"/>
  <Override PartName="/ppt/slideLayouts/_rels/slideLayout37.xml.rels" ContentType="application/vnd.openxmlformats-package.relationships+xml"/>
  <Override PartName="/ppt/slideLayouts/_rels/slideLayout16.xml.rels" ContentType="application/vnd.openxmlformats-package.relationships+xml"/>
  <Override PartName="/ppt/slideLayouts/_rels/slideLayout59.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1.xml.rels" ContentType="application/vnd.openxmlformats-package.relationships+xml"/>
  <Override PartName="/ppt/slideLayouts/_rels/slideLayout17.xml.rels" ContentType="application/vnd.openxmlformats-package.relationships+xml"/>
  <Override PartName="/ppt/slideLayouts/_rels/slideLayout39.xml.rels" ContentType="application/vnd.openxmlformats-package.relationships+xml"/>
  <Override PartName="/ppt/slideLayouts/_rels/slideLayout20.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54.xml.rels" ContentType="application/vnd.openxmlformats-package.relationships+xml"/>
  <Override PartName="/ppt/slideLayouts/_rels/slideLayout48.xml.rels" ContentType="application/vnd.openxmlformats-package.relationships+xml"/>
  <Override PartName="/ppt/slideLayouts/_rels/slideLayout4.xml.rels" ContentType="application/vnd.openxmlformats-package.relationships+xml"/>
  <Override PartName="/ppt/slideLayouts/_rels/slideLayout46.xml.rels" ContentType="application/vnd.openxmlformats-package.relationships+xml"/>
  <Override PartName="/ppt/slideLayouts/_rels/slideLayout2.xml.rels" ContentType="application/vnd.openxmlformats-package.relationships+xml"/>
  <Override PartName="/ppt/slideLayouts/_rels/slideLayout18.xml.rels" ContentType="application/vnd.openxmlformats-package.relationships+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54.xml" ContentType="application/vnd.openxmlformats-officedocument.presentationml.slideLayout+xml"/>
  <Override PartName="/ppt/slideLayouts/slideLayout13.xml" ContentType="application/vnd.openxmlformats-officedocument.presentationml.slideLayout+xml"/>
  <Override PartName="/ppt/slideLayouts/slideLayout38.xml" ContentType="application/vnd.openxmlformats-officedocument.presentationml.slideLayout+xml"/>
  <Override PartName="/ppt/slideLayouts/slideLayout52.xml" ContentType="application/vnd.openxmlformats-officedocument.presentationml.slideLayout+xml"/>
  <Override PartName="/ppt/slideLayouts/slideLayout14.xml" ContentType="application/vnd.openxmlformats-officedocument.presentationml.slideLayout+xml"/>
  <Override PartName="/ppt/slideLayouts/slideLayout39.xml" ContentType="application/vnd.openxmlformats-officedocument.presentationml.slideLayout+xml"/>
  <Override PartName="/ppt/slideLayouts/slideLayout60.xml" ContentType="application/vnd.openxmlformats-officedocument.presentationml.slideLayout+xml"/>
  <Override PartName="/ppt/slideLayouts/slideLayout53.xml" ContentType="application/vnd.openxmlformats-officedocument.presentationml.slideLayout+xml"/>
  <Override PartName="/ppt/slideLayouts/slideLayout12.xml" ContentType="application/vnd.openxmlformats-officedocument.presentationml.slideLayout+xml"/>
  <Override PartName="/ppt/slideLayouts/slideLayout37.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19.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55.xml" ContentType="application/vnd.openxmlformats-officedocument.presentationml.slideLayout+xml"/>
  <Override PartName="/ppt/slideLayouts/slideLayout30.xml" ContentType="application/vnd.openxmlformats-officedocument.presentationml.slideLayout+xml"/>
  <Override PartName="/ppt/slideLayouts/slideLayout56.xml" ContentType="application/vnd.openxmlformats-officedocument.presentationml.slideLayout+xml"/>
  <Override PartName="/ppt/slideLayouts/slideLayout31.xml" ContentType="application/vnd.openxmlformats-officedocument.presentationml.slideLayout+xml"/>
  <Override PartName="/ppt/slideLayouts/slideLayout57.xml" ContentType="application/vnd.openxmlformats-officedocument.presentationml.slideLayout+xml"/>
  <Override PartName="/ppt/slideLayouts/slideLayout32.xml" ContentType="application/vnd.openxmlformats-officedocument.presentationml.slideLayout+xml"/>
  <Override PartName="/ppt/media/image2.wmf" ContentType="image/x-wmf"/>
  <Override PartName="/ppt/media/image1.wmf" ContentType="image/x-wmf"/>
  <Override PartName="/ppt/media/image3.wmf" ContentType="image/x-wmf"/>
  <Override PartName="/ppt/media/image4.wmf" ContentType="image/x-wmf"/>
  <Override PartName="/ppt/media/image6.wmf" ContentType="image/x-wmf"/>
  <Override PartName="/ppt/media/image5.wmf" ContentType="image/x-wmf"/>
  <Override PartName="/ppt/media/image7.png" ContentType="image/png"/>
  <Override PartName="/ppt/media/image8.png" ContentType="image/png"/>
  <Override PartName="/ppt/media/image9.png" ContentType="image/png"/>
  <Override PartName="/ppt/media/image12.png" ContentType="image/png"/>
  <Override PartName="/ppt/media/image11.png" ContentType="image/png"/>
  <Override PartName="/ppt/media/image10.png" ContentType="image/png"/>
  <Override PartName="/ppt/media/image14.png" ContentType="image/png"/>
  <Override PartName="/ppt/media/image13.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30.png" ContentType="image/png"/>
  <Override PartName="/ppt/media/image32.png" ContentType="image/png"/>
  <Override PartName="/ppt/media/image31.png" ContentType="image/png"/>
  <Override PartName="/ppt/media/image35.png" ContentType="image/png"/>
  <Override PartName="/ppt/media/image29.png" ContentType="image/png"/>
  <Override PartName="/ppt/media/image34.png" ContentType="image/png"/>
  <Override PartName="/ppt/media/image33.png" ContentType="image/png"/>
  <Override PartName="/ppt/notesSlides/_rels/notesSlide2.xml.rels" ContentType="application/vnd.openxmlformats-package.relationships+xml"/>
  <Override PartName="/ppt/notesSlides/_rels/notesSlide1.xml.rels" ContentType="application/vnd.openxmlformats-package.relationships+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4.xml" ContentType="application/vnd.openxmlformats-officedocument.presentationml.slideMaster+xml"/>
  <Override PartName="/ppt/presentation.xml" ContentType="application/vnd.openxmlformats-officedocument.presentationml.presentation.main+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9.xml.rels" ContentType="application/vnd.openxmlformats-package.relationships+xml"/>
  <Override PartName="/ppt/slides/_rels/slide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6.xml.rels" ContentType="application/vnd.openxmlformats-package.relationships+xml"/>
  <Override PartName="/ppt/slides/_rels/slide15.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7.xml.rels" ContentType="application/vnd.openxmlformats-package.relationship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_rels/.rels" ContentType="application/vnd.openxmlformats-package.relationshi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uk-UA" sz="1800" spc="-1" strike="noStrike">
                <a:solidFill>
                  <a:srgbClr val="000000"/>
                </a:solidFill>
                <a:latin typeface="Arial"/>
              </a:rPr>
              <a:t>Click to move the slide</a:t>
            </a:r>
            <a:endParaRPr b="0" lang="uk-UA" sz="1800" spc="-1" strike="noStrike">
              <a:solidFill>
                <a:srgbClr val="000000"/>
              </a:solidFill>
              <a:latin typeface="Arial"/>
            </a:endParaRPr>
          </a:p>
        </p:txBody>
      </p:sp>
      <p:sp>
        <p:nvSpPr>
          <p:cNvPr id="198"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199"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200"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201"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202"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FB529E27-C33F-434F-BF48-DAC797C4E6A8}"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685800" y="1143000"/>
            <a:ext cx="5483880" cy="3083400"/>
          </a:xfrm>
          <a:prstGeom prst="rect">
            <a:avLst/>
          </a:prstGeom>
        </p:spPr>
      </p:sp>
      <p:sp>
        <p:nvSpPr>
          <p:cNvPr id="305" name="PlaceHolder 2"/>
          <p:cNvSpPr>
            <a:spLocks noGrp="1"/>
          </p:cNvSpPr>
          <p:nvPr>
            <p:ph type="body"/>
          </p:nvPr>
        </p:nvSpPr>
        <p:spPr>
          <a:xfrm>
            <a:off x="685800" y="4400640"/>
            <a:ext cx="5483160" cy="3597120"/>
          </a:xfrm>
          <a:prstGeom prst="rect">
            <a:avLst/>
          </a:prstGeom>
        </p:spPr>
        <p:txBody>
          <a:bodyPr lIns="0" rIns="0" tIns="0" bIns="0">
            <a:noAutofit/>
          </a:bodyPr>
          <a:p>
            <a:endParaRPr b="0" lang="en-US" sz="2000" spc="-1" strike="noStrike">
              <a:latin typeface="Arial"/>
            </a:endParaRPr>
          </a:p>
        </p:txBody>
      </p:sp>
      <p:sp>
        <p:nvSpPr>
          <p:cNvPr id="306" name="CustomShape 3"/>
          <p:cNvSpPr/>
          <p:nvPr/>
        </p:nvSpPr>
        <p:spPr>
          <a:xfrm>
            <a:off x="3884760" y="8685360"/>
            <a:ext cx="2968560" cy="4554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9D9A0DA-8F9E-461A-8D26-D6FACE157B61}" type="slidenum">
              <a:rPr b="0" lang="en-GB"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217440" y="812880"/>
            <a:ext cx="7124400" cy="4008240"/>
          </a:xfrm>
          <a:prstGeom prst="rect">
            <a:avLst/>
          </a:prstGeom>
        </p:spPr>
      </p:sp>
      <p:sp>
        <p:nvSpPr>
          <p:cNvPr id="308" name="PlaceHolder 2"/>
          <p:cNvSpPr>
            <a:spLocks noGrp="1"/>
          </p:cNvSpPr>
          <p:nvPr>
            <p:ph type="body"/>
          </p:nvPr>
        </p:nvSpPr>
        <p:spPr>
          <a:xfrm>
            <a:off x="756000" y="5078520"/>
            <a:ext cx="6046560" cy="4809960"/>
          </a:xfrm>
          <a:prstGeom prst="rect">
            <a:avLst/>
          </a:prstGeom>
        </p:spPr>
        <p:txBody>
          <a:bodyPr lIns="0" rIns="0" tIns="0" bIns="0">
            <a:noAutofit/>
          </a:bodyPr>
          <a:p>
            <a:endParaRPr b="0" lang="en-US" sz="2000" spc="-1" strike="noStrike">
              <a:latin typeface="Arial"/>
            </a:endParaRPr>
          </a:p>
        </p:txBody>
      </p:sp>
      <p:sp>
        <p:nvSpPr>
          <p:cNvPr id="309" name="CustomShape 3"/>
          <p:cNvSpPr/>
          <p:nvPr/>
        </p:nvSpPr>
        <p:spPr>
          <a:xfrm>
            <a:off x="4278960" y="10157400"/>
            <a:ext cx="3279600" cy="533160"/>
          </a:xfrm>
          <a:prstGeom prst="rect">
            <a:avLst/>
          </a:prstGeom>
          <a:noFill/>
          <a:ln>
            <a:noFill/>
          </a:ln>
        </p:spPr>
        <p:style>
          <a:lnRef idx="0"/>
          <a:fillRef idx="0"/>
          <a:effectRef idx="0"/>
          <a:fontRef idx="minor"/>
        </p:style>
        <p:txBody>
          <a:bodyPr lIns="0" rIns="0" tIns="0" bIns="0" anchor="b">
            <a:noAutofit/>
          </a:bodyPr>
          <a:p>
            <a:pPr algn="r">
              <a:lnSpc>
                <a:spcPct val="100000"/>
              </a:lnSpc>
            </a:pPr>
            <a:fld id="{02D129C8-01D3-4952-817E-D2ED24F84673}" type="slidenum">
              <a:rPr b="0" lang="en-US" sz="1400" spc="-1" strike="noStrike">
                <a:solidFill>
                  <a:srgbClr val="000000"/>
                </a:solidFill>
                <a:latin typeface="Times New Roman"/>
                <a:ea typeface="+mn-ea"/>
              </a:rPr>
              <a:t>&lt;number&gt;</a:t>
            </a:fld>
            <a:endParaRPr b="0" lang="en-US" sz="14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6"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49"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3"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54"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5"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59"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1"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3"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5"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6"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8"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0"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1"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73"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4"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5"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6"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7"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8"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5"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88"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93"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4"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98"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0"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1"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2"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4"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5"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7"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9"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0"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12"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3"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4"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5"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6"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7"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2"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4"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27"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9"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1"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32"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33"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5"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36"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37"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1"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3"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4"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6"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8"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9"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51"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2"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3"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4"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5"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6"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2"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4"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67"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9"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1"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72"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73"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5"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76"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77"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1"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3"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4"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6"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8"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9"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91"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2"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3"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4"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5"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6"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2.wmf"/><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wmf"/><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wmf"/><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5.wmf"/><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6.wmf"/><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0" name="Picture 8" descr=""/>
          <p:cNvPicPr/>
          <p:nvPr/>
        </p:nvPicPr>
        <p:blipFill>
          <a:blip r:embed="rId2"/>
          <a:stretch/>
        </p:blipFill>
        <p:spPr>
          <a:xfrm>
            <a:off x="9959040" y="5906880"/>
            <a:ext cx="1543680" cy="262080"/>
          </a:xfrm>
          <a:prstGeom prst="rect">
            <a:avLst/>
          </a:prstGeom>
          <a:ln>
            <a:noFill/>
          </a:ln>
        </p:spPr>
      </p:pic>
      <p:pic>
        <p:nvPicPr>
          <p:cNvPr id="1" name="Picture 7" descr=""/>
          <p:cNvPicPr/>
          <p:nvPr/>
        </p:nvPicPr>
        <p:blipFill>
          <a:blip r:embed="rId3"/>
          <a:stretch/>
        </p:blipFill>
        <p:spPr>
          <a:xfrm>
            <a:off x="9959040" y="5906880"/>
            <a:ext cx="1543680" cy="262080"/>
          </a:xfrm>
          <a:prstGeom prst="rect">
            <a:avLst/>
          </a:prstGeom>
          <a:ln>
            <a:noFill/>
          </a:ln>
        </p:spPr>
      </p:pic>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3"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40" name="Picture 8" descr=""/>
          <p:cNvPicPr/>
          <p:nvPr/>
        </p:nvPicPr>
        <p:blipFill>
          <a:blip r:embed="rId2"/>
          <a:stretch/>
        </p:blipFill>
        <p:spPr>
          <a:xfrm>
            <a:off x="9959040" y="5906880"/>
            <a:ext cx="1543680" cy="262080"/>
          </a:xfrm>
          <a:prstGeom prst="rect">
            <a:avLst/>
          </a:prstGeom>
          <a:ln>
            <a:noFill/>
          </a:ln>
        </p:spPr>
      </p:pic>
      <p:sp>
        <p:nvSpPr>
          <p:cNvPr id="41"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42"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79" name="Picture 8" descr=""/>
          <p:cNvPicPr/>
          <p:nvPr/>
        </p:nvPicPr>
        <p:blipFill>
          <a:blip r:embed="rId2"/>
          <a:stretch/>
        </p:blipFill>
        <p:spPr>
          <a:xfrm>
            <a:off x="9959040" y="5906880"/>
            <a:ext cx="1543680" cy="262080"/>
          </a:xfrm>
          <a:prstGeom prst="rect">
            <a:avLst/>
          </a:prstGeom>
          <a:ln>
            <a:noFill/>
          </a:ln>
        </p:spPr>
      </p:pic>
      <p:sp>
        <p:nvSpPr>
          <p:cNvPr id="80" name="PlaceHolder 1"/>
          <p:cNvSpPr>
            <a:spLocks noGrp="1"/>
          </p:cNvSpPr>
          <p:nvPr>
            <p:ph type="title"/>
          </p:nvPr>
        </p:nvSpPr>
        <p:spPr>
          <a:xfrm>
            <a:off x="609480" y="273600"/>
            <a:ext cx="10972080" cy="1144440"/>
          </a:xfrm>
          <a:prstGeom prst="rect">
            <a:avLst/>
          </a:prstGeom>
        </p:spPr>
        <p:txBody>
          <a:bodyPr lIns="0" rIns="0" tIns="0" bIns="0" anchor="ctr">
            <a:noAutofit/>
          </a:bodyPr>
          <a:p>
            <a:pPr algn="ctr"/>
            <a:r>
              <a:rPr b="0" lang="uk-UA" sz="4400" spc="-1" strike="noStrike">
                <a:solidFill>
                  <a:srgbClr val="000000"/>
                </a:solidFill>
                <a:latin typeface="Arial"/>
              </a:rPr>
              <a:t>Click to edit the title text format</a:t>
            </a:r>
            <a:endParaRPr b="0" lang="uk-UA" sz="4400" spc="-1" strike="noStrike">
              <a:solidFill>
                <a:srgbClr val="000000"/>
              </a:solidFill>
              <a:latin typeface="Arial"/>
            </a:endParaRPr>
          </a:p>
        </p:txBody>
      </p:sp>
      <p:sp>
        <p:nvSpPr>
          <p:cNvPr id="8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118" name="Picture 8" descr=""/>
          <p:cNvPicPr/>
          <p:nvPr/>
        </p:nvPicPr>
        <p:blipFill>
          <a:blip r:embed="rId2"/>
          <a:stretch/>
        </p:blipFill>
        <p:spPr>
          <a:xfrm>
            <a:off x="9959040" y="5906880"/>
            <a:ext cx="1543680" cy="262080"/>
          </a:xfrm>
          <a:prstGeom prst="rect">
            <a:avLst/>
          </a:prstGeom>
          <a:ln>
            <a:noFill/>
          </a:ln>
        </p:spPr>
      </p:pic>
      <p:sp>
        <p:nvSpPr>
          <p:cNvPr id="119"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120"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57" name="Picture 8" descr=""/>
          <p:cNvPicPr/>
          <p:nvPr/>
        </p:nvPicPr>
        <p:blipFill>
          <a:blip r:embed="rId2"/>
          <a:stretch/>
        </p:blipFill>
        <p:spPr>
          <a:xfrm>
            <a:off x="9959040" y="5906880"/>
            <a:ext cx="1543680" cy="262080"/>
          </a:xfrm>
          <a:prstGeom prst="rect">
            <a:avLst/>
          </a:prstGeom>
          <a:ln>
            <a:noFill/>
          </a:ln>
        </p:spPr>
      </p:pic>
      <p:sp>
        <p:nvSpPr>
          <p:cNvPr id="158" name="CustomShape 1"/>
          <p:cNvSpPr/>
          <p:nvPr/>
        </p:nvSpPr>
        <p:spPr>
          <a:xfrm>
            <a:off x="9487080" y="236880"/>
            <a:ext cx="2118240" cy="257040"/>
          </a:xfrm>
          <a:prstGeom prst="rect">
            <a:avLst/>
          </a:prstGeom>
          <a:noFill/>
          <a:ln>
            <a:noFill/>
          </a:ln>
        </p:spPr>
        <p:style>
          <a:lnRef idx="0"/>
          <a:fillRef idx="0"/>
          <a:effectRef idx="0"/>
          <a:fontRef idx="minor"/>
        </p:style>
        <p:txBody>
          <a:bodyPr lIns="90000" rIns="90000" tIns="45000" bIns="45000">
            <a:spAutoFit/>
          </a:bodyPr>
          <a:p>
            <a:pPr algn="r">
              <a:lnSpc>
                <a:spcPct val="100000"/>
              </a:lnSpc>
            </a:pPr>
            <a:r>
              <a:rPr b="0" lang="en-US" sz="1100" spc="-1" strike="noStrike">
                <a:solidFill>
                  <a:srgbClr val="000000"/>
                </a:solidFill>
                <a:latin typeface="Open Sans Regular"/>
                <a:ea typeface="Open Sans Regular"/>
              </a:rPr>
              <a:t>SoftServe Confidential</a:t>
            </a:r>
            <a:endParaRPr b="0" lang="en-US" sz="1100" spc="-1" strike="noStrike">
              <a:latin typeface="Arial"/>
            </a:endParaRPr>
          </a:p>
        </p:txBody>
      </p:sp>
      <p:sp>
        <p:nvSpPr>
          <p:cNvPr id="159" name="PlaceHolder 2"/>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160"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hyperlink" Target="https://jsx.github.io/" TargetMode="External"/><Relationship Id="rId2" Type="http://schemas.openxmlformats.org/officeDocument/2006/relationships/image" Target="../media/image30.png"/><Relationship Id="rId3"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7.xml"/>
</Relationships>
</file>

<file path=ppt/slides/_rels/slide16.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CustomShape 1"/>
          <p:cNvSpPr/>
          <p:nvPr/>
        </p:nvSpPr>
        <p:spPr>
          <a:xfrm>
            <a:off x="685800" y="5915160"/>
            <a:ext cx="3463920" cy="291960"/>
          </a:xfrm>
          <a:prstGeom prst="rect">
            <a:avLst/>
          </a:prstGeom>
          <a:noFill/>
          <a:ln>
            <a:noFill/>
          </a:ln>
        </p:spPr>
        <p:style>
          <a:lnRef idx="0"/>
          <a:fillRef idx="0"/>
          <a:effectRef idx="0"/>
          <a:fontRef idx="minor"/>
        </p:style>
      </p:sp>
      <p:sp>
        <p:nvSpPr>
          <p:cNvPr id="204" name="CustomShape 2"/>
          <p:cNvSpPr/>
          <p:nvPr/>
        </p:nvSpPr>
        <p:spPr>
          <a:xfrm>
            <a:off x="199440" y="329760"/>
            <a:ext cx="12387600" cy="667980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6600" spc="-1" strike="noStrike">
                <a:solidFill>
                  <a:srgbClr val="ffffff"/>
                </a:solidFill>
                <a:latin typeface="Arial"/>
                <a:ea typeface="DejaVu Sans"/>
              </a:rPr>
              <a:t>JavaScript Code Convention, Linters: JSLint, JSHint, ESLint. </a:t>
            </a:r>
            <a:endParaRPr b="0" lang="en-US" sz="66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CustomShape 1"/>
          <p:cNvSpPr/>
          <p:nvPr/>
        </p:nvSpPr>
        <p:spPr>
          <a:xfrm>
            <a:off x="685800" y="2057400"/>
            <a:ext cx="1977840" cy="682560"/>
          </a:xfrm>
          <a:prstGeom prst="rect">
            <a:avLst/>
          </a:prstGeom>
          <a:noFill/>
          <a:ln>
            <a:noFill/>
          </a:ln>
        </p:spPr>
        <p:style>
          <a:lnRef idx="0"/>
          <a:fillRef idx="0"/>
          <a:effectRef idx="0"/>
          <a:fontRef idx="minor"/>
        </p:style>
      </p:sp>
      <p:sp>
        <p:nvSpPr>
          <p:cNvPr id="206" name="CustomShape 2"/>
          <p:cNvSpPr/>
          <p:nvPr/>
        </p:nvSpPr>
        <p:spPr>
          <a:xfrm>
            <a:off x="2895480" y="2057400"/>
            <a:ext cx="1977840" cy="682560"/>
          </a:xfrm>
          <a:prstGeom prst="rect">
            <a:avLst/>
          </a:prstGeom>
          <a:noFill/>
          <a:ln>
            <a:noFill/>
          </a:ln>
        </p:spPr>
        <p:style>
          <a:lnRef idx="0"/>
          <a:fillRef idx="0"/>
          <a:effectRef idx="0"/>
          <a:fontRef idx="minor"/>
        </p:style>
      </p:sp>
      <p:sp>
        <p:nvSpPr>
          <p:cNvPr id="207" name="CustomShape 3"/>
          <p:cNvSpPr/>
          <p:nvPr/>
        </p:nvSpPr>
        <p:spPr>
          <a:xfrm>
            <a:off x="5105520" y="2057400"/>
            <a:ext cx="1977840" cy="682560"/>
          </a:xfrm>
          <a:prstGeom prst="rect">
            <a:avLst/>
          </a:prstGeom>
          <a:noFill/>
          <a:ln>
            <a:noFill/>
          </a:ln>
        </p:spPr>
        <p:style>
          <a:lnRef idx="0"/>
          <a:fillRef idx="0"/>
          <a:effectRef idx="0"/>
          <a:fontRef idx="minor"/>
        </p:style>
      </p:sp>
      <p:sp>
        <p:nvSpPr>
          <p:cNvPr id="208" name="CustomShape 4"/>
          <p:cNvSpPr/>
          <p:nvPr/>
        </p:nvSpPr>
        <p:spPr>
          <a:xfrm>
            <a:off x="7315200" y="2057400"/>
            <a:ext cx="1977840" cy="682560"/>
          </a:xfrm>
          <a:prstGeom prst="rect">
            <a:avLst/>
          </a:prstGeom>
          <a:noFill/>
          <a:ln>
            <a:noFill/>
          </a:ln>
        </p:spPr>
        <p:style>
          <a:lnRef idx="0"/>
          <a:fillRef idx="0"/>
          <a:effectRef idx="0"/>
          <a:fontRef idx="minor"/>
        </p:style>
      </p:sp>
      <p:sp>
        <p:nvSpPr>
          <p:cNvPr id="209" name="CustomShape 5"/>
          <p:cNvSpPr/>
          <p:nvPr/>
        </p:nvSpPr>
        <p:spPr>
          <a:xfrm>
            <a:off x="9524880" y="2057400"/>
            <a:ext cx="1977840" cy="682560"/>
          </a:xfrm>
          <a:prstGeom prst="rect">
            <a:avLst/>
          </a:prstGeom>
          <a:noFill/>
          <a:ln>
            <a:noFill/>
          </a:ln>
        </p:spPr>
        <p:style>
          <a:lnRef idx="0"/>
          <a:fillRef idx="0"/>
          <a:effectRef idx="0"/>
          <a:fontRef idx="minor"/>
        </p:style>
      </p:sp>
      <p:sp>
        <p:nvSpPr>
          <p:cNvPr id="210" name="CustomShape 6"/>
          <p:cNvSpPr/>
          <p:nvPr/>
        </p:nvSpPr>
        <p:spPr>
          <a:xfrm>
            <a:off x="-1737360" y="685800"/>
            <a:ext cx="13929480" cy="682560"/>
          </a:xfrm>
          <a:prstGeom prst="rect">
            <a:avLst/>
          </a:prstGeom>
          <a:noFill/>
          <a:ln>
            <a:noFill/>
          </a:ln>
        </p:spPr>
        <p:style>
          <a:lnRef idx="0"/>
          <a:fillRef idx="0"/>
          <a:effectRef idx="0"/>
          <a:fontRef idx="minor"/>
        </p:style>
      </p:sp>
      <p:sp>
        <p:nvSpPr>
          <p:cNvPr id="211" name="CustomShape 7"/>
          <p:cNvSpPr/>
          <p:nvPr/>
        </p:nvSpPr>
        <p:spPr>
          <a:xfrm>
            <a:off x="179640" y="227520"/>
            <a:ext cx="12096360" cy="74052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Why We Need JavaScript Coding Conventions?</a:t>
            </a:r>
            <a:endParaRPr b="0" lang="en-US" sz="4400" spc="-1" strike="noStrike">
              <a:latin typeface="Arial"/>
            </a:endParaRPr>
          </a:p>
        </p:txBody>
      </p:sp>
      <p:sp>
        <p:nvSpPr>
          <p:cNvPr id="212" name="CustomShape 8"/>
          <p:cNvSpPr/>
          <p:nvPr/>
        </p:nvSpPr>
        <p:spPr>
          <a:xfrm>
            <a:off x="883080" y="1464480"/>
            <a:ext cx="10627200" cy="5759280"/>
          </a:xfrm>
          <a:prstGeom prst="rect">
            <a:avLst/>
          </a:prstGeom>
          <a:noFill/>
          <a:ln>
            <a:noFill/>
          </a:ln>
        </p:spPr>
        <p:style>
          <a:lnRef idx="0"/>
          <a:fillRef idx="0"/>
          <a:effectRef idx="0"/>
          <a:fontRef idx="minor"/>
        </p:style>
        <p:txBody>
          <a:bodyPr lIns="90000" rIns="90000" tIns="45000" bIns="45000">
            <a:spAutoFit/>
          </a:bodyPr>
          <a:p>
            <a:pPr marL="343080" indent="-342720" algn="just">
              <a:lnSpc>
                <a:spcPct val="150000"/>
              </a:lnSpc>
              <a:buClr>
                <a:srgbClr val="ffffff"/>
              </a:buClr>
              <a:buFont typeface="Arial"/>
              <a:buChar char="•"/>
            </a:pPr>
            <a:r>
              <a:rPr b="0" lang="en-US" sz="2400" spc="-1" strike="noStrike">
                <a:solidFill>
                  <a:srgbClr val="ffffff"/>
                </a:solidFill>
                <a:latin typeface="Arial"/>
                <a:ea typeface="DejaVu Sans"/>
              </a:rPr>
              <a:t>Having conventions make things easier to understand since codebases follow the same patterns.</a:t>
            </a:r>
            <a:endParaRPr b="0" lang="en-US" sz="2400" spc="-1" strike="noStrike">
              <a:latin typeface="Arial"/>
            </a:endParaRPr>
          </a:p>
          <a:p>
            <a:pPr marL="343080" indent="-342720" algn="just">
              <a:lnSpc>
                <a:spcPct val="150000"/>
              </a:lnSpc>
              <a:buClr>
                <a:srgbClr val="ffffff"/>
              </a:buClr>
              <a:buFont typeface="Arial"/>
              <a:buChar char="•"/>
            </a:pPr>
            <a:r>
              <a:rPr b="0" lang="en-US" sz="2400" spc="-1" strike="noStrike">
                <a:solidFill>
                  <a:srgbClr val="ffffff"/>
                </a:solidFill>
                <a:latin typeface="Arial"/>
                <a:ea typeface="DejaVu Sans"/>
              </a:rPr>
              <a:t>Naming and declaration of variables, functions, classes, and other entities are consistent in their naming scheme. This means that we can understand code easier and makes things more predictable.</a:t>
            </a:r>
            <a:endParaRPr b="0" lang="en-US" sz="2400" spc="-1" strike="noStrike">
              <a:latin typeface="Arial"/>
            </a:endParaRPr>
          </a:p>
          <a:p>
            <a:pPr marL="343080" indent="-342720" algn="just">
              <a:lnSpc>
                <a:spcPct val="150000"/>
              </a:lnSpc>
              <a:buClr>
                <a:srgbClr val="ffffff"/>
              </a:buClr>
              <a:buFont typeface="Arial"/>
              <a:buChar char="•"/>
            </a:pPr>
            <a:r>
              <a:rPr b="0" lang="en-US" sz="2400" spc="-1" strike="noStrike">
                <a:solidFill>
                  <a:srgbClr val="ffffff"/>
                </a:solidFill>
                <a:latin typeface="Arial"/>
                <a:ea typeface="DejaVu Sans"/>
              </a:rPr>
              <a:t>White space, indentation, and comments make code easy to read and don’t clutter up the screen.</a:t>
            </a:r>
            <a:endParaRPr b="0" lang="en-US" sz="2400" spc="-1" strike="noStrike">
              <a:latin typeface="Arial"/>
            </a:endParaRPr>
          </a:p>
          <a:p>
            <a:pPr marL="343080" indent="-342720" algn="just">
              <a:lnSpc>
                <a:spcPct val="150000"/>
              </a:lnSpc>
              <a:buClr>
                <a:srgbClr val="ffffff"/>
              </a:buClr>
              <a:buFont typeface="Arial"/>
              <a:buChar char="•"/>
            </a:pPr>
            <a:r>
              <a:rPr b="0" lang="en-US" sz="2400" spc="-1" strike="noStrike">
                <a:solidFill>
                  <a:srgbClr val="ffffff"/>
                </a:solidFill>
                <a:latin typeface="Arial"/>
                <a:ea typeface="DejaVu Sans"/>
              </a:rPr>
              <a:t>Also, maintenance is faster since it’s easier to understand and trace. This makes debugging more effective.</a:t>
            </a:r>
            <a:endParaRPr b="0" lang="en-US" sz="2400" spc="-1" strike="noStrike">
              <a:latin typeface="Arial"/>
            </a:endParaRPr>
          </a:p>
          <a:p>
            <a:pPr>
              <a:lnSpc>
                <a:spcPct val="100000"/>
              </a:lnSpc>
            </a:pPr>
            <a:endParaRPr b="0" lang="en-US" sz="2400" spc="-1" strike="noStrike">
              <a:latin typeface="Arial"/>
            </a:endParaRPr>
          </a:p>
          <a:p>
            <a:pPr>
              <a:lnSpc>
                <a:spcPct val="100000"/>
              </a:lnSpc>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CustomShape 1"/>
          <p:cNvSpPr/>
          <p:nvPr/>
        </p:nvSpPr>
        <p:spPr>
          <a:xfrm>
            <a:off x="685800" y="685800"/>
            <a:ext cx="10817280" cy="682560"/>
          </a:xfrm>
          <a:prstGeom prst="rect">
            <a:avLst/>
          </a:prstGeom>
          <a:noFill/>
          <a:ln>
            <a:noFill/>
          </a:ln>
        </p:spPr>
        <p:style>
          <a:lnRef idx="0"/>
          <a:fillRef idx="0"/>
          <a:effectRef idx="0"/>
          <a:fontRef idx="minor"/>
        </p:style>
      </p:sp>
      <p:sp>
        <p:nvSpPr>
          <p:cNvPr id="214" name="CustomShape 2"/>
          <p:cNvSpPr/>
          <p:nvPr/>
        </p:nvSpPr>
        <p:spPr>
          <a:xfrm>
            <a:off x="685800" y="2057400"/>
            <a:ext cx="10817280" cy="3425760"/>
          </a:xfrm>
          <a:prstGeom prst="rect">
            <a:avLst/>
          </a:prstGeom>
          <a:noFill/>
          <a:ln>
            <a:noFill/>
          </a:ln>
        </p:spPr>
        <p:style>
          <a:lnRef idx="0"/>
          <a:fillRef idx="0"/>
          <a:effectRef idx="0"/>
          <a:fontRef idx="minor"/>
        </p:style>
      </p:sp>
      <p:sp>
        <p:nvSpPr>
          <p:cNvPr id="215" name="CustomShape 3"/>
          <p:cNvSpPr/>
          <p:nvPr/>
        </p:nvSpPr>
        <p:spPr>
          <a:xfrm>
            <a:off x="-84600" y="290160"/>
            <a:ext cx="12360240" cy="1430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4400" spc="-1" strike="noStrike">
                <a:solidFill>
                  <a:srgbClr val="ffffff"/>
                </a:solidFill>
                <a:latin typeface="Proxima Nova Black"/>
                <a:ea typeface="DejaVu Sans"/>
              </a:rPr>
              <a:t>Code Indentation</a:t>
            </a:r>
            <a:endParaRPr b="0" lang="en-US" sz="4400" spc="-1" strike="noStrike">
              <a:latin typeface="Arial"/>
            </a:endParaRPr>
          </a:p>
          <a:p>
            <a:pPr algn="ctr">
              <a:lnSpc>
                <a:spcPct val="100000"/>
              </a:lnSpc>
            </a:pPr>
            <a:endParaRPr b="0" lang="en-US" sz="4400" spc="-1" strike="noStrike">
              <a:latin typeface="Arial"/>
            </a:endParaRPr>
          </a:p>
        </p:txBody>
      </p:sp>
      <p:sp>
        <p:nvSpPr>
          <p:cNvPr id="216" name="CustomShape 4"/>
          <p:cNvSpPr/>
          <p:nvPr/>
        </p:nvSpPr>
        <p:spPr>
          <a:xfrm>
            <a:off x="873720" y="1161720"/>
            <a:ext cx="10629720" cy="42264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2 spaces for indentation is the accepted convention for indentation:</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For example, the following is good:</a:t>
            </a:r>
            <a:endParaRPr b="0" lang="en-US" sz="1800" spc="-1" strike="noStrike">
              <a:latin typeface="Arial"/>
            </a:endParaRPr>
          </a:p>
          <a:p>
            <a:pPr>
              <a:lnSpc>
                <a:spcPct val="100000"/>
              </a:lnSpc>
            </a:pPr>
            <a:endParaRPr b="0" lang="en-US" sz="1800" spc="-1" strike="noStrike">
              <a:latin typeface="Arial"/>
            </a:endParaRPr>
          </a:p>
        </p:txBody>
      </p:sp>
      <p:pic>
        <p:nvPicPr>
          <p:cNvPr id="217" name="Рисунок 250" descr=""/>
          <p:cNvPicPr/>
          <p:nvPr/>
        </p:nvPicPr>
        <p:blipFill>
          <a:blip r:embed="rId1"/>
          <a:stretch/>
        </p:blipFill>
        <p:spPr>
          <a:xfrm>
            <a:off x="1008720" y="1834200"/>
            <a:ext cx="1847160" cy="608760"/>
          </a:xfrm>
          <a:prstGeom prst="rect">
            <a:avLst/>
          </a:prstGeom>
          <a:ln>
            <a:noFill/>
          </a:ln>
        </p:spPr>
      </p:pic>
      <p:sp>
        <p:nvSpPr>
          <p:cNvPr id="218" name="CustomShape 5"/>
          <p:cNvSpPr/>
          <p:nvPr/>
        </p:nvSpPr>
        <p:spPr>
          <a:xfrm>
            <a:off x="957600" y="2579040"/>
            <a:ext cx="3796920" cy="3391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But the following is bad:</a:t>
            </a:r>
            <a:endParaRPr b="0" lang="en-US" sz="1800" spc="-1" strike="noStrike">
              <a:latin typeface="Arial"/>
            </a:endParaRPr>
          </a:p>
        </p:txBody>
      </p:sp>
      <p:pic>
        <p:nvPicPr>
          <p:cNvPr id="219" name="Рисунок 252" descr=""/>
          <p:cNvPicPr/>
          <p:nvPr/>
        </p:nvPicPr>
        <p:blipFill>
          <a:blip r:embed="rId2"/>
          <a:stretch/>
        </p:blipFill>
        <p:spPr>
          <a:xfrm>
            <a:off x="989640" y="3104280"/>
            <a:ext cx="1866240" cy="666000"/>
          </a:xfrm>
          <a:prstGeom prst="rect">
            <a:avLst/>
          </a:prstGeom>
          <a:ln>
            <a:noFill/>
          </a:ln>
        </p:spPr>
      </p:pic>
      <p:sp>
        <p:nvSpPr>
          <p:cNvPr id="220" name="CustomShape 6"/>
          <p:cNvSpPr/>
          <p:nvPr/>
        </p:nvSpPr>
        <p:spPr>
          <a:xfrm>
            <a:off x="957600" y="3966480"/>
            <a:ext cx="10338480" cy="66600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1" i="1" lang="en-US" sz="1800" spc="-1" strike="noStrike">
                <a:solidFill>
                  <a:srgbClr val="ffffff"/>
                </a:solidFill>
                <a:latin typeface="Arial"/>
                <a:ea typeface="DejaVu Sans"/>
              </a:rPr>
              <a:t>It’s better to use spaces instead of tabs since tabs are interpreted differently by different programs and operating systems.</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CustomShape 1"/>
          <p:cNvSpPr/>
          <p:nvPr/>
        </p:nvSpPr>
        <p:spPr>
          <a:xfrm>
            <a:off x="685800" y="685800"/>
            <a:ext cx="10817280" cy="682560"/>
          </a:xfrm>
          <a:prstGeom prst="rect">
            <a:avLst/>
          </a:prstGeom>
          <a:noFill/>
          <a:ln>
            <a:noFill/>
          </a:ln>
        </p:spPr>
        <p:style>
          <a:lnRef idx="0"/>
          <a:fillRef idx="0"/>
          <a:effectRef idx="0"/>
          <a:fontRef idx="minor"/>
        </p:style>
      </p:sp>
      <p:sp>
        <p:nvSpPr>
          <p:cNvPr id="222" name="CustomShape 2"/>
          <p:cNvSpPr/>
          <p:nvPr/>
        </p:nvSpPr>
        <p:spPr>
          <a:xfrm>
            <a:off x="685800" y="2057400"/>
            <a:ext cx="10817280" cy="3425760"/>
          </a:xfrm>
          <a:prstGeom prst="rect">
            <a:avLst/>
          </a:prstGeom>
          <a:noFill/>
          <a:ln>
            <a:noFill/>
          </a:ln>
        </p:spPr>
        <p:style>
          <a:lnRef idx="0"/>
          <a:fillRef idx="0"/>
          <a:effectRef idx="0"/>
          <a:fontRef idx="minor"/>
        </p:style>
      </p:sp>
      <p:sp>
        <p:nvSpPr>
          <p:cNvPr id="223" name="CustomShape 3"/>
          <p:cNvSpPr/>
          <p:nvPr/>
        </p:nvSpPr>
        <p:spPr>
          <a:xfrm>
            <a:off x="866520" y="595080"/>
            <a:ext cx="10559160" cy="74052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Spacing Around Operators</a:t>
            </a:r>
            <a:endParaRPr b="0" lang="en-US" sz="4400" spc="-1" strike="noStrike">
              <a:latin typeface="Arial"/>
            </a:endParaRPr>
          </a:p>
        </p:txBody>
      </p:sp>
      <p:sp>
        <p:nvSpPr>
          <p:cNvPr id="224" name="CustomShape 4"/>
          <p:cNvSpPr/>
          <p:nvPr/>
        </p:nvSpPr>
        <p:spPr>
          <a:xfrm>
            <a:off x="1097280" y="1517760"/>
            <a:ext cx="10930320" cy="58500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There should be one space between the operand and the operator for binary operators, like +, -, =, *, / and after commas.</a:t>
            </a:r>
            <a:r>
              <a:rPr b="0" lang="pl-PL" sz="1800" spc="-1" strike="noStrike">
                <a:solidFill>
                  <a:srgbClr val="ffffff"/>
                </a:solidFill>
                <a:latin typeface="Arial"/>
                <a:ea typeface="DejaVu Sans"/>
              </a:rPr>
              <a:t> </a:t>
            </a:r>
            <a:r>
              <a:rPr b="0" lang="en-US" sz="1800" spc="-1" strike="noStrike">
                <a:solidFill>
                  <a:srgbClr val="ffffff"/>
                </a:solidFill>
                <a:latin typeface="Arial"/>
                <a:ea typeface="DejaVu Sans"/>
              </a:rPr>
              <a:t>For example, the following is good:</a:t>
            </a:r>
            <a:endParaRPr b="0" lang="en-US" sz="1800" spc="-1" strike="noStrike">
              <a:latin typeface="Arial"/>
            </a:endParaRPr>
          </a:p>
          <a:p>
            <a:pPr>
              <a:lnSpc>
                <a:spcPct val="100000"/>
              </a:lnSpc>
            </a:pPr>
            <a:endParaRPr b="0" lang="en-US" sz="1800" spc="-1" strike="noStrike">
              <a:latin typeface="Arial"/>
            </a:endParaRPr>
          </a:p>
        </p:txBody>
      </p:sp>
      <p:pic>
        <p:nvPicPr>
          <p:cNvPr id="225" name="Рисунок 239" descr=""/>
          <p:cNvPicPr/>
          <p:nvPr/>
        </p:nvPicPr>
        <p:blipFill>
          <a:blip r:embed="rId1"/>
          <a:stretch/>
        </p:blipFill>
        <p:spPr>
          <a:xfrm>
            <a:off x="1188720" y="2286000"/>
            <a:ext cx="1780560" cy="399240"/>
          </a:xfrm>
          <a:prstGeom prst="rect">
            <a:avLst/>
          </a:prstGeom>
          <a:ln>
            <a:noFill/>
          </a:ln>
        </p:spPr>
      </p:pic>
      <p:sp>
        <p:nvSpPr>
          <p:cNvPr id="226" name="CustomShape 5"/>
          <p:cNvSpPr/>
          <p:nvPr/>
        </p:nvSpPr>
        <p:spPr>
          <a:xfrm>
            <a:off x="1097280" y="2744640"/>
            <a:ext cx="3593880" cy="28116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However, the following is bad:</a:t>
            </a:r>
            <a:endParaRPr b="0" lang="en-US" sz="1800" spc="-1" strike="noStrike">
              <a:latin typeface="Arial"/>
            </a:endParaRPr>
          </a:p>
        </p:txBody>
      </p:sp>
      <p:pic>
        <p:nvPicPr>
          <p:cNvPr id="227" name="Рисунок 241" descr=""/>
          <p:cNvPicPr/>
          <p:nvPr/>
        </p:nvPicPr>
        <p:blipFill>
          <a:blip r:embed="rId2"/>
          <a:stretch/>
        </p:blipFill>
        <p:spPr>
          <a:xfrm>
            <a:off x="1188720" y="3216960"/>
            <a:ext cx="1551960" cy="399240"/>
          </a:xfrm>
          <a:prstGeom prst="rect">
            <a:avLst/>
          </a:prstGeom>
          <a:ln>
            <a:noFill/>
          </a:ln>
        </p:spPr>
      </p:pic>
      <p:sp>
        <p:nvSpPr>
          <p:cNvPr id="228" name="CustomShape 6"/>
          <p:cNvSpPr/>
          <p:nvPr/>
        </p:nvSpPr>
        <p:spPr>
          <a:xfrm>
            <a:off x="1173960" y="3706200"/>
            <a:ext cx="10136160" cy="37080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Comma-separated items should have one space after the comma. For example, the following is good:</a:t>
            </a:r>
            <a:endParaRPr b="0" lang="en-US" sz="1800" spc="-1" strike="noStrike">
              <a:latin typeface="Arial"/>
            </a:endParaRPr>
          </a:p>
        </p:txBody>
      </p:sp>
      <p:pic>
        <p:nvPicPr>
          <p:cNvPr id="229" name="Рисунок 243" descr=""/>
          <p:cNvPicPr/>
          <p:nvPr/>
        </p:nvPicPr>
        <p:blipFill>
          <a:blip r:embed="rId3"/>
          <a:stretch/>
        </p:blipFill>
        <p:spPr>
          <a:xfrm>
            <a:off x="1188720" y="4397760"/>
            <a:ext cx="2189880" cy="570960"/>
          </a:xfrm>
          <a:prstGeom prst="rect">
            <a:avLst/>
          </a:prstGeom>
          <a:ln>
            <a:noFill/>
          </a:ln>
        </p:spPr>
      </p:pic>
      <p:sp>
        <p:nvSpPr>
          <p:cNvPr id="230" name="CustomShape 7"/>
          <p:cNvSpPr/>
          <p:nvPr/>
        </p:nvSpPr>
        <p:spPr>
          <a:xfrm>
            <a:off x="1097280" y="5086440"/>
            <a:ext cx="3593880" cy="37080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But the following code is bad:</a:t>
            </a:r>
            <a:endParaRPr b="0" lang="en-US" sz="1800" spc="-1" strike="noStrike">
              <a:latin typeface="Arial"/>
            </a:endParaRPr>
          </a:p>
        </p:txBody>
      </p:sp>
      <p:pic>
        <p:nvPicPr>
          <p:cNvPr id="231" name="Рисунок 245" descr=""/>
          <p:cNvPicPr/>
          <p:nvPr/>
        </p:nvPicPr>
        <p:blipFill>
          <a:blip r:embed="rId4"/>
          <a:stretch/>
        </p:blipFill>
        <p:spPr>
          <a:xfrm>
            <a:off x="1188720" y="5483520"/>
            <a:ext cx="1208880" cy="43740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CustomShape 1"/>
          <p:cNvSpPr/>
          <p:nvPr/>
        </p:nvSpPr>
        <p:spPr>
          <a:xfrm>
            <a:off x="866520" y="595080"/>
            <a:ext cx="10559160" cy="74052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pl-PL" sz="4400" spc="-1" strike="noStrike">
                <a:solidFill>
                  <a:srgbClr val="ffffff"/>
                </a:solidFill>
                <a:latin typeface="Proxima Nova Black"/>
                <a:ea typeface="DejaVu Sans"/>
              </a:rPr>
              <a:t>Comments</a:t>
            </a:r>
            <a:endParaRPr b="0" lang="en-US" sz="4400" spc="-1" strike="noStrike">
              <a:latin typeface="Arial"/>
            </a:endParaRPr>
          </a:p>
        </p:txBody>
      </p:sp>
      <p:sp>
        <p:nvSpPr>
          <p:cNvPr id="233" name="CustomShape 2"/>
          <p:cNvSpPr/>
          <p:nvPr/>
        </p:nvSpPr>
        <p:spPr>
          <a:xfrm>
            <a:off x="866520" y="1335960"/>
            <a:ext cx="10978200" cy="18727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Source Sans Pro"/>
                <a:ea typeface="DejaVu Sans"/>
              </a:rPr>
              <a:t>Single-line comments should be used to document one line of code or a group of related lines of code. A single-line comment may be used in three ways:</a:t>
            </a:r>
            <a:endParaRPr b="0" lang="en-US" sz="1800" spc="-1" strike="noStrike">
              <a:latin typeface="Arial"/>
            </a:endParaRPr>
          </a:p>
          <a:p>
            <a:pPr indent="-216000">
              <a:lnSpc>
                <a:spcPct val="150000"/>
              </a:lnSpc>
              <a:buClr>
                <a:srgbClr val="ffffff"/>
              </a:buClr>
              <a:buFont typeface="Arial"/>
              <a:buAutoNum type="arabicPeriod"/>
            </a:pPr>
            <a:r>
              <a:rPr b="0" lang="en-US" sz="1800" spc="-1" strike="noStrike">
                <a:solidFill>
                  <a:srgbClr val="ffffff"/>
                </a:solidFill>
                <a:latin typeface="Source Sans Pro"/>
                <a:ea typeface="DejaVu Sans"/>
              </a:rPr>
              <a:t>On a separate line, describing the code beneath it.</a:t>
            </a:r>
            <a:endParaRPr b="0" lang="en-US" sz="1800" spc="-1" strike="noStrike">
              <a:latin typeface="Arial"/>
            </a:endParaRPr>
          </a:p>
          <a:p>
            <a:pPr indent="-216000">
              <a:lnSpc>
                <a:spcPct val="150000"/>
              </a:lnSpc>
              <a:buClr>
                <a:srgbClr val="ffffff"/>
              </a:buClr>
              <a:buFont typeface="Arial"/>
              <a:buAutoNum type="arabicPeriod"/>
            </a:pPr>
            <a:r>
              <a:rPr b="0" lang="en-US" sz="1800" spc="-1" strike="noStrike">
                <a:solidFill>
                  <a:srgbClr val="ffffff"/>
                </a:solidFill>
                <a:latin typeface="Source Sans Pro"/>
                <a:ea typeface="DejaVu Sans"/>
              </a:rPr>
              <a:t>At the end of a line, describing the code before it.</a:t>
            </a:r>
            <a:endParaRPr b="0" lang="en-US" sz="1800" spc="-1" strike="noStrike">
              <a:latin typeface="Arial"/>
            </a:endParaRPr>
          </a:p>
          <a:p>
            <a:pPr indent="-216000">
              <a:lnSpc>
                <a:spcPct val="150000"/>
              </a:lnSpc>
              <a:buClr>
                <a:srgbClr val="ffffff"/>
              </a:buClr>
              <a:buFont typeface="Arial"/>
              <a:buAutoNum type="arabicPeriod"/>
            </a:pPr>
            <a:r>
              <a:rPr b="0" lang="en-US" sz="1800" spc="-1" strike="noStrike">
                <a:solidFill>
                  <a:srgbClr val="ffffff"/>
                </a:solidFill>
                <a:latin typeface="Source Sans Pro"/>
                <a:ea typeface="DejaVu Sans"/>
              </a:rPr>
              <a:t>On multiple lines, to comment out sections of code.</a:t>
            </a:r>
            <a:endParaRPr b="0" lang="en-US" sz="1800" spc="-1" strike="noStrike">
              <a:latin typeface="Arial"/>
            </a:endParaRPr>
          </a:p>
        </p:txBody>
      </p:sp>
      <p:pic>
        <p:nvPicPr>
          <p:cNvPr id="234" name="Рисунок 3" descr=""/>
          <p:cNvPicPr/>
          <p:nvPr/>
        </p:nvPicPr>
        <p:blipFill>
          <a:blip r:embed="rId1"/>
          <a:stretch/>
        </p:blipFill>
        <p:spPr>
          <a:xfrm>
            <a:off x="347040" y="3525840"/>
            <a:ext cx="5162760" cy="2657520"/>
          </a:xfrm>
          <a:prstGeom prst="rect">
            <a:avLst/>
          </a:prstGeom>
          <a:ln>
            <a:noFill/>
          </a:ln>
        </p:spPr>
      </p:pic>
      <p:pic>
        <p:nvPicPr>
          <p:cNvPr id="235" name="Рисунок 5" descr=""/>
          <p:cNvPicPr/>
          <p:nvPr/>
        </p:nvPicPr>
        <p:blipFill>
          <a:blip r:embed="rId2"/>
          <a:stretch/>
        </p:blipFill>
        <p:spPr>
          <a:xfrm>
            <a:off x="5624280" y="3525840"/>
            <a:ext cx="6220440" cy="1147320"/>
          </a:xfrm>
          <a:prstGeom prst="rect">
            <a:avLst/>
          </a:prstGeom>
          <a:ln>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CustomShape 1"/>
          <p:cNvSpPr/>
          <p:nvPr/>
        </p:nvSpPr>
        <p:spPr>
          <a:xfrm>
            <a:off x="1616400" y="640080"/>
            <a:ext cx="10817280" cy="682560"/>
          </a:xfrm>
          <a:prstGeom prst="rect">
            <a:avLst/>
          </a:prstGeom>
          <a:noFill/>
          <a:ln>
            <a:noFill/>
          </a:ln>
        </p:spPr>
        <p:style>
          <a:lnRef idx="0"/>
          <a:fillRef idx="0"/>
          <a:effectRef idx="0"/>
          <a:fontRef idx="minor"/>
        </p:style>
      </p:sp>
      <p:sp>
        <p:nvSpPr>
          <p:cNvPr id="237" name="CustomShape 2"/>
          <p:cNvSpPr/>
          <p:nvPr/>
        </p:nvSpPr>
        <p:spPr>
          <a:xfrm>
            <a:off x="1471680" y="32760"/>
            <a:ext cx="9247680" cy="74052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Variables and Functions</a:t>
            </a:r>
            <a:endParaRPr b="0" lang="en-US" sz="4400" spc="-1" strike="noStrike">
              <a:latin typeface="Arial"/>
            </a:endParaRPr>
          </a:p>
        </p:txBody>
      </p:sp>
      <p:sp>
        <p:nvSpPr>
          <p:cNvPr id="238" name="CustomShape 3"/>
          <p:cNvSpPr/>
          <p:nvPr/>
        </p:nvSpPr>
        <p:spPr>
          <a:xfrm>
            <a:off x="591840" y="973080"/>
            <a:ext cx="11007720" cy="3381480"/>
          </a:xfrm>
          <a:prstGeom prst="rect">
            <a:avLst/>
          </a:prstGeom>
          <a:noFill/>
          <a:ln>
            <a:noFill/>
          </a:ln>
        </p:spPr>
        <p:style>
          <a:lnRef idx="0"/>
          <a:fillRef idx="0"/>
          <a:effectRef idx="0"/>
          <a:fontRef idx="minor"/>
        </p:style>
        <p:txBody>
          <a:bodyPr lIns="90000" rIns="90000" tIns="45000" bIns="45000">
            <a:spAutoFit/>
          </a:bodyPr>
          <a:p>
            <a:pPr marL="285840" indent="-285480" algn="just">
              <a:lnSpc>
                <a:spcPct val="100000"/>
              </a:lnSpc>
              <a:buClr>
                <a:srgbClr val="ffffff"/>
              </a:buClr>
              <a:buFont typeface="Arial"/>
              <a:buChar char="•"/>
            </a:pPr>
            <a:r>
              <a:rPr b="0" lang="en-US" sz="1800" spc="-1" strike="noStrike">
                <a:solidFill>
                  <a:srgbClr val="ffffff"/>
                </a:solidFill>
                <a:latin typeface="Source Sans Pro"/>
                <a:ea typeface="DejaVu Sans"/>
              </a:rPr>
              <a:t>All variables should be declared before they are used.  Variable declarations should take place at the beginning of a function using a single</a:t>
            </a:r>
            <a:r>
              <a:rPr b="0" lang="pl-PL" sz="1800" spc="-1" strike="noStrike">
                <a:solidFill>
                  <a:srgbClr val="ffffff"/>
                </a:solidFill>
                <a:latin typeface="Source Sans Pro"/>
                <a:ea typeface="DejaVu Sans"/>
              </a:rPr>
              <a:t> </a:t>
            </a:r>
            <a:r>
              <a:rPr b="0" i="1" lang="pl-PL" sz="1800" spc="-1" strike="noStrike">
                <a:solidFill>
                  <a:srgbClr val="ffffff"/>
                </a:solidFill>
                <a:latin typeface="Source Sans Pro"/>
                <a:ea typeface="DejaVu Sans"/>
              </a:rPr>
              <a:t>(var,  let ,  const)</a:t>
            </a:r>
            <a:r>
              <a:rPr b="0" lang="pl-PL" sz="1800" spc="-1" strike="noStrike">
                <a:solidFill>
                  <a:srgbClr val="ffffff"/>
                </a:solidFill>
                <a:latin typeface="Source Sans Pro"/>
                <a:ea typeface="DejaVu Sans"/>
              </a:rPr>
              <a:t> </a:t>
            </a:r>
            <a:r>
              <a:rPr b="0" lang="en-US" sz="1800" spc="-1" strike="noStrike">
                <a:solidFill>
                  <a:srgbClr val="ffffff"/>
                </a:solidFill>
                <a:latin typeface="Source Sans Pro"/>
                <a:ea typeface="DejaVu Sans"/>
              </a:rPr>
              <a:t>statement with one variable per line. Variables should be initialized when declared if applicable </a:t>
            </a:r>
            <a:r>
              <a:rPr b="0" lang="en-US" sz="1800" spc="-1" strike="noStrike">
                <a:solidFill>
                  <a:srgbClr val="ffffff"/>
                </a:solidFill>
                <a:latin typeface="Arial"/>
                <a:ea typeface="DejaVu Sans"/>
              </a:rPr>
              <a:t>and</a:t>
            </a:r>
            <a:r>
              <a:rPr b="0" lang="en-US" sz="1800" spc="-1" strike="noStrike">
                <a:solidFill>
                  <a:srgbClr val="ffffff"/>
                </a:solidFill>
                <a:latin typeface="Source Sans Pro"/>
                <a:ea typeface="DejaVu Sans"/>
              </a:rPr>
              <a:t> the equals operator should be at a consistent indentation level. Initialized variables should come first followed by uninitialized variables.</a:t>
            </a:r>
            <a:endParaRPr b="0" lang="en-US" sz="1800" spc="-1" strike="noStrike">
              <a:latin typeface="Arial"/>
            </a:endParaRPr>
          </a:p>
          <a:p>
            <a:pPr algn="just">
              <a:lnSpc>
                <a:spcPct val="100000"/>
              </a:lnSpc>
            </a:pPr>
            <a:endParaRPr b="0" lang="en-US" sz="1800" spc="-1" strike="noStrike">
              <a:latin typeface="Arial"/>
            </a:endParaRPr>
          </a:p>
          <a:p>
            <a:pPr marL="285840" indent="-285480" algn="just">
              <a:lnSpc>
                <a:spcPct val="100000"/>
              </a:lnSpc>
              <a:buClr>
                <a:srgbClr val="ffffff"/>
              </a:buClr>
              <a:buFont typeface="Arial"/>
              <a:buChar char="•"/>
            </a:pPr>
            <a:r>
              <a:rPr b="0" lang="en-US" sz="1800" spc="-1" strike="noStrike">
                <a:solidFill>
                  <a:srgbClr val="ffffff"/>
                </a:solidFill>
                <a:latin typeface="Source Sans Pro"/>
                <a:ea typeface="DejaVu Sans"/>
              </a:rPr>
              <a:t>When a function is not a method (not attached to an object) it should be defined using function declaration format (not function expression format nor using the</a:t>
            </a:r>
            <a:r>
              <a:rPr b="0" lang="pl-PL" sz="1800" spc="-1" strike="noStrike">
                <a:solidFill>
                  <a:srgbClr val="ffffff"/>
                </a:solidFill>
                <a:latin typeface="Source Sans Pro"/>
                <a:ea typeface="DejaVu Sans"/>
              </a:rPr>
              <a:t> </a:t>
            </a:r>
            <a:r>
              <a:rPr b="1" i="1" lang="pl-PL" sz="1800" spc="-1" strike="noStrike">
                <a:solidFill>
                  <a:srgbClr val="ffffff"/>
                </a:solidFill>
                <a:latin typeface="Source Sans Pro"/>
                <a:ea typeface="DejaVu Sans"/>
              </a:rPr>
              <a:t>Function</a:t>
            </a:r>
            <a:r>
              <a:rPr b="0" lang="pl-PL" sz="1800" spc="-1" strike="noStrike">
                <a:solidFill>
                  <a:srgbClr val="ffffff"/>
                </a:solidFill>
                <a:latin typeface="Source Sans Pro"/>
                <a:ea typeface="DejaVu Sans"/>
              </a:rPr>
              <a:t> constructor). T</a:t>
            </a:r>
            <a:r>
              <a:rPr b="0" lang="en-US" sz="1800" spc="-1" strike="noStrike">
                <a:solidFill>
                  <a:srgbClr val="ffffff"/>
                </a:solidFill>
                <a:latin typeface="Source Sans Pro"/>
                <a:ea typeface="DejaVu Sans"/>
              </a:rPr>
              <a:t>here should be no space between the function name and the opening parentheses. There should be one space between the closing parentheses and the right brace. The right brace should be on the same line as the</a:t>
            </a:r>
            <a:r>
              <a:rPr b="0" lang="pl-PL" sz="1800" spc="-1" strike="noStrike">
                <a:solidFill>
                  <a:srgbClr val="ffffff"/>
                </a:solidFill>
                <a:latin typeface="Source Sans Pro"/>
                <a:ea typeface="DejaVu Sans"/>
              </a:rPr>
              <a:t> </a:t>
            </a:r>
            <a:r>
              <a:rPr b="1" i="1" lang="pl-PL" sz="1800" spc="-1" strike="noStrike">
                <a:solidFill>
                  <a:srgbClr val="ffffff"/>
                </a:solidFill>
                <a:latin typeface="Source Sans Pro"/>
                <a:ea typeface="DejaVu Sans"/>
              </a:rPr>
              <a:t>function</a:t>
            </a:r>
            <a:r>
              <a:rPr b="0" lang="pl-PL" sz="1800" spc="-1" strike="noStrike">
                <a:solidFill>
                  <a:srgbClr val="ffffff"/>
                </a:solidFill>
                <a:latin typeface="Source Sans Pro"/>
                <a:ea typeface="DejaVu Sans"/>
              </a:rPr>
              <a:t> keyword</a:t>
            </a:r>
            <a:endParaRPr b="0" lang="en-US" sz="1800" spc="-1" strike="noStrike">
              <a:latin typeface="Arial"/>
            </a:endParaRPr>
          </a:p>
          <a:p>
            <a:pPr algn="just">
              <a:lnSpc>
                <a:spcPct val="100000"/>
              </a:lnSpc>
            </a:pPr>
            <a:endParaRPr b="0" lang="en-US" sz="1800" spc="-1" strike="noStrike">
              <a:latin typeface="Arial"/>
            </a:endParaRPr>
          </a:p>
        </p:txBody>
      </p:sp>
      <p:pic>
        <p:nvPicPr>
          <p:cNvPr id="239" name="Рисунок 6" descr=""/>
          <p:cNvPicPr/>
          <p:nvPr/>
        </p:nvPicPr>
        <p:blipFill>
          <a:blip r:embed="rId1"/>
          <a:stretch/>
        </p:blipFill>
        <p:spPr>
          <a:xfrm>
            <a:off x="914400" y="4297680"/>
            <a:ext cx="3114720" cy="894960"/>
          </a:xfrm>
          <a:prstGeom prst="rect">
            <a:avLst/>
          </a:prstGeom>
          <a:ln>
            <a:noFill/>
          </a:ln>
        </p:spPr>
      </p:pic>
      <p:pic>
        <p:nvPicPr>
          <p:cNvPr id="240" name="Рисунок 8" descr=""/>
          <p:cNvPicPr/>
          <p:nvPr/>
        </p:nvPicPr>
        <p:blipFill>
          <a:blip r:embed="rId2"/>
          <a:stretch/>
        </p:blipFill>
        <p:spPr>
          <a:xfrm>
            <a:off x="5725800" y="4663440"/>
            <a:ext cx="5887080" cy="180000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CustomShape 1"/>
          <p:cNvSpPr/>
          <p:nvPr/>
        </p:nvSpPr>
        <p:spPr>
          <a:xfrm>
            <a:off x="1616400" y="640080"/>
            <a:ext cx="10817280" cy="682560"/>
          </a:xfrm>
          <a:prstGeom prst="rect">
            <a:avLst/>
          </a:prstGeom>
          <a:noFill/>
          <a:ln>
            <a:noFill/>
          </a:ln>
        </p:spPr>
        <p:style>
          <a:lnRef idx="0"/>
          <a:fillRef idx="0"/>
          <a:effectRef idx="0"/>
          <a:fontRef idx="minor"/>
        </p:style>
      </p:sp>
      <p:sp>
        <p:nvSpPr>
          <p:cNvPr id="242" name="CustomShape 2"/>
          <p:cNvSpPr/>
          <p:nvPr/>
        </p:nvSpPr>
        <p:spPr>
          <a:xfrm>
            <a:off x="1471680" y="32760"/>
            <a:ext cx="9247680" cy="74052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Naming</a:t>
            </a:r>
            <a:endParaRPr b="0" lang="en-US" sz="4400" spc="-1" strike="noStrike">
              <a:latin typeface="Arial"/>
            </a:endParaRPr>
          </a:p>
        </p:txBody>
      </p:sp>
      <p:sp>
        <p:nvSpPr>
          <p:cNvPr id="243" name="CustomShape 3"/>
          <p:cNvSpPr/>
          <p:nvPr/>
        </p:nvSpPr>
        <p:spPr>
          <a:xfrm>
            <a:off x="591840" y="840960"/>
            <a:ext cx="11007720" cy="2284920"/>
          </a:xfrm>
          <a:prstGeom prst="rect">
            <a:avLst/>
          </a:prstGeom>
          <a:noFill/>
          <a:ln>
            <a:noFill/>
          </a:ln>
        </p:spPr>
        <p:style>
          <a:lnRef idx="0"/>
          <a:fillRef idx="0"/>
          <a:effectRef idx="0"/>
          <a:fontRef idx="minor"/>
        </p:style>
        <p:txBody>
          <a:bodyPr lIns="90000" rIns="90000" tIns="45000" bIns="45000">
            <a:sp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Care should be taken to name variables and functions properly. Names should be limited to alphanumeric characters and, in some cases, the underscore character. Do not use the dollar sign ($)  or back slash (\)  characters in any names.</a:t>
            </a:r>
            <a:endParaRPr b="0" lang="en-US" sz="1800" spc="-1" strike="noStrike">
              <a:latin typeface="Arial"/>
            </a:endParaRPr>
          </a:p>
          <a:p>
            <a:pPr algn="just">
              <a:lnSpc>
                <a:spcPct val="100000"/>
              </a:lnSpc>
            </a:pPr>
            <a:endParaRPr b="0" lang="en-US" sz="1800" spc="-1" strike="noStrike">
              <a:latin typeface="Arial"/>
            </a:endParaRPr>
          </a:p>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Variable names should be formatted in camel case with the first letter being lowercase and the first letter of each subsequent word being uppercase. The first word of a variable name should be a noun (not a verb) to avoid confusion with functions. Do not use underscore for variable names.</a:t>
            </a:r>
            <a:endParaRPr b="0" lang="en-US" sz="1800" spc="-1" strike="noStrike">
              <a:latin typeface="Arial"/>
            </a:endParaRPr>
          </a:p>
          <a:p>
            <a:pPr algn="just">
              <a:lnSpc>
                <a:spcPct val="100000"/>
              </a:lnSpc>
            </a:pPr>
            <a:endParaRPr b="0" lang="en-US" sz="1800" spc="-1" strike="noStrike">
              <a:latin typeface="Arial"/>
            </a:endParaRPr>
          </a:p>
        </p:txBody>
      </p:sp>
      <p:pic>
        <p:nvPicPr>
          <p:cNvPr id="244" name="Рисунок 2" descr=""/>
          <p:cNvPicPr/>
          <p:nvPr/>
        </p:nvPicPr>
        <p:blipFill>
          <a:blip r:embed="rId1"/>
          <a:stretch/>
        </p:blipFill>
        <p:spPr>
          <a:xfrm>
            <a:off x="739440" y="3149280"/>
            <a:ext cx="3200400" cy="1752480"/>
          </a:xfrm>
          <a:prstGeom prst="rect">
            <a:avLst/>
          </a:prstGeom>
          <a:ln>
            <a:noFill/>
          </a:ln>
        </p:spPr>
      </p:pic>
      <p:pic>
        <p:nvPicPr>
          <p:cNvPr id="245" name="Рисунок 4" descr=""/>
          <p:cNvPicPr/>
          <p:nvPr/>
        </p:nvPicPr>
        <p:blipFill>
          <a:blip r:embed="rId2"/>
          <a:stretch/>
        </p:blipFill>
        <p:spPr>
          <a:xfrm>
            <a:off x="4485600" y="3149280"/>
            <a:ext cx="3219480" cy="303840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TextShape 1"/>
          <p:cNvSpPr txBox="1"/>
          <p:nvPr/>
        </p:nvSpPr>
        <p:spPr>
          <a:xfrm>
            <a:off x="609480" y="273600"/>
            <a:ext cx="10972080" cy="1144440"/>
          </a:xfrm>
          <a:prstGeom prst="rect">
            <a:avLst/>
          </a:prstGeom>
          <a:noFill/>
          <a:ln>
            <a:noFill/>
          </a:ln>
        </p:spPr>
        <p:txBody>
          <a:bodyPr lIns="0" rIns="0" tIns="0" bIns="0" anchor="ctr">
            <a:noAutofit/>
          </a:bodyPr>
          <a:p>
            <a:pPr algn="ctr">
              <a:lnSpc>
                <a:spcPct val="90000"/>
              </a:lnSpc>
            </a:pPr>
            <a:r>
              <a:rPr b="0" lang="en-US" sz="4400" spc="-1" strike="noStrike">
                <a:solidFill>
                  <a:srgbClr val="ffffff"/>
                </a:solidFill>
                <a:latin typeface="Arial"/>
                <a:ea typeface="DejaVu Sans"/>
              </a:rPr>
              <a:t>Naming</a:t>
            </a:r>
            <a:endParaRPr b="0" lang="uk-UA" sz="4400" spc="-1" strike="noStrike">
              <a:solidFill>
                <a:srgbClr val="000000"/>
              </a:solidFill>
              <a:latin typeface="Arial"/>
            </a:endParaRPr>
          </a:p>
        </p:txBody>
      </p:sp>
      <p:sp>
        <p:nvSpPr>
          <p:cNvPr id="247" name="CustomShape 2"/>
          <p:cNvSpPr/>
          <p:nvPr/>
        </p:nvSpPr>
        <p:spPr>
          <a:xfrm>
            <a:off x="959400" y="1249560"/>
            <a:ext cx="10272600" cy="1186920"/>
          </a:xfrm>
          <a:prstGeom prst="rect">
            <a:avLst/>
          </a:prstGeom>
          <a:noFill/>
          <a:ln>
            <a:noFill/>
          </a:ln>
        </p:spPr>
        <p:style>
          <a:lnRef idx="0"/>
          <a:fillRef idx="0"/>
          <a:effectRef idx="0"/>
          <a:fontRef idx="minor"/>
        </p:style>
        <p:txBody>
          <a:bodyPr lIns="90000" rIns="90000" tIns="45000" bIns="45000">
            <a:spAutoFit/>
          </a:bodyPr>
          <a:p>
            <a:pPr marL="285840" indent="-285480" algn="just">
              <a:lnSpc>
                <a:spcPct val="100000"/>
              </a:lnSpc>
              <a:buClr>
                <a:srgbClr val="ffffff"/>
              </a:buClr>
              <a:buFont typeface="Arial"/>
              <a:buChar char="•"/>
            </a:pPr>
            <a:r>
              <a:rPr b="0" lang="en-US" sz="1800" spc="-1" strike="noStrike">
                <a:solidFill>
                  <a:srgbClr val="ffffff"/>
                </a:solidFill>
                <a:latin typeface="Source Sans Pro"/>
                <a:ea typeface="DejaVu Sans"/>
              </a:rPr>
              <a:t>Constructor functions, those functions used with the </a:t>
            </a:r>
            <a:r>
              <a:rPr b="1" i="1" lang="en-US" sz="1800" spc="-1" strike="noStrike">
                <a:solidFill>
                  <a:srgbClr val="ffffff"/>
                </a:solidFill>
                <a:latin typeface="Source Sans Pro"/>
                <a:ea typeface="DejaVu Sans"/>
              </a:rPr>
              <a:t>new</a:t>
            </a:r>
            <a:r>
              <a:rPr b="0" lang="en-US" sz="1800" spc="-1" strike="noStrike">
                <a:solidFill>
                  <a:srgbClr val="ffffff"/>
                </a:solidFill>
                <a:latin typeface="Source Sans Pro"/>
                <a:ea typeface="DejaVu Sans"/>
              </a:rPr>
              <a:t> operator to create new objects, should be formatted in camel case but must begin with an uppercase letter. Constructor function names should begin with a non-verb because </a:t>
            </a:r>
            <a:r>
              <a:rPr b="1" i="1" lang="en-US" sz="1800" spc="-1" strike="noStrike">
                <a:solidFill>
                  <a:srgbClr val="ffffff"/>
                </a:solidFill>
                <a:latin typeface="Source Sans Pro"/>
                <a:ea typeface="DejaVu Sans"/>
              </a:rPr>
              <a:t>new</a:t>
            </a:r>
            <a:r>
              <a:rPr b="0" lang="en-US" sz="1800" spc="-1" strike="noStrike">
                <a:solidFill>
                  <a:srgbClr val="ffffff"/>
                </a:solidFill>
                <a:latin typeface="Source Sans Pro"/>
                <a:ea typeface="DejaVu Sans"/>
              </a:rPr>
              <a:t> is the action of creating an object instance.</a:t>
            </a:r>
            <a:endParaRPr b="0" lang="en-US" sz="1800" spc="-1" strike="noStrike">
              <a:latin typeface="Arial"/>
            </a:endParaRPr>
          </a:p>
        </p:txBody>
      </p:sp>
      <p:sp>
        <p:nvSpPr>
          <p:cNvPr id="248" name="CustomShape 3"/>
          <p:cNvSpPr/>
          <p:nvPr/>
        </p:nvSpPr>
        <p:spPr>
          <a:xfrm>
            <a:off x="4932360" y="2225520"/>
            <a:ext cx="6982560" cy="9133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Source Sans Pro"/>
                <a:ea typeface="DejaVu Sans"/>
              </a:rPr>
              <a:t>Variables that act as constants (values that won't be changed) should be formatted using all uppercase letters with words separated by a single underscore.</a:t>
            </a:r>
            <a:endParaRPr b="0" lang="en-US" sz="1800" spc="-1" strike="noStrike">
              <a:latin typeface="Arial"/>
            </a:endParaRPr>
          </a:p>
        </p:txBody>
      </p:sp>
      <p:pic>
        <p:nvPicPr>
          <p:cNvPr id="249" name="Рисунок 8" descr=""/>
          <p:cNvPicPr/>
          <p:nvPr/>
        </p:nvPicPr>
        <p:blipFill>
          <a:blip r:embed="rId1"/>
          <a:stretch/>
        </p:blipFill>
        <p:spPr>
          <a:xfrm>
            <a:off x="1554480" y="2560320"/>
            <a:ext cx="2560320" cy="2369520"/>
          </a:xfrm>
          <a:prstGeom prst="rect">
            <a:avLst/>
          </a:prstGeom>
          <a:ln>
            <a:noFill/>
          </a:ln>
        </p:spPr>
      </p:pic>
      <p:pic>
        <p:nvPicPr>
          <p:cNvPr id="250" name="Рисунок 10" descr=""/>
          <p:cNvPicPr/>
          <p:nvPr/>
        </p:nvPicPr>
        <p:blipFill>
          <a:blip r:embed="rId2"/>
          <a:stretch/>
        </p:blipFill>
        <p:spPr>
          <a:xfrm>
            <a:off x="5027400" y="3291840"/>
            <a:ext cx="2104920" cy="1752480"/>
          </a:xfrm>
          <a:prstGeom prst="rect">
            <a:avLst/>
          </a:prstGeom>
          <a:ln>
            <a:noFill/>
          </a:ln>
        </p:spPr>
      </p:pic>
      <p:sp>
        <p:nvSpPr>
          <p:cNvPr id="251" name="CustomShape 4"/>
          <p:cNvSpPr/>
          <p:nvPr/>
        </p:nvSpPr>
        <p:spPr>
          <a:xfrm>
            <a:off x="1117080" y="5307480"/>
            <a:ext cx="1557720" cy="42264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pl-PL" sz="2000" spc="-1" strike="noStrike">
                <a:solidFill>
                  <a:srgbClr val="ffffff"/>
                </a:solidFill>
                <a:latin typeface="Proxima Nova Black"/>
                <a:ea typeface="DejaVu Sans"/>
              </a:rPr>
              <a:t>FileNames</a:t>
            </a:r>
            <a:endParaRPr b="0" lang="en-US" sz="2000" spc="-1" strike="noStrike">
              <a:latin typeface="Arial"/>
            </a:endParaRPr>
          </a:p>
        </p:txBody>
      </p:sp>
      <p:sp>
        <p:nvSpPr>
          <p:cNvPr id="252" name="CustomShape 5"/>
          <p:cNvSpPr/>
          <p:nvPr/>
        </p:nvSpPr>
        <p:spPr>
          <a:xfrm>
            <a:off x="1117080" y="5625360"/>
            <a:ext cx="8701920" cy="913320"/>
          </a:xfrm>
          <a:prstGeom prst="rect">
            <a:avLst/>
          </a:prstGeom>
          <a:noFill/>
          <a:ln>
            <a:noFill/>
          </a:ln>
        </p:spPr>
        <p:style>
          <a:lnRef idx="0"/>
          <a:fillRef idx="0"/>
          <a:effectRef idx="0"/>
          <a:fontRef idx="minor"/>
        </p:style>
        <p:txBody>
          <a:bodyPr lIns="90000" rIns="90000" tIns="45000" bIns="45000">
            <a:sp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Windows filenames aren’t case sensitive. However, most other operating systems have case sensitive file names. Therefore, it’s best to name them all lower case to avoid issues with file name casing.</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CustomShape 1"/>
          <p:cNvSpPr/>
          <p:nvPr/>
        </p:nvSpPr>
        <p:spPr>
          <a:xfrm>
            <a:off x="685800" y="685800"/>
            <a:ext cx="10817280" cy="682560"/>
          </a:xfrm>
          <a:prstGeom prst="rect">
            <a:avLst/>
          </a:prstGeom>
          <a:noFill/>
          <a:ln>
            <a:noFill/>
          </a:ln>
        </p:spPr>
        <p:style>
          <a:lnRef idx="0"/>
          <a:fillRef idx="0"/>
          <a:effectRef idx="0"/>
          <a:fontRef idx="minor"/>
        </p:style>
      </p:sp>
      <p:sp>
        <p:nvSpPr>
          <p:cNvPr id="254" name="CustomShape 2"/>
          <p:cNvSpPr/>
          <p:nvPr/>
        </p:nvSpPr>
        <p:spPr>
          <a:xfrm>
            <a:off x="685800" y="1969200"/>
            <a:ext cx="10817280" cy="3425760"/>
          </a:xfrm>
          <a:prstGeom prst="rect">
            <a:avLst/>
          </a:prstGeom>
          <a:noFill/>
          <a:ln>
            <a:noFill/>
          </a:ln>
        </p:spPr>
        <p:style>
          <a:lnRef idx="0"/>
          <a:fillRef idx="0"/>
          <a:effectRef idx="0"/>
          <a:fontRef idx="minor"/>
        </p:style>
      </p:sp>
      <p:sp>
        <p:nvSpPr>
          <p:cNvPr id="255" name="CustomShape 3"/>
          <p:cNvSpPr/>
          <p:nvPr/>
        </p:nvSpPr>
        <p:spPr>
          <a:xfrm>
            <a:off x="914040" y="718920"/>
            <a:ext cx="10360800" cy="82044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Statements</a:t>
            </a:r>
            <a:endParaRPr b="0" lang="en-US" sz="4400" spc="-1" strike="noStrike">
              <a:latin typeface="Arial"/>
            </a:endParaRPr>
          </a:p>
        </p:txBody>
      </p:sp>
      <p:sp>
        <p:nvSpPr>
          <p:cNvPr id="256" name="CustomShape 4"/>
          <p:cNvSpPr/>
          <p:nvPr/>
        </p:nvSpPr>
        <p:spPr>
          <a:xfrm>
            <a:off x="822960" y="1368720"/>
            <a:ext cx="9432000" cy="481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Statements should end with a semicolon at the end. For example, the following is good:</a:t>
            </a:r>
            <a:endParaRPr b="0" lang="en-US" sz="1800" spc="-1" strike="noStrike">
              <a:latin typeface="Arial"/>
            </a:endParaRPr>
          </a:p>
          <a:p>
            <a:pPr>
              <a:lnSpc>
                <a:spcPct val="100000"/>
              </a:lnSpc>
            </a:pPr>
            <a:endParaRPr b="0" lang="en-US" sz="1800" spc="-1" strike="noStrike">
              <a:latin typeface="Arial"/>
            </a:endParaRPr>
          </a:p>
        </p:txBody>
      </p:sp>
      <p:pic>
        <p:nvPicPr>
          <p:cNvPr id="257" name="Рисунок 258" descr=""/>
          <p:cNvPicPr/>
          <p:nvPr/>
        </p:nvPicPr>
        <p:blipFill>
          <a:blip r:embed="rId1"/>
          <a:stretch/>
        </p:blipFill>
        <p:spPr>
          <a:xfrm>
            <a:off x="914040" y="1792800"/>
            <a:ext cx="1732680" cy="389880"/>
          </a:xfrm>
          <a:prstGeom prst="rect">
            <a:avLst/>
          </a:prstGeom>
          <a:ln>
            <a:noFill/>
          </a:ln>
        </p:spPr>
      </p:pic>
      <p:pic>
        <p:nvPicPr>
          <p:cNvPr id="258" name="Рисунок 259" descr=""/>
          <p:cNvPicPr/>
          <p:nvPr/>
        </p:nvPicPr>
        <p:blipFill>
          <a:blip r:embed="rId2"/>
          <a:stretch/>
        </p:blipFill>
        <p:spPr>
          <a:xfrm>
            <a:off x="914040" y="2747520"/>
            <a:ext cx="1418400" cy="389880"/>
          </a:xfrm>
          <a:prstGeom prst="rect">
            <a:avLst/>
          </a:prstGeom>
          <a:ln>
            <a:noFill/>
          </a:ln>
        </p:spPr>
      </p:pic>
      <p:sp>
        <p:nvSpPr>
          <p:cNvPr id="259" name="CustomShape 5"/>
          <p:cNvSpPr/>
          <p:nvPr/>
        </p:nvSpPr>
        <p:spPr>
          <a:xfrm>
            <a:off x="844920" y="2299680"/>
            <a:ext cx="2010240" cy="3124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But this is bad:</a:t>
            </a:r>
            <a:endParaRPr b="0" lang="en-US" sz="1800" spc="-1" strike="noStrike">
              <a:latin typeface="Arial"/>
            </a:endParaRPr>
          </a:p>
        </p:txBody>
      </p:sp>
      <p:pic>
        <p:nvPicPr>
          <p:cNvPr id="260" name="Рисунок 261" descr=""/>
          <p:cNvPicPr/>
          <p:nvPr/>
        </p:nvPicPr>
        <p:blipFill>
          <a:blip r:embed="rId3"/>
          <a:stretch/>
        </p:blipFill>
        <p:spPr>
          <a:xfrm>
            <a:off x="914040" y="4049280"/>
            <a:ext cx="1675800" cy="694440"/>
          </a:xfrm>
          <a:prstGeom prst="rect">
            <a:avLst/>
          </a:prstGeom>
          <a:ln>
            <a:noFill/>
          </a:ln>
        </p:spPr>
      </p:pic>
      <p:sp>
        <p:nvSpPr>
          <p:cNvPr id="261" name="CustomShape 6"/>
          <p:cNvSpPr/>
          <p:nvPr/>
        </p:nvSpPr>
        <p:spPr>
          <a:xfrm>
            <a:off x="822960" y="3315960"/>
            <a:ext cx="10817280" cy="682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For complex statements, we should put curly braces around the block and semicolons at the end of each line to make everything clear.</a:t>
            </a:r>
            <a:endParaRPr b="0" lang="en-US" sz="1800" spc="-1" strike="noStrike">
              <a:latin typeface="Arial"/>
            </a:endParaRPr>
          </a:p>
        </p:txBody>
      </p:sp>
      <p:sp>
        <p:nvSpPr>
          <p:cNvPr id="262" name="CustomShape 7"/>
          <p:cNvSpPr/>
          <p:nvPr/>
        </p:nvSpPr>
        <p:spPr>
          <a:xfrm>
            <a:off x="822960" y="4831560"/>
            <a:ext cx="10658160" cy="8938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Also, there should be one space before the opening bracket. The closing bracket should be in a new line without any leading spaces. Complex statements shouldn’t end with a semicolon even though it’s allowed.</a:t>
            </a:r>
            <a:endParaRPr b="0" lang="en-US" sz="1800" spc="-1" strike="noStrike">
              <a:latin typeface="Arial"/>
            </a:endParaRPr>
          </a:p>
        </p:txBody>
      </p:sp>
      <p:pic>
        <p:nvPicPr>
          <p:cNvPr id="263" name="Рисунок 264" descr=""/>
          <p:cNvPicPr/>
          <p:nvPr/>
        </p:nvPicPr>
        <p:blipFill>
          <a:blip r:embed="rId4"/>
          <a:stretch/>
        </p:blipFill>
        <p:spPr>
          <a:xfrm>
            <a:off x="2250720" y="5530680"/>
            <a:ext cx="2009160" cy="106596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CustomShape 1"/>
          <p:cNvSpPr/>
          <p:nvPr/>
        </p:nvSpPr>
        <p:spPr>
          <a:xfrm>
            <a:off x="685800" y="685800"/>
            <a:ext cx="10817280" cy="682560"/>
          </a:xfrm>
          <a:prstGeom prst="rect">
            <a:avLst/>
          </a:prstGeom>
          <a:noFill/>
          <a:ln>
            <a:noFill/>
          </a:ln>
        </p:spPr>
        <p:style>
          <a:lnRef idx="0"/>
          <a:fillRef idx="0"/>
          <a:effectRef idx="0"/>
          <a:fontRef idx="minor"/>
        </p:style>
      </p:sp>
      <p:sp>
        <p:nvSpPr>
          <p:cNvPr id="265" name="CustomShape 2"/>
          <p:cNvSpPr/>
          <p:nvPr/>
        </p:nvSpPr>
        <p:spPr>
          <a:xfrm>
            <a:off x="731520" y="2057400"/>
            <a:ext cx="10817280" cy="3425760"/>
          </a:xfrm>
          <a:prstGeom prst="rect">
            <a:avLst/>
          </a:prstGeom>
          <a:noFill/>
          <a:ln>
            <a:noFill/>
          </a:ln>
        </p:spPr>
        <p:style>
          <a:lnRef idx="0"/>
          <a:fillRef idx="0"/>
          <a:effectRef idx="0"/>
          <a:fontRef idx="minor"/>
        </p:style>
      </p:sp>
      <p:sp>
        <p:nvSpPr>
          <p:cNvPr id="266" name="CustomShape 3"/>
          <p:cNvSpPr/>
          <p:nvPr/>
        </p:nvSpPr>
        <p:spPr>
          <a:xfrm>
            <a:off x="1005840" y="457200"/>
            <a:ext cx="10360800" cy="820440"/>
          </a:xfrm>
          <a:prstGeom prst="rect">
            <a:avLst/>
          </a:prstGeom>
          <a:noFill/>
          <a:ln>
            <a:noFill/>
          </a:ln>
        </p:spPr>
        <p:style>
          <a:lnRef idx="0"/>
          <a:fillRef idx="0"/>
          <a:effectRef idx="0"/>
          <a:fontRef idx="minor"/>
        </p:style>
      </p:sp>
      <p:sp>
        <p:nvSpPr>
          <p:cNvPr id="267" name="CustomShape 4"/>
          <p:cNvSpPr/>
          <p:nvPr/>
        </p:nvSpPr>
        <p:spPr>
          <a:xfrm>
            <a:off x="959760" y="385560"/>
            <a:ext cx="10360800" cy="82044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pl-PL" sz="4400" spc="-1" strike="noStrike">
                <a:solidFill>
                  <a:srgbClr val="ffffff"/>
                </a:solidFill>
                <a:latin typeface="Proxima Nova Black"/>
                <a:ea typeface="DejaVu Sans"/>
              </a:rPr>
              <a:t>Object Literals</a:t>
            </a:r>
            <a:endParaRPr b="0" lang="en-US" sz="4400" spc="-1" strike="noStrike">
              <a:latin typeface="Arial"/>
            </a:endParaRPr>
          </a:p>
        </p:txBody>
      </p:sp>
      <p:sp>
        <p:nvSpPr>
          <p:cNvPr id="268" name="CustomShape 5"/>
          <p:cNvSpPr/>
          <p:nvPr/>
        </p:nvSpPr>
        <p:spPr>
          <a:xfrm>
            <a:off x="1160640" y="1434960"/>
            <a:ext cx="10159920" cy="4204440"/>
          </a:xfrm>
          <a:prstGeom prst="rect">
            <a:avLst/>
          </a:prstGeom>
          <a:noFill/>
          <a:ln>
            <a:noFill/>
          </a:ln>
        </p:spPr>
        <p:style>
          <a:lnRef idx="0"/>
          <a:fillRef idx="0"/>
          <a:effectRef idx="0"/>
          <a:fontRef idx="minor"/>
        </p:style>
        <p:txBody>
          <a:bodyPr lIns="90000" rIns="90000" tIns="45000" bIns="45000">
            <a:spAutoFit/>
          </a:bodyPr>
          <a:p>
            <a:pPr indent="-216000" algn="just">
              <a:lnSpc>
                <a:spcPct val="150000"/>
              </a:lnSpc>
              <a:buClr>
                <a:srgbClr val="ffffff"/>
              </a:buClr>
              <a:buFont typeface="Arial"/>
              <a:buChar char="•"/>
            </a:pPr>
            <a:r>
              <a:rPr b="0" lang="en-US" sz="1800" spc="-1" strike="noStrike">
                <a:solidFill>
                  <a:srgbClr val="ffffff"/>
                </a:solidFill>
                <a:latin typeface="Source Sans Pro"/>
                <a:ea typeface="DejaVu Sans"/>
              </a:rPr>
              <a:t>The opening brace should be on the same line as the containing statement.</a:t>
            </a:r>
            <a:endParaRPr b="0" lang="en-US" sz="1800" spc="-1" strike="noStrike">
              <a:latin typeface="Arial"/>
            </a:endParaRPr>
          </a:p>
          <a:p>
            <a:pPr indent="-216000" algn="just">
              <a:lnSpc>
                <a:spcPct val="150000"/>
              </a:lnSpc>
              <a:buClr>
                <a:srgbClr val="ffffff"/>
              </a:buClr>
              <a:buFont typeface="Arial"/>
              <a:buChar char="•"/>
            </a:pPr>
            <a:r>
              <a:rPr b="0" lang="en-US" sz="1800" spc="-1" strike="noStrike">
                <a:solidFill>
                  <a:srgbClr val="ffffff"/>
                </a:solidFill>
                <a:latin typeface="Source Sans Pro"/>
                <a:ea typeface="DejaVu Sans"/>
              </a:rPr>
              <a:t>Each property-value pair should be indented one level with the first property appearing on the next line after the opening brace.</a:t>
            </a:r>
            <a:endParaRPr b="0" lang="en-US" sz="1800" spc="-1" strike="noStrike">
              <a:latin typeface="Arial"/>
            </a:endParaRPr>
          </a:p>
          <a:p>
            <a:pPr indent="-216000" algn="just">
              <a:lnSpc>
                <a:spcPct val="150000"/>
              </a:lnSpc>
              <a:buClr>
                <a:srgbClr val="ffffff"/>
              </a:buClr>
              <a:buFont typeface="Arial"/>
              <a:buChar char="•"/>
            </a:pPr>
            <a:r>
              <a:rPr b="0" lang="en-US" sz="1800" spc="-1" strike="noStrike">
                <a:solidFill>
                  <a:srgbClr val="ffffff"/>
                </a:solidFill>
                <a:latin typeface="Source Sans Pro"/>
                <a:ea typeface="DejaVu Sans"/>
              </a:rPr>
              <a:t>Each property-value pair should have an unquoted property name, followed by a colon (no space preceding it), followed by the value.</a:t>
            </a:r>
            <a:endParaRPr b="0" lang="en-US" sz="1800" spc="-1" strike="noStrike">
              <a:latin typeface="Arial"/>
            </a:endParaRPr>
          </a:p>
          <a:p>
            <a:pPr indent="-216000" algn="just">
              <a:lnSpc>
                <a:spcPct val="150000"/>
              </a:lnSpc>
              <a:buClr>
                <a:srgbClr val="ffffff"/>
              </a:buClr>
              <a:buFont typeface="Arial"/>
              <a:buChar char="•"/>
            </a:pPr>
            <a:r>
              <a:rPr b="0" lang="en-US" sz="1800" spc="-1" strike="noStrike">
                <a:solidFill>
                  <a:srgbClr val="ffffff"/>
                </a:solidFill>
                <a:latin typeface="Source Sans Pro"/>
                <a:ea typeface="DejaVu Sans"/>
              </a:rPr>
              <a:t>If the value is a function, it should wrap under the property name and should have a blank line both before and after the function.</a:t>
            </a:r>
            <a:endParaRPr b="0" lang="en-US" sz="1800" spc="-1" strike="noStrike">
              <a:latin typeface="Arial"/>
            </a:endParaRPr>
          </a:p>
          <a:p>
            <a:pPr indent="-216000" algn="just">
              <a:lnSpc>
                <a:spcPct val="150000"/>
              </a:lnSpc>
              <a:buClr>
                <a:srgbClr val="ffffff"/>
              </a:buClr>
              <a:buFont typeface="Arial"/>
              <a:buChar char="•"/>
            </a:pPr>
            <a:r>
              <a:rPr b="0" lang="en-US" sz="1800" spc="-1" strike="noStrike">
                <a:solidFill>
                  <a:srgbClr val="ffffff"/>
                </a:solidFill>
                <a:latin typeface="Source Sans Pro"/>
                <a:ea typeface="DejaVu Sans"/>
              </a:rPr>
              <a:t>Additional empty lines may be inserted to group related properties or otherwise improve readability.</a:t>
            </a:r>
            <a:endParaRPr b="0" lang="en-US" sz="1800" spc="-1" strike="noStrike">
              <a:latin typeface="Arial"/>
            </a:endParaRPr>
          </a:p>
          <a:p>
            <a:pPr indent="-216000" algn="just">
              <a:lnSpc>
                <a:spcPct val="150000"/>
              </a:lnSpc>
              <a:buClr>
                <a:srgbClr val="ffffff"/>
              </a:buClr>
              <a:buFont typeface="Arial"/>
              <a:buChar char="•"/>
            </a:pPr>
            <a:r>
              <a:rPr b="0" lang="en-US" sz="1800" spc="-1" strike="noStrike">
                <a:solidFill>
                  <a:srgbClr val="ffffff"/>
                </a:solidFill>
                <a:latin typeface="Source Sans Pro"/>
                <a:ea typeface="DejaVu Sans"/>
              </a:rPr>
              <a:t>The closing brace should be on a separate line.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TextShape 1"/>
          <p:cNvSpPr txBox="1"/>
          <p:nvPr/>
        </p:nvSpPr>
        <p:spPr>
          <a:xfrm>
            <a:off x="609480" y="273600"/>
            <a:ext cx="10972080" cy="1144440"/>
          </a:xfrm>
          <a:prstGeom prst="rect">
            <a:avLst/>
          </a:prstGeom>
          <a:noFill/>
          <a:ln>
            <a:noFill/>
          </a:ln>
        </p:spPr>
        <p:txBody>
          <a:bodyPr lIns="0" rIns="0" tIns="0" bIns="0" anchor="ctr">
            <a:noAutofit/>
          </a:bodyPr>
          <a:p>
            <a:pPr algn="ctr">
              <a:lnSpc>
                <a:spcPct val="90000"/>
              </a:lnSpc>
            </a:pPr>
            <a:r>
              <a:rPr b="0" lang="pl-PL" sz="4400" spc="-1" strike="noStrike">
                <a:solidFill>
                  <a:srgbClr val="ffffff"/>
                </a:solidFill>
                <a:latin typeface="Proxima Nova Black"/>
                <a:ea typeface="DejaVu Sans"/>
              </a:rPr>
              <a:t>Object Literals</a:t>
            </a:r>
            <a:endParaRPr b="0" lang="uk-UA" sz="4400" spc="-1" strike="noStrike">
              <a:solidFill>
                <a:srgbClr val="000000"/>
              </a:solidFill>
              <a:latin typeface="Arial"/>
            </a:endParaRPr>
          </a:p>
        </p:txBody>
      </p:sp>
      <p:sp>
        <p:nvSpPr>
          <p:cNvPr id="270" name="CustomShape 2"/>
          <p:cNvSpPr/>
          <p:nvPr/>
        </p:nvSpPr>
        <p:spPr>
          <a:xfrm>
            <a:off x="918720" y="4124520"/>
            <a:ext cx="10353240" cy="63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Source Sans Pro"/>
                <a:ea typeface="DejaVu Sans"/>
              </a:rPr>
              <a:t>When an object literal is passed to a function, the opening brace should be on the same line as if the value is a variable. All other formatting rules from above still apply.</a:t>
            </a:r>
            <a:endParaRPr b="0" lang="en-US" sz="1800" spc="-1" strike="noStrike">
              <a:latin typeface="Arial"/>
            </a:endParaRPr>
          </a:p>
        </p:txBody>
      </p:sp>
      <p:pic>
        <p:nvPicPr>
          <p:cNvPr id="271" name="Рисунок 6" descr=""/>
          <p:cNvPicPr/>
          <p:nvPr/>
        </p:nvPicPr>
        <p:blipFill>
          <a:blip r:embed="rId1"/>
          <a:stretch/>
        </p:blipFill>
        <p:spPr>
          <a:xfrm>
            <a:off x="918720" y="1344240"/>
            <a:ext cx="2371680" cy="2629080"/>
          </a:xfrm>
          <a:prstGeom prst="rect">
            <a:avLst/>
          </a:prstGeom>
          <a:ln>
            <a:noFill/>
          </a:ln>
        </p:spPr>
      </p:pic>
      <p:pic>
        <p:nvPicPr>
          <p:cNvPr id="272" name="Рисунок 8" descr=""/>
          <p:cNvPicPr/>
          <p:nvPr/>
        </p:nvPicPr>
        <p:blipFill>
          <a:blip r:embed="rId2"/>
          <a:stretch/>
        </p:blipFill>
        <p:spPr>
          <a:xfrm>
            <a:off x="3494880" y="1344240"/>
            <a:ext cx="3819600" cy="2181240"/>
          </a:xfrm>
          <a:prstGeom prst="rect">
            <a:avLst/>
          </a:prstGeom>
          <a:ln>
            <a:noFill/>
          </a:ln>
        </p:spPr>
      </p:pic>
      <p:pic>
        <p:nvPicPr>
          <p:cNvPr id="273" name="Рисунок 10" descr=""/>
          <p:cNvPicPr/>
          <p:nvPr/>
        </p:nvPicPr>
        <p:blipFill>
          <a:blip r:embed="rId3"/>
          <a:stretch/>
        </p:blipFill>
        <p:spPr>
          <a:xfrm>
            <a:off x="918720" y="4784040"/>
            <a:ext cx="3876840" cy="1800000"/>
          </a:xfrm>
          <a:prstGeom prst="rect">
            <a:avLst/>
          </a:prstGeom>
          <a:ln>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CustomShape 1"/>
          <p:cNvSpPr/>
          <p:nvPr/>
        </p:nvSpPr>
        <p:spPr>
          <a:xfrm>
            <a:off x="685800" y="685800"/>
            <a:ext cx="10817280" cy="682560"/>
          </a:xfrm>
          <a:prstGeom prst="rect">
            <a:avLst/>
          </a:prstGeom>
          <a:noFill/>
          <a:ln>
            <a:noFill/>
          </a:ln>
        </p:spPr>
        <p:style>
          <a:lnRef idx="0"/>
          <a:fillRef idx="0"/>
          <a:effectRef idx="0"/>
          <a:fontRef idx="minor"/>
        </p:style>
      </p:sp>
      <p:sp>
        <p:nvSpPr>
          <p:cNvPr id="275" name="CustomShape 2"/>
          <p:cNvSpPr/>
          <p:nvPr/>
        </p:nvSpPr>
        <p:spPr>
          <a:xfrm>
            <a:off x="731520" y="2057400"/>
            <a:ext cx="10817280" cy="3425760"/>
          </a:xfrm>
          <a:prstGeom prst="rect">
            <a:avLst/>
          </a:prstGeom>
          <a:noFill/>
          <a:ln>
            <a:noFill/>
          </a:ln>
        </p:spPr>
        <p:style>
          <a:lnRef idx="0"/>
          <a:fillRef idx="0"/>
          <a:effectRef idx="0"/>
          <a:fontRef idx="minor"/>
        </p:style>
      </p:sp>
      <p:sp>
        <p:nvSpPr>
          <p:cNvPr id="276" name="CustomShape 3"/>
          <p:cNvSpPr/>
          <p:nvPr/>
        </p:nvSpPr>
        <p:spPr>
          <a:xfrm>
            <a:off x="478440" y="332280"/>
            <a:ext cx="11146320" cy="5997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 </a:t>
            </a:r>
            <a:r>
              <a:rPr b="0" lang="en-US" sz="4400" spc="-1" strike="noStrike">
                <a:solidFill>
                  <a:srgbClr val="ffffff"/>
                </a:solidFill>
                <a:latin typeface="Proxima Nova Black"/>
                <a:ea typeface="DejaVu Sans"/>
              </a:rPr>
              <a:t>JSLint</a:t>
            </a:r>
            <a:endParaRPr b="0" lang="en-US" sz="4400" spc="-1" strike="noStrike">
              <a:latin typeface="Arial"/>
            </a:endParaRPr>
          </a:p>
        </p:txBody>
      </p:sp>
      <p:sp>
        <p:nvSpPr>
          <p:cNvPr id="277" name="CustomShape 4"/>
          <p:cNvSpPr/>
          <p:nvPr/>
        </p:nvSpPr>
        <p:spPr>
          <a:xfrm>
            <a:off x="478440" y="1272240"/>
            <a:ext cx="10979280" cy="599760"/>
          </a:xfrm>
          <a:prstGeom prst="rect">
            <a:avLst/>
          </a:prstGeom>
          <a:noFill/>
          <a:ln>
            <a:noFill/>
          </a:ln>
        </p:spPr>
        <p:style>
          <a:lnRef idx="0"/>
          <a:fillRef idx="0"/>
          <a:effectRef idx="0"/>
          <a:fontRef idx="minor"/>
        </p:style>
      </p:sp>
      <p:sp>
        <p:nvSpPr>
          <p:cNvPr id="278" name="CustomShape 5"/>
          <p:cNvSpPr/>
          <p:nvPr/>
        </p:nvSpPr>
        <p:spPr>
          <a:xfrm>
            <a:off x="576360" y="2458440"/>
            <a:ext cx="10979280" cy="363240"/>
          </a:xfrm>
          <a:prstGeom prst="rect">
            <a:avLst/>
          </a:prstGeom>
          <a:noFill/>
          <a:ln>
            <a:noFill/>
          </a:ln>
        </p:spPr>
        <p:style>
          <a:lnRef idx="0"/>
          <a:fillRef idx="0"/>
          <a:effectRef idx="0"/>
          <a:fontRef idx="minor"/>
        </p:style>
      </p:sp>
      <p:sp>
        <p:nvSpPr>
          <p:cNvPr id="279" name="CustomShape 6"/>
          <p:cNvSpPr/>
          <p:nvPr/>
        </p:nvSpPr>
        <p:spPr>
          <a:xfrm>
            <a:off x="576360" y="4008240"/>
            <a:ext cx="10817280" cy="412920"/>
          </a:xfrm>
          <a:prstGeom prst="rect">
            <a:avLst/>
          </a:prstGeom>
          <a:noFill/>
          <a:ln>
            <a:noFill/>
          </a:ln>
        </p:spPr>
        <p:style>
          <a:lnRef idx="0"/>
          <a:fillRef idx="0"/>
          <a:effectRef idx="0"/>
          <a:fontRef idx="minor"/>
        </p:style>
      </p:sp>
      <p:sp>
        <p:nvSpPr>
          <p:cNvPr id="280" name="CustomShape 7"/>
          <p:cNvSpPr/>
          <p:nvPr/>
        </p:nvSpPr>
        <p:spPr>
          <a:xfrm>
            <a:off x="642960" y="1272240"/>
            <a:ext cx="7248240" cy="3642120"/>
          </a:xfrm>
          <a:prstGeom prst="rect">
            <a:avLst/>
          </a:prstGeom>
          <a:noFill/>
          <a:ln>
            <a:noFill/>
          </a:ln>
        </p:spPr>
        <p:style>
          <a:lnRef idx="0"/>
          <a:fillRef idx="0"/>
          <a:effectRef idx="0"/>
          <a:fontRef idx="minor"/>
        </p:style>
        <p:txBody>
          <a:bodyPr lIns="90000" rIns="90000" tIns="45000" bIns="45000">
            <a:noAutofit/>
          </a:bodyPr>
          <a:p>
            <a:pPr>
              <a:lnSpc>
                <a:spcPct val="150000"/>
              </a:lnSpc>
            </a:pPr>
            <a:r>
              <a:rPr b="1" lang="en-US" sz="1800" spc="-1" strike="noStrike">
                <a:solidFill>
                  <a:srgbClr val="ffffff"/>
                </a:solidFill>
                <a:latin typeface="Arial"/>
                <a:ea typeface="DejaVu Sans"/>
              </a:rPr>
              <a:t>Pros</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Comes configured and ready to go (if you agree with the rules it enforces)</a:t>
            </a:r>
            <a:endParaRPr b="0" lang="en-US" sz="1800" spc="-1" strike="noStrike">
              <a:latin typeface="Arial"/>
            </a:endParaRPr>
          </a:p>
          <a:p>
            <a:pPr>
              <a:lnSpc>
                <a:spcPct val="150000"/>
              </a:lnSpc>
            </a:pPr>
            <a:r>
              <a:rPr b="1" lang="en-US" sz="1800" spc="-1" strike="noStrike">
                <a:solidFill>
                  <a:srgbClr val="ffffff"/>
                </a:solidFill>
                <a:latin typeface="Arial"/>
                <a:ea typeface="DejaVu Sans"/>
              </a:rPr>
              <a:t>Cons </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JSLint doesn’t have a configuration file, which can be problematic if you need to change the settings</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Limited number of configuration options, many rules cannot be disabled</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You can’t add custom rules</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Undocumented features</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Difficult to know which rule is causing which error</a:t>
            </a:r>
            <a:endParaRPr b="0" lang="en-US" sz="1800" spc="-1" strike="noStrike">
              <a:latin typeface="Arial"/>
            </a:endParaRPr>
          </a:p>
          <a:p>
            <a:pPr>
              <a:lnSpc>
                <a:spcPct val="150000"/>
              </a:lnSpc>
            </a:pPr>
            <a:endParaRPr b="0" lang="en-US" sz="1800" spc="-1" strike="noStrike">
              <a:latin typeface="Arial"/>
            </a:endParaRPr>
          </a:p>
        </p:txBody>
      </p:sp>
      <p:pic>
        <p:nvPicPr>
          <p:cNvPr id="281" name="Рисунок 285" descr=""/>
          <p:cNvPicPr/>
          <p:nvPr/>
        </p:nvPicPr>
        <p:blipFill>
          <a:blip r:embed="rId1"/>
          <a:stretch/>
        </p:blipFill>
        <p:spPr>
          <a:xfrm>
            <a:off x="8046720" y="1324440"/>
            <a:ext cx="2875680" cy="96120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CustomShape 1"/>
          <p:cNvSpPr/>
          <p:nvPr/>
        </p:nvSpPr>
        <p:spPr>
          <a:xfrm>
            <a:off x="685800" y="685800"/>
            <a:ext cx="10817280" cy="682560"/>
          </a:xfrm>
          <a:prstGeom prst="rect">
            <a:avLst/>
          </a:prstGeom>
          <a:noFill/>
          <a:ln>
            <a:noFill/>
          </a:ln>
        </p:spPr>
        <p:style>
          <a:lnRef idx="0"/>
          <a:fillRef idx="0"/>
          <a:effectRef idx="0"/>
          <a:fontRef idx="minor"/>
        </p:style>
      </p:sp>
      <p:sp>
        <p:nvSpPr>
          <p:cNvPr id="283" name="CustomShape 2"/>
          <p:cNvSpPr/>
          <p:nvPr/>
        </p:nvSpPr>
        <p:spPr>
          <a:xfrm>
            <a:off x="731520" y="2057400"/>
            <a:ext cx="10817280" cy="3425760"/>
          </a:xfrm>
          <a:prstGeom prst="rect">
            <a:avLst/>
          </a:prstGeom>
          <a:noFill/>
          <a:ln>
            <a:noFill/>
          </a:ln>
        </p:spPr>
        <p:style>
          <a:lnRef idx="0"/>
          <a:fillRef idx="0"/>
          <a:effectRef idx="0"/>
          <a:fontRef idx="minor"/>
        </p:style>
      </p:sp>
      <p:sp>
        <p:nvSpPr>
          <p:cNvPr id="284" name="CustomShape 3"/>
          <p:cNvSpPr/>
          <p:nvPr/>
        </p:nvSpPr>
        <p:spPr>
          <a:xfrm>
            <a:off x="567000" y="306000"/>
            <a:ext cx="11146320" cy="5997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 </a:t>
            </a:r>
            <a:endParaRPr b="0" lang="en-US" sz="4400" spc="-1" strike="noStrike">
              <a:latin typeface="Arial"/>
            </a:endParaRPr>
          </a:p>
        </p:txBody>
      </p:sp>
      <p:sp>
        <p:nvSpPr>
          <p:cNvPr id="285" name="CustomShape 4"/>
          <p:cNvSpPr/>
          <p:nvPr/>
        </p:nvSpPr>
        <p:spPr>
          <a:xfrm>
            <a:off x="837360" y="1005840"/>
            <a:ext cx="7273080" cy="5690160"/>
          </a:xfrm>
          <a:prstGeom prst="rect">
            <a:avLst/>
          </a:prstGeom>
          <a:noFill/>
          <a:ln>
            <a:noFill/>
          </a:ln>
        </p:spPr>
        <p:style>
          <a:lnRef idx="0"/>
          <a:fillRef idx="0"/>
          <a:effectRef idx="0"/>
          <a:fontRef idx="minor"/>
        </p:style>
        <p:txBody>
          <a:bodyPr lIns="90000" rIns="90000" tIns="45000" bIns="45000">
            <a:noAutofit/>
          </a:bodyPr>
          <a:p>
            <a:pPr>
              <a:lnSpc>
                <a:spcPct val="150000"/>
              </a:lnSpc>
            </a:pPr>
            <a:r>
              <a:rPr b="1" lang="en-US" sz="1800" spc="-1" strike="noStrike">
                <a:solidFill>
                  <a:srgbClr val="ffffff"/>
                </a:solidFill>
                <a:latin typeface="Arial"/>
                <a:ea typeface="DejaVu Sans"/>
              </a:rPr>
              <a:t>Pros</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Most settings can be configured</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Supports a configuration file, making it easier to use in larger projects</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Has support for many libraries out of the box, like jQuery, QUnit, NodeJS, Mocha, etc.</a:t>
            </a:r>
            <a:endParaRPr b="0" lang="en-US" sz="1800" spc="-1" strike="noStrike">
              <a:latin typeface="Arial"/>
            </a:endParaRPr>
          </a:p>
          <a:p>
            <a:pPr marL="285840" indent="-285480">
              <a:lnSpc>
                <a:spcPct val="150000"/>
              </a:lnSpc>
              <a:buClr>
                <a:srgbClr val="ffffff"/>
              </a:buClr>
              <a:buFont typeface="Arial"/>
              <a:buChar char="•"/>
            </a:pPr>
            <a:r>
              <a:rPr b="0" lang="en-US" sz="1800" spc="-1" strike="noStrike">
                <a:solidFill>
                  <a:srgbClr val="ffffff"/>
                </a:solidFill>
                <a:latin typeface="Arial"/>
                <a:ea typeface="DejaVu Sans"/>
              </a:rPr>
              <a:t>Basic ES6 support</a:t>
            </a:r>
            <a:endParaRPr b="0" lang="en-US" sz="1800" spc="-1" strike="noStrike">
              <a:latin typeface="Arial"/>
            </a:endParaRPr>
          </a:p>
          <a:p>
            <a:pPr>
              <a:lnSpc>
                <a:spcPct val="150000"/>
              </a:lnSpc>
            </a:pPr>
            <a:r>
              <a:rPr b="1" lang="en-US" sz="1800" spc="-1" strike="noStrike">
                <a:solidFill>
                  <a:srgbClr val="ffffff"/>
                </a:solidFill>
                <a:latin typeface="Arial"/>
                <a:ea typeface="DejaVu Sans"/>
              </a:rPr>
              <a:t>Cons</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Difficult to know which rule is causing an error</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Has two types of option: enforcing and relaxing (which can be used to make JSHint stricter, or to suppress its warnings). This can make configuration slightly confusing</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No custom rule support</a:t>
            </a:r>
            <a:endParaRPr b="0" lang="en-US" sz="1800" spc="-1" strike="noStrike">
              <a:latin typeface="Arial"/>
            </a:endParaRPr>
          </a:p>
          <a:p>
            <a:pPr>
              <a:lnSpc>
                <a:spcPct val="150000"/>
              </a:lnSpc>
            </a:pPr>
            <a:endParaRPr b="0" lang="en-US" sz="1800" spc="-1" strike="noStrike">
              <a:latin typeface="Arial"/>
            </a:endParaRPr>
          </a:p>
        </p:txBody>
      </p:sp>
      <p:pic>
        <p:nvPicPr>
          <p:cNvPr id="286" name="Рисунок 291" descr=""/>
          <p:cNvPicPr/>
          <p:nvPr/>
        </p:nvPicPr>
        <p:blipFill>
          <a:blip r:embed="rId1"/>
          <a:stretch/>
        </p:blipFill>
        <p:spPr>
          <a:xfrm>
            <a:off x="8402400" y="1027440"/>
            <a:ext cx="2809080" cy="1542240"/>
          </a:xfrm>
          <a:prstGeom prst="rect">
            <a:avLst/>
          </a:prstGeom>
          <a:ln>
            <a:noFill/>
          </a:ln>
        </p:spPr>
      </p:pic>
      <p:sp>
        <p:nvSpPr>
          <p:cNvPr id="287" name="CustomShape 5"/>
          <p:cNvSpPr/>
          <p:nvPr/>
        </p:nvSpPr>
        <p:spPr>
          <a:xfrm>
            <a:off x="478440" y="332280"/>
            <a:ext cx="11146320" cy="5997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 </a:t>
            </a:r>
            <a:r>
              <a:rPr b="0" lang="en-US" sz="4400" spc="-1" strike="noStrike">
                <a:solidFill>
                  <a:srgbClr val="ffffff"/>
                </a:solidFill>
                <a:latin typeface="Proxima Nova Black"/>
                <a:ea typeface="DejaVu Sans"/>
              </a:rPr>
              <a:t>JSHint</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CustomShape 1"/>
          <p:cNvSpPr/>
          <p:nvPr/>
        </p:nvSpPr>
        <p:spPr>
          <a:xfrm>
            <a:off x="-1280160" y="688320"/>
            <a:ext cx="14538240" cy="682560"/>
          </a:xfrm>
          <a:prstGeom prst="rect">
            <a:avLst/>
          </a:prstGeom>
          <a:noFill/>
          <a:ln>
            <a:noFill/>
          </a:ln>
        </p:spPr>
        <p:style>
          <a:lnRef idx="0"/>
          <a:fillRef idx="0"/>
          <a:effectRef idx="0"/>
          <a:fontRef idx="minor"/>
        </p:style>
      </p:sp>
      <p:sp>
        <p:nvSpPr>
          <p:cNvPr id="289" name="CustomShape 2"/>
          <p:cNvSpPr/>
          <p:nvPr/>
        </p:nvSpPr>
        <p:spPr>
          <a:xfrm>
            <a:off x="1097280" y="1043280"/>
            <a:ext cx="10671480" cy="1376640"/>
          </a:xfrm>
          <a:prstGeom prst="rect">
            <a:avLst/>
          </a:prstGeom>
          <a:noFill/>
          <a:ln>
            <a:noFill/>
          </a:ln>
        </p:spPr>
        <p:style>
          <a:lnRef idx="0"/>
          <a:fillRef idx="0"/>
          <a:effectRef idx="0"/>
          <a:fontRef idx="minor"/>
        </p:style>
        <p:txBody>
          <a:bodyPr lIns="90000" rIns="90000" tIns="45000" bIns="45000">
            <a:noAutofit/>
          </a:bodyPr>
          <a:p>
            <a:pPr algn="just">
              <a:lnSpc>
                <a:spcPct val="100000"/>
              </a:lnSpc>
            </a:pPr>
            <a:endParaRPr b="0" lang="en-US" sz="1800" spc="-1" strike="noStrike">
              <a:latin typeface="Arial"/>
            </a:endParaRPr>
          </a:p>
          <a:p>
            <a:pPr>
              <a:lnSpc>
                <a:spcPct val="100000"/>
              </a:lnSpc>
            </a:pPr>
            <a:endParaRPr b="0" lang="en-US" sz="1800" spc="-1" strike="noStrike">
              <a:latin typeface="Arial"/>
            </a:endParaRPr>
          </a:p>
        </p:txBody>
      </p:sp>
      <p:sp>
        <p:nvSpPr>
          <p:cNvPr id="290" name="CustomShape 3"/>
          <p:cNvSpPr/>
          <p:nvPr/>
        </p:nvSpPr>
        <p:spPr>
          <a:xfrm>
            <a:off x="1002960" y="932400"/>
            <a:ext cx="6944760" cy="5592960"/>
          </a:xfrm>
          <a:prstGeom prst="rect">
            <a:avLst/>
          </a:prstGeom>
          <a:noFill/>
          <a:ln>
            <a:noFill/>
          </a:ln>
        </p:spPr>
        <p:style>
          <a:lnRef idx="0"/>
          <a:fillRef idx="0"/>
          <a:effectRef idx="0"/>
          <a:fontRef idx="minor"/>
        </p:style>
        <p:txBody>
          <a:bodyPr lIns="90000" rIns="90000" tIns="45000" bIns="45000">
            <a:noAutofit/>
          </a:bodyPr>
          <a:p>
            <a:pPr algn="just">
              <a:lnSpc>
                <a:spcPct val="150000"/>
              </a:lnSpc>
            </a:pPr>
            <a:r>
              <a:rPr b="1" lang="en-US" sz="1800" spc="-1" strike="noStrike">
                <a:solidFill>
                  <a:srgbClr val="ffffff"/>
                </a:solidFill>
                <a:latin typeface="Arial"/>
                <a:ea typeface="DejaVu Sans"/>
              </a:rPr>
              <a:t>Pros</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Flexible: any rule can be toggled, and many rules have extra settings that can be tweaked</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Very extensible and has many plugins available</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Easy to understand output</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Includes many rules not available in other linters, making ESLint more useful for detecting problems</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Best ES6 support, and also the only tool to support </a:t>
            </a:r>
            <a:r>
              <a:rPr b="0" lang="en-US" sz="1800" spc="-1" strike="noStrike" u="sng">
                <a:solidFill>
                  <a:srgbClr val="00a6ce"/>
                </a:solidFill>
                <a:uFillTx/>
                <a:latin typeface="Arial"/>
                <a:ea typeface="DejaVu Sans"/>
                <a:hlinkClick r:id="rId1"/>
              </a:rPr>
              <a:t>JSX</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Supports custom reporters</a:t>
            </a:r>
            <a:endParaRPr b="0" lang="en-US" sz="1800" spc="-1" strike="noStrike">
              <a:latin typeface="Arial"/>
            </a:endParaRPr>
          </a:p>
          <a:p>
            <a:pPr algn="just">
              <a:lnSpc>
                <a:spcPct val="150000"/>
              </a:lnSpc>
            </a:pPr>
            <a:r>
              <a:rPr b="1" lang="en-US" sz="1800" spc="-1" strike="noStrike">
                <a:solidFill>
                  <a:srgbClr val="ffffff"/>
                </a:solidFill>
                <a:latin typeface="Arial"/>
                <a:ea typeface="DejaVu Sans"/>
              </a:rPr>
              <a:t>Cons</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Some configuration required</a:t>
            </a:r>
            <a:endParaRPr b="0" lang="en-US" sz="1800" spc="-1" strike="noStrike">
              <a:latin typeface="Arial"/>
            </a:endParaRPr>
          </a:p>
          <a:p>
            <a:pPr marL="285840" indent="-285480" algn="just">
              <a:lnSpc>
                <a:spcPct val="150000"/>
              </a:lnSpc>
              <a:buClr>
                <a:srgbClr val="ffffff"/>
              </a:buClr>
              <a:buFont typeface="Arial"/>
              <a:buChar char="•"/>
            </a:pPr>
            <a:r>
              <a:rPr b="0" lang="en-US" sz="1800" spc="-1" strike="noStrike">
                <a:solidFill>
                  <a:srgbClr val="ffffff"/>
                </a:solidFill>
                <a:latin typeface="Arial"/>
                <a:ea typeface="DejaVu Sans"/>
              </a:rPr>
              <a:t>Slow, but not a hindrance</a:t>
            </a:r>
            <a:endParaRPr b="0" lang="en-US" sz="1800" spc="-1" strike="noStrike">
              <a:latin typeface="Arial"/>
            </a:endParaRPr>
          </a:p>
          <a:p>
            <a:pPr>
              <a:lnSpc>
                <a:spcPct val="100000"/>
              </a:lnSpc>
            </a:pPr>
            <a:endParaRPr b="0" lang="en-US" sz="1800" spc="-1" strike="noStrike">
              <a:latin typeface="Arial"/>
            </a:endParaRPr>
          </a:p>
        </p:txBody>
      </p:sp>
      <p:pic>
        <p:nvPicPr>
          <p:cNvPr id="291" name="Рисунок 296" descr=""/>
          <p:cNvPicPr/>
          <p:nvPr/>
        </p:nvPicPr>
        <p:blipFill>
          <a:blip r:embed="rId2"/>
          <a:stretch/>
        </p:blipFill>
        <p:spPr>
          <a:xfrm>
            <a:off x="9043920" y="1423440"/>
            <a:ext cx="1485360" cy="1561320"/>
          </a:xfrm>
          <a:prstGeom prst="rect">
            <a:avLst/>
          </a:prstGeom>
          <a:ln>
            <a:noFill/>
          </a:ln>
        </p:spPr>
      </p:pic>
      <p:sp>
        <p:nvSpPr>
          <p:cNvPr id="292" name="CustomShape 4"/>
          <p:cNvSpPr/>
          <p:nvPr/>
        </p:nvSpPr>
        <p:spPr>
          <a:xfrm>
            <a:off x="478440" y="332280"/>
            <a:ext cx="11146320" cy="5997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 </a:t>
            </a:r>
            <a:r>
              <a:rPr b="0" lang="en-US" sz="4400" spc="-1" strike="noStrike">
                <a:solidFill>
                  <a:srgbClr val="ffffff"/>
                </a:solidFill>
                <a:latin typeface="Proxima Nova Black"/>
                <a:ea typeface="DejaVu Sans"/>
              </a:rPr>
              <a:t>ESLint</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CustomShape 1"/>
          <p:cNvSpPr/>
          <p:nvPr/>
        </p:nvSpPr>
        <p:spPr>
          <a:xfrm>
            <a:off x="685800" y="685800"/>
            <a:ext cx="10817280" cy="682560"/>
          </a:xfrm>
          <a:prstGeom prst="rect">
            <a:avLst/>
          </a:prstGeom>
          <a:noFill/>
          <a:ln>
            <a:noFill/>
          </a:ln>
        </p:spPr>
        <p:style>
          <a:lnRef idx="0"/>
          <a:fillRef idx="0"/>
          <a:effectRef idx="0"/>
          <a:fontRef idx="minor"/>
        </p:style>
      </p:sp>
      <p:sp>
        <p:nvSpPr>
          <p:cNvPr id="294" name="CustomShape 2"/>
          <p:cNvSpPr/>
          <p:nvPr/>
        </p:nvSpPr>
        <p:spPr>
          <a:xfrm>
            <a:off x="685800" y="2057400"/>
            <a:ext cx="3463920" cy="3425760"/>
          </a:xfrm>
          <a:prstGeom prst="rect">
            <a:avLst/>
          </a:prstGeom>
          <a:noFill/>
          <a:ln>
            <a:noFill/>
          </a:ln>
        </p:spPr>
        <p:style>
          <a:lnRef idx="0"/>
          <a:fillRef idx="0"/>
          <a:effectRef idx="0"/>
          <a:fontRef idx="minor"/>
        </p:style>
      </p:sp>
      <p:pic>
        <p:nvPicPr>
          <p:cNvPr id="295" name="Рисунок 300" descr=""/>
          <p:cNvPicPr/>
          <p:nvPr/>
        </p:nvPicPr>
        <p:blipFill>
          <a:blip r:embed="rId1"/>
          <a:stretch/>
        </p:blipFill>
        <p:spPr>
          <a:xfrm>
            <a:off x="987120" y="1112400"/>
            <a:ext cx="3285360" cy="361080"/>
          </a:xfrm>
          <a:prstGeom prst="rect">
            <a:avLst/>
          </a:prstGeom>
          <a:ln>
            <a:noFill/>
          </a:ln>
        </p:spPr>
      </p:pic>
      <p:sp>
        <p:nvSpPr>
          <p:cNvPr id="296" name="CustomShape 3"/>
          <p:cNvSpPr/>
          <p:nvPr/>
        </p:nvSpPr>
        <p:spPr>
          <a:xfrm>
            <a:off x="987120" y="1568160"/>
            <a:ext cx="4564440" cy="32760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You should then set up a configuration file:</a:t>
            </a:r>
            <a:endParaRPr b="0" lang="en-US" sz="1800" spc="-1" strike="noStrike">
              <a:latin typeface="Arial"/>
            </a:endParaRPr>
          </a:p>
        </p:txBody>
      </p:sp>
      <p:pic>
        <p:nvPicPr>
          <p:cNvPr id="297" name="Рисунок 302" descr=""/>
          <p:cNvPicPr/>
          <p:nvPr/>
        </p:nvPicPr>
        <p:blipFill>
          <a:blip r:embed="rId2"/>
          <a:stretch/>
        </p:blipFill>
        <p:spPr>
          <a:xfrm>
            <a:off x="987120" y="3000600"/>
            <a:ext cx="2380680" cy="342360"/>
          </a:xfrm>
          <a:prstGeom prst="rect">
            <a:avLst/>
          </a:prstGeom>
          <a:ln>
            <a:noFill/>
          </a:ln>
        </p:spPr>
      </p:pic>
      <p:pic>
        <p:nvPicPr>
          <p:cNvPr id="298" name="Рисунок 303" descr=""/>
          <p:cNvPicPr/>
          <p:nvPr/>
        </p:nvPicPr>
        <p:blipFill>
          <a:blip r:embed="rId3"/>
          <a:stretch/>
        </p:blipFill>
        <p:spPr>
          <a:xfrm>
            <a:off x="987120" y="2059920"/>
            <a:ext cx="2113920" cy="332640"/>
          </a:xfrm>
          <a:prstGeom prst="rect">
            <a:avLst/>
          </a:prstGeom>
          <a:ln>
            <a:noFill/>
          </a:ln>
        </p:spPr>
      </p:pic>
      <p:sp>
        <p:nvSpPr>
          <p:cNvPr id="299" name="CustomShape 4"/>
          <p:cNvSpPr/>
          <p:nvPr/>
        </p:nvSpPr>
        <p:spPr>
          <a:xfrm>
            <a:off x="987120" y="2521800"/>
            <a:ext cx="6721920" cy="3423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After that, you can run ESLint on any file or directory like this:</a:t>
            </a:r>
            <a:endParaRPr b="0" lang="en-US" sz="1800" spc="-1" strike="noStrike">
              <a:latin typeface="Arial"/>
            </a:endParaRPr>
          </a:p>
        </p:txBody>
      </p:sp>
      <p:sp>
        <p:nvSpPr>
          <p:cNvPr id="300" name="CustomShape 5"/>
          <p:cNvSpPr/>
          <p:nvPr/>
        </p:nvSpPr>
        <p:spPr>
          <a:xfrm>
            <a:off x="991080" y="3657600"/>
            <a:ext cx="9615600" cy="6807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After running </a:t>
            </a:r>
            <a:r>
              <a:rPr b="1" i="1" lang="en-US" sz="1800" spc="-1" strike="noStrike">
                <a:solidFill>
                  <a:srgbClr val="ffffff"/>
                </a:solidFill>
                <a:latin typeface="Arial"/>
                <a:ea typeface="DejaVu Sans"/>
              </a:rPr>
              <a:t>eslint --init</a:t>
            </a:r>
            <a:r>
              <a:rPr b="0" lang="en-US" sz="1800" spc="-1" strike="noStrike">
                <a:solidFill>
                  <a:srgbClr val="ffffff"/>
                </a:solidFill>
                <a:latin typeface="Arial"/>
                <a:ea typeface="DejaVu Sans"/>
              </a:rPr>
              <a:t>, you'll have a</a:t>
            </a:r>
            <a:r>
              <a:rPr b="1" i="1" lang="en-US" sz="1800" spc="-1" strike="noStrike">
                <a:solidFill>
                  <a:srgbClr val="ffffff"/>
                </a:solidFill>
                <a:latin typeface="Arial"/>
                <a:ea typeface="DejaVu Sans"/>
              </a:rPr>
              <a:t> .eslintrc </a:t>
            </a:r>
            <a:r>
              <a:rPr b="0" lang="en-US" sz="1800" spc="-1" strike="noStrike">
                <a:solidFill>
                  <a:srgbClr val="ffffff"/>
                </a:solidFill>
                <a:latin typeface="Arial"/>
                <a:ea typeface="DejaVu Sans"/>
              </a:rPr>
              <a:t>file in your directory. In it, you'll see some rules configured like this:</a:t>
            </a:r>
            <a:endParaRPr b="0" lang="en-US" sz="1800" spc="-1" strike="noStrike">
              <a:latin typeface="Arial"/>
            </a:endParaRPr>
          </a:p>
        </p:txBody>
      </p:sp>
      <p:pic>
        <p:nvPicPr>
          <p:cNvPr id="301" name="Рисунок 308" descr=""/>
          <p:cNvPicPr/>
          <p:nvPr/>
        </p:nvPicPr>
        <p:blipFill>
          <a:blip r:embed="rId4"/>
          <a:stretch/>
        </p:blipFill>
        <p:spPr>
          <a:xfrm>
            <a:off x="987120" y="4496760"/>
            <a:ext cx="3761640" cy="1370880"/>
          </a:xfrm>
          <a:prstGeom prst="rect">
            <a:avLst/>
          </a:prstGeom>
          <a:ln>
            <a:noFill/>
          </a:ln>
        </p:spPr>
      </p:pic>
      <p:sp>
        <p:nvSpPr>
          <p:cNvPr id="302" name="CustomShape 6"/>
          <p:cNvSpPr/>
          <p:nvPr/>
        </p:nvSpPr>
        <p:spPr>
          <a:xfrm>
            <a:off x="478440" y="332280"/>
            <a:ext cx="11146320" cy="5997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 </a:t>
            </a:r>
            <a:r>
              <a:rPr b="0" lang="en-US" sz="4400" spc="-1" strike="noStrike">
                <a:solidFill>
                  <a:srgbClr val="ffffff"/>
                </a:solidFill>
                <a:latin typeface="Proxima Nova Black"/>
                <a:ea typeface="DejaVu Sans"/>
              </a:rPr>
              <a:t>Getting started with ESLint</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3" name="pasted-image.png" descr=""/>
          <p:cNvPicPr/>
          <p:nvPr/>
        </p:nvPicPr>
        <p:blipFill>
          <a:blip r:embed="rId1"/>
          <a:stretch/>
        </p:blipFill>
        <p:spPr>
          <a:xfrm>
            <a:off x="0" y="0"/>
            <a:ext cx="12188880" cy="6854760"/>
          </a:xfrm>
          <a:prstGeom prst="rect">
            <a:avLst/>
          </a:prstGeom>
          <a:ln w="1260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1438</TotalTime>
  <Application>LibreOffice/6.4.3.2$Linux_X86_64 LibreOffice_project/85aa6f776c6af63185291a519637a4f7af4e8a3b</Application>
  <Words>1173</Words>
  <Paragraphs>84</Paragraphs>
  <Company>Verint Systems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2018-11-02T13:55:27Z</dcterms:created>
  <dc:creator>Strutynska, Viktoriya</dc:creator>
  <dc:description/>
  <dc:language>en-US</dc:language>
  <cp:lastModifiedBy/>
  <dcterms:modified xsi:type="dcterms:W3CDTF">2020-05-04T10:55:39Z</dcterms:modified>
  <cp:revision>51</cp:revision>
  <dc:subject/>
  <dc:title>508/WCAG SERVICE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Verint Systems</vt:lpwstr>
  </property>
  <property fmtid="{D5CDD505-2E9C-101B-9397-08002B2CF9AE}" pid="4" name="ContentTypeId">
    <vt:lpwstr>0x0101004195FC54A15F344D83577B1CDDD67A5D</vt:lpwstr>
  </property>
  <property fmtid="{D5CDD505-2E9C-101B-9397-08002B2CF9AE}" pid="5" name="HiddenSlides">
    <vt:i4>0</vt:i4>
  </property>
  <property fmtid="{D5CDD505-2E9C-101B-9397-08002B2CF9AE}" pid="6" name="HyperlinksChanged">
    <vt:bool>0</vt:bool>
  </property>
  <property fmtid="{D5CDD505-2E9C-101B-9397-08002B2CF9AE}" pid="7" name="LinksUpToDate">
    <vt:bool>0</vt:bool>
  </property>
  <property fmtid="{D5CDD505-2E9C-101B-9397-08002B2CF9AE}" pid="8" name="MMClips">
    <vt:i4>0</vt:i4>
  </property>
  <property fmtid="{D5CDD505-2E9C-101B-9397-08002B2CF9AE}" pid="9" name="Notes">
    <vt:i4>2</vt:i4>
  </property>
  <property fmtid="{D5CDD505-2E9C-101B-9397-08002B2CF9AE}" pid="10" name="PresentationFormat">
    <vt:lpwstr>Широкоэкранный</vt:lpwstr>
  </property>
  <property fmtid="{D5CDD505-2E9C-101B-9397-08002B2CF9AE}" pid="11" name="ScaleCrop">
    <vt:bool>0</vt:bool>
  </property>
  <property fmtid="{D5CDD505-2E9C-101B-9397-08002B2CF9AE}" pid="12" name="ShareDoc">
    <vt:bool>0</vt:bool>
  </property>
  <property fmtid="{D5CDD505-2E9C-101B-9397-08002B2CF9AE}" pid="13" name="Slides">
    <vt:i4>16</vt:i4>
  </property>
</Properties>
</file>