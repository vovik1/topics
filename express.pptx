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ppt/_rels/presentation.xml.rels" ContentType="application/vnd.openxmlformats-package.relationships+xml"/>
  <Override PartName="/ppt/slideLayouts/slideLayout6.xml" ContentType="application/vnd.openxmlformats-officedocument.presentationml.slideLayout+xml"/>
  <Override PartName="/ppt/slideLayouts/slideLayout42.xml" ContentType="application/vnd.openxmlformats-officedocument.presentationml.slideLayout+xml"/>
  <Override PartName="/ppt/slideLayouts/slideLayout67.xml" ContentType="application/vnd.openxmlformats-officedocument.presentationml.slideLayout+xml"/>
  <Override PartName="/ppt/slideLayouts/slideLayout5.xml" ContentType="application/vnd.openxmlformats-officedocument.presentationml.slideLayout+xml"/>
  <Override PartName="/ppt/slideLayouts/slideLayout41.xml" ContentType="application/vnd.openxmlformats-officedocument.presentationml.slideLayout+xml"/>
  <Override PartName="/ppt/slideLayouts/slideLayout66.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65.xml" ContentType="application/vnd.openxmlformats-officedocument.presentationml.slideLayout+xml"/>
  <Override PartName="/ppt/slideLayouts/slideLayout3.xml" ContentType="application/vnd.openxmlformats-officedocument.presentationml.slideLayout+xml"/>
  <Override PartName="/ppt/slideLayouts/slideLayout64.xml" ContentType="application/vnd.openxmlformats-officedocument.presentationml.slideLayout+xml"/>
  <Override PartName="/ppt/slideLayouts/slideLayout1.xml" ContentType="application/vnd.openxmlformats-officedocument.presentationml.slideLayout+xml"/>
  <Override PartName="/ppt/slideLayouts/slideLayout62.xml" ContentType="application/vnd.openxmlformats-officedocument.presentationml.slideLayout+xml"/>
  <Override PartName="/ppt/slideLayouts/slideLayout2.xml" ContentType="application/vnd.openxmlformats-officedocument.presentationml.slideLayout+xml"/>
  <Override PartName="/ppt/slideLayouts/slideLayout63.xml" ContentType="application/vnd.openxmlformats-officedocument.presentationml.slideLayout+xml"/>
  <Override PartName="/ppt/slideLayouts/slideLayout7.xml" ContentType="application/vnd.openxmlformats-officedocument.presentationml.slideLayout+xml"/>
  <Override PartName="/ppt/slideLayouts/slideLayout43.xml" ContentType="application/vnd.openxmlformats-officedocument.presentationml.slideLayout+xml"/>
  <Override PartName="/ppt/slideLayouts/slideLayout68.xml" ContentType="application/vnd.openxmlformats-officedocument.presentationml.slideLayout+xml"/>
  <Override PartName="/ppt/slideLayouts/slideLayout8.xml" ContentType="application/vnd.openxmlformats-officedocument.presentationml.slideLayout+xml"/>
  <Override PartName="/ppt/slideLayouts/slideLayout44.xml" ContentType="application/vnd.openxmlformats-officedocument.presentationml.slideLayout+xml"/>
  <Override PartName="/ppt/slideLayouts/slideLayout69.xml" ContentType="application/vnd.openxmlformats-officedocument.presentationml.slideLayout+xml"/>
  <Override PartName="/ppt/slideLayouts/slideLayout9.xml" ContentType="application/vnd.openxmlformats-officedocument.presentationml.slideLayout+xml"/>
  <Override PartName="/ppt/slideLayouts/slideLayout20.xml" ContentType="application/vnd.openxmlformats-officedocument.presentationml.slideLayout+xml"/>
  <Override PartName="/ppt/slideLayouts/slideLayout45.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33.xml" ContentType="application/vnd.openxmlformats-officedocument.presentationml.slideLayout+xml"/>
  <Override PartName="/ppt/slideLayouts/slideLayout58.xml" ContentType="application/vnd.openxmlformats-officedocument.presentationml.slideLayout+xml"/>
  <Override PartName="/ppt/slideLayouts/slideLayout32.xml" ContentType="application/vnd.openxmlformats-officedocument.presentationml.slideLayout+xml"/>
  <Override PartName="/ppt/slideLayouts/slideLayout57.xml" ContentType="application/vnd.openxmlformats-officedocument.presentationml.slideLayout+xml"/>
  <Override PartName="/ppt/slideLayouts/slideLayout31.xml" ContentType="application/vnd.openxmlformats-officedocument.presentationml.slideLayout+xml"/>
  <Override PartName="/ppt/slideLayouts/slideLayout56.xml" ContentType="application/vnd.openxmlformats-officedocument.presentationml.slideLayout+xml"/>
  <Override PartName="/ppt/slideLayouts/slideLayout1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71.xml" ContentType="application/vnd.openxmlformats-officedocument.presentationml.slideLayout+xml"/>
  <Override PartName="/ppt/slideLayouts/slideLayout38.xml" ContentType="application/vnd.openxmlformats-officedocument.presentationml.slideLayout+xml"/>
  <Override PartName="/ppt/slideLayouts/slideLayout13.xml" ContentType="application/vnd.openxmlformats-officedocument.presentationml.slideLayout+xml"/>
  <Override PartName="/ppt/slideLayouts/slideLayout72.xml" ContentType="application/vnd.openxmlformats-officedocument.presentationml.slideLayout+xml"/>
  <Override PartName="/ppt/slideLayouts/slideLayout70.xml" ContentType="application/vnd.openxmlformats-officedocument.presentationml.slideLayout+xml"/>
  <Override PartName="/ppt/slideLayouts/slideLayout54.xml" ContentType="application/vnd.openxmlformats-officedocument.presentationml.slideLayout+xml"/>
  <Override PartName="/ppt/slideLayouts/slideLayout61.xml" ContentType="application/vnd.openxmlformats-officedocument.presentationml.slideLayout+xml"/>
  <Override PartName="/ppt/slideLayouts/slideLayout14.xml" ContentType="application/vnd.openxmlformats-officedocument.presentationml.slideLayout+xml"/>
  <Override PartName="/ppt/slideLayouts/slideLayout39.xml" ContentType="application/vnd.openxmlformats-officedocument.presentationml.slideLayout+xml"/>
  <Override PartName="/ppt/slideLayouts/slideLayout53.xml" ContentType="application/vnd.openxmlformats-officedocument.presentationml.slideLayout+xml"/>
  <Override PartName="/ppt/slideLayouts/slideLayout60.xml" ContentType="application/vnd.openxmlformats-officedocument.presentationml.slideLayout+xml"/>
  <Override PartName="/ppt/slideLayouts/slideLayout37.xml" ContentType="application/vnd.openxmlformats-officedocument.presentationml.slideLayout+xml"/>
  <Override PartName="/ppt/slideLayouts/slideLayout12.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8.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30.xml.rels" ContentType="application/vnd.openxmlformats-package.relationships+xml"/>
  <Override PartName="/ppt/slideLayouts/_rels/slideLayout24.xml.rels" ContentType="application/vnd.openxmlformats-package.relationships+xml"/>
  <Override PartName="/ppt/slideLayouts/_rels/slideLayout55.xml.rels" ContentType="application/vnd.openxmlformats-package.relationships+xml"/>
  <Override PartName="/ppt/slideLayouts/_rels/slideLayout49.xml.rels" ContentType="application/vnd.openxmlformats-package.relationships+xml"/>
  <Override PartName="/ppt/slideLayouts/_rels/slideLayout5.xml.rels" ContentType="application/vnd.openxmlformats-package.relationships+xml"/>
  <Override PartName="/ppt/slideLayouts/_rels/slideLayout23.xml.rels" ContentType="application/vnd.openxmlformats-package.relationships+xml"/>
  <Override PartName="/ppt/slideLayouts/_rels/slideLayout22.xml.rels" ContentType="application/vnd.openxmlformats-package.relationships+xml"/>
  <Override PartName="/ppt/slideLayouts/_rels/slideLayout21.xml.rels" ContentType="application/vnd.openxmlformats-package.relationships+xml"/>
  <Override PartName="/ppt/slideLayouts/_rels/slideLayout19.xml.rels" ContentType="application/vnd.openxmlformats-package.relationships+xml"/>
  <Override PartName="/ppt/slideLayouts/_rels/slideLayout47.xml.rels" ContentType="application/vnd.openxmlformats-package.relationships+xml"/>
  <Override PartName="/ppt/slideLayouts/_rels/slideLayout3.xml.rels" ContentType="application/vnd.openxmlformats-package.relationships+xml"/>
  <Override PartName="/ppt/slideLayouts/_rels/slideLayout18.xml.rels" ContentType="application/vnd.openxmlformats-package.relationships+xml"/>
  <Override PartName="/ppt/slideLayouts/_rels/slideLayout46.xml.rels" ContentType="application/vnd.openxmlformats-package.relationships+xml"/>
  <Override PartName="/ppt/slideLayouts/_rels/slideLayout2.xml.rels" ContentType="application/vnd.openxmlformats-package.relationships+xml"/>
  <Override PartName="/ppt/slideLayouts/_rels/slideLayout17.xml.rels" ContentType="application/vnd.openxmlformats-package.relationships+xml"/>
  <Override PartName="/ppt/slideLayouts/_rels/slideLayout1.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59.xml.rels" ContentType="application/vnd.openxmlformats-package.relationships+xml"/>
  <Override PartName="/ppt/slideLayouts/_rels/slideLayout48.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60.xml.rels" ContentType="application/vnd.openxmlformats-package.relationships+xml"/>
  <Override PartName="/ppt/slideLayouts/_rels/slideLayout32.xml.rels" ContentType="application/vnd.openxmlformats-package.relationships+xml"/>
  <Override PartName="/ppt/slideLayouts/_rels/slideLayout61.xml.rels" ContentType="application/vnd.openxmlformats-package.relationships+xml"/>
  <Override PartName="/ppt/slideLayouts/_rels/slideLayout70.xml.rels" ContentType="application/vnd.openxmlformats-package.relationships+xml"/>
  <Override PartName="/ppt/slideLayouts/_rels/slideLayout42.xml.rels" ContentType="application/vnd.openxmlformats-package.relationships+xml"/>
  <Override PartName="/ppt/slideLayouts/_rels/slideLayout72.xml.rels" ContentType="application/vnd.openxmlformats-package.relationships+xml"/>
  <Override PartName="/ppt/slideLayouts/_rels/slideLayout44.xml.rels" ContentType="application/vnd.openxmlformats-package.relationships+xml"/>
  <Override PartName="/ppt/slideLayouts/_rels/slideLayout53.xml.rels" ContentType="application/vnd.openxmlformats-package.relationships+xml"/>
  <Override PartName="/ppt/slideLayouts/_rels/slideLayout36.xml.rels" ContentType="application/vnd.openxmlformats-package.relationships+xml"/>
  <Override PartName="/ppt/slideLayouts/_rels/slideLayout45.xml.rels" ContentType="application/vnd.openxmlformats-package.relationships+xml"/>
  <Override PartName="/ppt/slideLayouts/_rels/slideLayout35.xml.rels" ContentType="application/vnd.openxmlformats-package.relationships+xml"/>
  <Override PartName="/ppt/slideLayouts/_rels/slideLayout41.xml.rels" ContentType="application/vnd.openxmlformats-package.relationships+xml"/>
  <Override PartName="/ppt/slideLayouts/_rels/slideLayout7.xml.rels" ContentType="application/vnd.openxmlformats-package.relationships+xml"/>
  <Override PartName="/ppt/slideLayouts/_rels/slideLayout63.xml.rels" ContentType="application/vnd.openxmlformats-package.relationships+xml"/>
  <Override PartName="/ppt/slideLayouts/_rels/slideLayout64.xml.rels" ContentType="application/vnd.openxmlformats-package.relationships+xml"/>
  <Override PartName="/ppt/slideLayouts/_rels/slideLayout11.xml.rels" ContentType="application/vnd.openxmlformats-package.relationships+xml"/>
  <Override PartName="/ppt/slideLayouts/_rels/slideLayout58.xml.rels" ContentType="application/vnd.openxmlformats-package.relationships+xml"/>
  <Override PartName="/ppt/slideLayouts/_rels/slideLayout62.xml.rels" ContentType="application/vnd.openxmlformats-package.relationships+xml"/>
  <Override PartName="/ppt/slideLayouts/_rels/slideLayout67.xml.rels" ContentType="application/vnd.openxmlformats-package.relationships+xml"/>
  <Override PartName="/ppt/slideLayouts/_rels/slideLayout15.xml.rels" ContentType="application/vnd.openxmlformats-package.relationships+xml"/>
  <Override PartName="/ppt/slideLayouts/_rels/slideLayout9.xml.rels" ContentType="application/vnd.openxmlformats-package.relationships+xml"/>
  <Override PartName="/ppt/slideLayouts/_rels/slideLayout34.xml.rels" ContentType="application/vnd.openxmlformats-package.relationships+xml"/>
  <Override PartName="/ppt/slideLayouts/_rels/slideLayout40.xml.rels" ContentType="application/vnd.openxmlformats-package.relationships+xml"/>
  <Override PartName="/ppt/slideLayouts/_rels/slideLayout6.xml.rels" ContentType="application/vnd.openxmlformats-package.relationships+xml"/>
  <Override PartName="/ppt/slideLayouts/_rels/slideLayout66.xml.rels" ContentType="application/vnd.openxmlformats-package.relationships+xml"/>
  <Override PartName="/ppt/slideLayouts/_rels/slideLayout14.xml.rels" ContentType="application/vnd.openxmlformats-package.relationships+xml"/>
  <Override PartName="/ppt/slideLayouts/_rels/slideLayout13.xml.rels" ContentType="application/vnd.openxmlformats-package.relationships+xml"/>
  <Override PartName="/ppt/slideLayouts/_rels/slideLayout68.xml.rels" ContentType="application/vnd.openxmlformats-package.relationships+xml"/>
  <Override PartName="/ppt/slideLayouts/_rels/slideLayout65.xml.rels" ContentType="application/vnd.openxmlformats-package.relationships+xml"/>
  <Override PartName="/ppt/slideLayouts/_rels/slideLayout51.xml.rels" ContentType="application/vnd.openxmlformats-package.relationships+xml"/>
  <Override PartName="/ppt/slideLayouts/_rels/slideLayout52.xml.rels" ContentType="application/vnd.openxmlformats-package.relationships+xml"/>
  <Override PartName="/ppt/slideLayouts/_rels/slideLayout8.xml.rels" ContentType="application/vnd.openxmlformats-package.relationships+xml"/>
  <Override PartName="/ppt/slideLayouts/_rels/slideLayout33.xml.rels" ContentType="application/vnd.openxmlformats-package.relationships+xml"/>
  <Override PartName="/ppt/slideLayouts/_rels/slideLayout57.xml.rels" ContentType="application/vnd.openxmlformats-package.relationships+xml"/>
  <Override PartName="/ppt/slideLayouts/_rels/slideLayout31.xml.rels" ContentType="application/vnd.openxmlformats-package.relationships+xml"/>
  <Override PartName="/ppt/slideLayouts/_rels/slideLayout56.xml.rels" ContentType="application/vnd.openxmlformats-package.relationships+xml"/>
  <Override PartName="/ppt/slideLayouts/_rels/slideLayout37.xml.rels" ContentType="application/vnd.openxmlformats-package.relationships+xml"/>
  <Override PartName="/ppt/slideLayouts/_rels/slideLayout71.xml.rels" ContentType="application/vnd.openxmlformats-package.relationships+xml"/>
  <Override PartName="/ppt/slideLayouts/_rels/slideLayout43.xml.rels" ContentType="application/vnd.openxmlformats-package.relationships+xml"/>
  <Override PartName="/ppt/slideLayouts/_rels/slideLayout38.xml.rels" ContentType="application/vnd.openxmlformats-package.relationships+xml"/>
  <Override PartName="/ppt/slideLayouts/_rels/slideLayout39.xml.rels" ContentType="application/vnd.openxmlformats-package.relationships+xml"/>
  <Override PartName="/ppt/slideLayouts/_rels/slideLayout20.xml.rels" ContentType="application/vnd.openxmlformats-package.relationships+xml"/>
  <Override PartName="/ppt/slideLayouts/_rels/slideLayout50.xml.rels" ContentType="application/vnd.openxmlformats-package.relationships+xml"/>
  <Override PartName="/ppt/slideLayouts/_rels/slideLayout69.xml.rels" ContentType="application/vnd.openxmlformats-package.relationship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46.xml" ContentType="application/vnd.openxmlformats-officedocument.presentationml.slideLayout+xml"/>
  <Override PartName="/ppt/slideLayouts/slideLayout21.xml" ContentType="application/vnd.openxmlformats-officedocument.presentationml.slideLayout+xml"/>
  <Override PartName="/ppt/slideLayouts/slideLayout47.xml" ContentType="application/vnd.openxmlformats-officedocument.presentationml.slideLayout+xml"/>
  <Override PartName="/ppt/slideLayouts/slideLayout22.xml" ContentType="application/vnd.openxmlformats-officedocument.presentationml.slideLayout+xml"/>
  <Override PartName="/ppt/slideLayouts/slideLayout48.xml" ContentType="application/vnd.openxmlformats-officedocument.presentationml.slideLayout+xml"/>
  <Override PartName="/ppt/slideLayouts/slideLayout23.xml" ContentType="application/vnd.openxmlformats-officedocument.presentationml.slideLayout+xml"/>
  <Override PartName="/ppt/slideLayouts/slideLayout49.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55.xml" ContentType="application/vnd.openxmlformats-officedocument.presentationml.slideLayout+xml"/>
  <Override PartName="/ppt/slideLayouts/slideLayout30.xml" ContentType="application/vnd.openxmlformats-officedocument.presentationml.slideLayout+xml"/>
  <Override PartName="/ppt/media/image2.wmf" ContentType="image/x-wmf"/>
  <Override PartName="/ppt/media/image1.wmf" ContentType="image/x-wmf"/>
  <Override PartName="/ppt/media/image3.wmf" ContentType="image/x-wmf"/>
  <Override PartName="/ppt/media/image4.wmf" ContentType="image/x-wmf"/>
  <Override PartName="/ppt/media/image6.wmf" ContentType="image/x-wmf"/>
  <Override PartName="/ppt/media/image5.wmf" ContentType="image/x-wmf"/>
  <Override PartName="/ppt/media/image7.wmf" ContentType="image/x-wmf"/>
  <Override PartName="/ppt/media/image8.png" ContentType="image/png"/>
  <Override PartName="/ppt/media/image9.png" ContentType="image/png"/>
  <Override PartName="/ppt/media/image12.png" ContentType="image/png"/>
  <Override PartName="/ppt/media/image11.png" ContentType="image/png"/>
  <Override PartName="/ppt/media/image10.png" ContentType="image/png"/>
  <Override PartName="/ppt/media/image14.png" ContentType="image/png"/>
  <Override PartName="/ppt/media/image13.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30.png" ContentType="image/png"/>
  <Override PartName="/ppt/media/image32.png" ContentType="image/png"/>
  <Override PartName="/ppt/media/image31.png" ContentType="image/png"/>
  <Override PartName="/ppt/media/image33.png" ContentType="image/png"/>
  <Override PartName="/ppt/media/image29.png" ContentType="image/png"/>
  <Override PartName="/ppt/media/image28.png" ContentType="image/png"/>
  <Override PartName="/ppt/media/image27.png" ContentType="image/png"/>
  <Override PartName="/ppt/notesSlides/_rels/notesSlide1.xml.rels" ContentType="application/vnd.openxmlformats-package.relationships+xml"/>
  <Override PartName="/ppt/notesSlides/notesSlide1.xml" ContentType="application/vnd.openxmlformats-officedocument.presentationml.notesSlide+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entation.xml" ContentType="application/vnd.openxmlformats-officedocument.presentationml.presentation.main+xml"/>
  <Override PartName="/ppt/theme/theme6.xml" ContentType="application/vnd.openxmlformats-officedocument.theme+xml"/>
  <Override PartName="/ppt/theme/theme2.xml" ContentType="application/vnd.openxmlformats-officedocument.theme+xml"/>
  <Override PartName="/ppt/theme/theme7.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2.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18.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5.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9.xml.rels" ContentType="application/vnd.openxmlformats-package.relationships+xml"/>
  <Override PartName="/ppt/slides/_rels/slide11.xml.rels" ContentType="application/vnd.openxmlformats-package.relationships+xml"/>
  <Override PartName="/ppt/slides/slide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_rels/.rels" ContentType="application/vnd.openxmlformats-package.relationshi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n-US" sz="4400" spc="-1" strike="noStrike">
                <a:latin typeface="Arial"/>
              </a:rPr>
              <a:t>Click to move the slide</a:t>
            </a:r>
            <a:endParaRPr b="0" lang="en-US" sz="4400" spc="-1" strike="noStrike">
              <a:latin typeface="Arial"/>
            </a:endParaRPr>
          </a:p>
        </p:txBody>
      </p:sp>
      <p:sp>
        <p:nvSpPr>
          <p:cNvPr id="237" name="PlaceHolder 2"/>
          <p:cNvSpPr>
            <a:spLocks noGrp="1"/>
          </p:cNvSpPr>
          <p:nvPr>
            <p:ph type="body"/>
          </p:nvPr>
        </p:nvSpPr>
        <p:spPr>
          <a:xfrm>
            <a:off x="756000" y="5078520"/>
            <a:ext cx="6047640" cy="481104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238" name="PlaceHolder 3"/>
          <p:cNvSpPr>
            <a:spLocks noGrp="1"/>
          </p:cNvSpPr>
          <p:nvPr>
            <p:ph type="hdr"/>
          </p:nvPr>
        </p:nvSpPr>
        <p:spPr>
          <a:xfrm>
            <a:off x="0" y="0"/>
            <a:ext cx="3280680" cy="53424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239" name="PlaceHolder 4"/>
          <p:cNvSpPr>
            <a:spLocks noGrp="1"/>
          </p:cNvSpPr>
          <p:nvPr>
            <p:ph type="dt"/>
          </p:nvPr>
        </p:nvSpPr>
        <p:spPr>
          <a:xfrm>
            <a:off x="4278960" y="0"/>
            <a:ext cx="3280680" cy="53424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240" name="PlaceHolder 5"/>
          <p:cNvSpPr>
            <a:spLocks noGrp="1"/>
          </p:cNvSpPr>
          <p:nvPr>
            <p:ph type="ftr"/>
          </p:nvPr>
        </p:nvSpPr>
        <p:spPr>
          <a:xfrm>
            <a:off x="0" y="10157400"/>
            <a:ext cx="3280680" cy="53424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241"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0B2A770E-0894-4FBC-BF92-DE57D63E957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Img"/>
          </p:nvPr>
        </p:nvSpPr>
        <p:spPr>
          <a:xfrm>
            <a:off x="685800" y="1143000"/>
            <a:ext cx="5485320" cy="3085200"/>
          </a:xfrm>
          <a:prstGeom prst="rect">
            <a:avLst/>
          </a:prstGeom>
        </p:spPr>
      </p:sp>
      <p:sp>
        <p:nvSpPr>
          <p:cNvPr id="355" name="PlaceHolder 2"/>
          <p:cNvSpPr>
            <a:spLocks noGrp="1"/>
          </p:cNvSpPr>
          <p:nvPr>
            <p:ph type="body"/>
          </p:nvPr>
        </p:nvSpPr>
        <p:spPr>
          <a:xfrm>
            <a:off x="685800" y="4400640"/>
            <a:ext cx="5484600" cy="3598560"/>
          </a:xfrm>
          <a:prstGeom prst="rect">
            <a:avLst/>
          </a:prstGeom>
        </p:spPr>
        <p:txBody>
          <a:bodyPr lIns="0" rIns="0" tIns="0" bIns="0">
            <a:noAutofit/>
          </a:bodyPr>
          <a:p>
            <a:endParaRPr b="0" lang="en-US" sz="2000" spc="-1" strike="noStrike">
              <a:latin typeface="Arial"/>
            </a:endParaRPr>
          </a:p>
        </p:txBody>
      </p:sp>
      <p:sp>
        <p:nvSpPr>
          <p:cNvPr id="356" name="CustomShape 3"/>
          <p:cNvSpPr/>
          <p:nvPr/>
        </p:nvSpPr>
        <p:spPr>
          <a:xfrm>
            <a:off x="3884760" y="8685360"/>
            <a:ext cx="2970000" cy="456840"/>
          </a:xfrm>
          <a:prstGeom prst="rect">
            <a:avLst/>
          </a:prstGeom>
          <a:noFill/>
          <a:ln>
            <a:noFill/>
          </a:ln>
        </p:spPr>
        <p:style>
          <a:lnRef idx="0"/>
          <a:fillRef idx="0"/>
          <a:effectRef idx="0"/>
          <a:fontRef idx="minor"/>
        </p:style>
        <p:txBody>
          <a:bodyPr lIns="90000" rIns="90000" tIns="45000" bIns="45000" anchor="b">
            <a:noAutofit/>
          </a:bodyPr>
          <a:p>
            <a:pPr algn="r">
              <a:lnSpc>
                <a:spcPct val="100000"/>
              </a:lnSpc>
            </a:pPr>
            <a:fld id="{9A5C8B3F-6DCA-4399-ACA4-7EFCCB795C5D}" type="slidenum">
              <a:rPr b="0" lang="en-GB" sz="1200" spc="-1" strike="noStrike">
                <a:solidFill>
                  <a:srgbClr val="000000"/>
                </a:solidFill>
                <a:latin typeface="+mn-lt"/>
                <a:ea typeface="+mn-ea"/>
              </a:rPr>
              <a:t>&lt;number&gt;</a:t>
            </a:fld>
            <a:endParaRPr b="0" lang="en-US"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0"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5"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6"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0"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3"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4"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6"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7"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9"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3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31"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32"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34"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35"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36"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37"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38"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39"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8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8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9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9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9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9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9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0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0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0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0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0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0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1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1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1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1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1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1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1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2"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4"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2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27"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29"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32"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33"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3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37"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39"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40"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41"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3"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44"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46"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4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48"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49"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51"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52"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53"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54"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55"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56"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1"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6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6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7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7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17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7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17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7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7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7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8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18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8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18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18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18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19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19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19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19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19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19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01"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03"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05"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06"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0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08"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1"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latin typeface="Arial"/>
            </a:endParaRPr>
          </a:p>
        </p:txBody>
      </p:sp>
      <p:sp>
        <p:nvSpPr>
          <p:cNvPr id="212"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3"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4"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latin typeface="Arial"/>
            </a:endParaRPr>
          </a:p>
        </p:txBody>
      </p:sp>
      <p:sp>
        <p:nvSpPr>
          <p:cNvPr id="215"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16"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1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1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0"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2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2"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latin typeface="Arial"/>
            </a:endParaRPr>
          </a:p>
        </p:txBody>
      </p:sp>
      <p:sp>
        <p:nvSpPr>
          <p:cNvPr id="223"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25"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latin typeface="Arial"/>
            </a:endParaRPr>
          </a:p>
        </p:txBody>
      </p:sp>
      <p:sp>
        <p:nvSpPr>
          <p:cNvPr id="226"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latin typeface="Arial"/>
            </a:endParaRPr>
          </a:p>
        </p:txBody>
      </p:sp>
      <p:sp>
        <p:nvSpPr>
          <p:cNvPr id="227"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latin typeface="Arial"/>
            </a:endParaRPr>
          </a:p>
        </p:txBody>
      </p:sp>
      <p:sp>
        <p:nvSpPr>
          <p:cNvPr id="228"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latin typeface="Arial"/>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endParaRPr b="0" lang="en-US" sz="4400" spc="-1" strike="noStrike">
              <a:latin typeface="Arial"/>
            </a:endParaRPr>
          </a:p>
        </p:txBody>
      </p:sp>
      <p:sp>
        <p:nvSpPr>
          <p:cNvPr id="230"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latin typeface="Arial"/>
            </a:endParaRPr>
          </a:p>
        </p:txBody>
      </p:sp>
      <p:sp>
        <p:nvSpPr>
          <p:cNvPr id="231"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latin typeface="Arial"/>
            </a:endParaRPr>
          </a:p>
        </p:txBody>
      </p:sp>
      <p:sp>
        <p:nvSpPr>
          <p:cNvPr id="232"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latin typeface="Arial"/>
            </a:endParaRPr>
          </a:p>
        </p:txBody>
      </p:sp>
      <p:sp>
        <p:nvSpPr>
          <p:cNvPr id="233"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latin typeface="Arial"/>
            </a:endParaRPr>
          </a:p>
        </p:txBody>
      </p:sp>
      <p:sp>
        <p:nvSpPr>
          <p:cNvPr id="234"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latin typeface="Arial"/>
            </a:endParaRPr>
          </a:p>
        </p:txBody>
      </p:sp>
      <p:sp>
        <p:nvSpPr>
          <p:cNvPr id="235"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wmf"/><Relationship Id="rId3" Type="http://schemas.openxmlformats.org/officeDocument/2006/relationships/image" Target="../media/image2.wmf"/><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wmf"/><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wmf"/><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5.wmf"/><Relationship Id="rId3" Type="http://schemas.openxmlformats.org/officeDocument/2006/relationships/slideLayout" Target="../slideLayouts/slideLayout37.xml"/><Relationship Id="rId4" Type="http://schemas.openxmlformats.org/officeDocument/2006/relationships/slideLayout" Target="../slideLayouts/slideLayout38.xml"/><Relationship Id="rId5" Type="http://schemas.openxmlformats.org/officeDocument/2006/relationships/slideLayout" Target="../slideLayouts/slideLayout39.xml"/><Relationship Id="rId6" Type="http://schemas.openxmlformats.org/officeDocument/2006/relationships/slideLayout" Target="../slideLayouts/slideLayout40.xml"/><Relationship Id="rId7" Type="http://schemas.openxmlformats.org/officeDocument/2006/relationships/slideLayout" Target="../slideLayouts/slideLayout41.xml"/><Relationship Id="rId8" Type="http://schemas.openxmlformats.org/officeDocument/2006/relationships/slideLayout" Target="../slideLayouts/slideLayout42.xml"/><Relationship Id="rId9" Type="http://schemas.openxmlformats.org/officeDocument/2006/relationships/slideLayout" Target="../slideLayouts/slideLayout43.xml"/><Relationship Id="rId10" Type="http://schemas.openxmlformats.org/officeDocument/2006/relationships/slideLayout" Target="../slideLayouts/slideLayout44.xml"/><Relationship Id="rId11" Type="http://schemas.openxmlformats.org/officeDocument/2006/relationships/slideLayout" Target="../slideLayouts/slideLayout45.xml"/><Relationship Id="rId12" Type="http://schemas.openxmlformats.org/officeDocument/2006/relationships/slideLayout" Target="../slideLayouts/slideLayout46.xml"/><Relationship Id="rId13" Type="http://schemas.openxmlformats.org/officeDocument/2006/relationships/slideLayout" Target="../slideLayouts/slideLayout47.xml"/><Relationship Id="rId14"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6.wmf"/><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7.wmf"/><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0" name="Picture 8" descr=""/>
          <p:cNvPicPr/>
          <p:nvPr/>
        </p:nvPicPr>
        <p:blipFill>
          <a:blip r:embed="rId2"/>
          <a:stretch/>
        </p:blipFill>
        <p:spPr>
          <a:xfrm>
            <a:off x="9959040" y="5906880"/>
            <a:ext cx="1545120" cy="263520"/>
          </a:xfrm>
          <a:prstGeom prst="rect">
            <a:avLst/>
          </a:prstGeom>
          <a:ln>
            <a:noFill/>
          </a:ln>
        </p:spPr>
      </p:pic>
      <p:pic>
        <p:nvPicPr>
          <p:cNvPr id="1" name="Picture 7" descr=""/>
          <p:cNvPicPr/>
          <p:nvPr/>
        </p:nvPicPr>
        <p:blipFill>
          <a:blip r:embed="rId3"/>
          <a:stretch/>
        </p:blipFill>
        <p:spPr>
          <a:xfrm>
            <a:off x="9959040" y="5906880"/>
            <a:ext cx="1545120" cy="263520"/>
          </a:xfrm>
          <a:prstGeom prst="rect">
            <a:avLst/>
          </a:prstGeom>
          <a:ln>
            <a:noFill/>
          </a:ln>
        </p:spPr>
      </p:pic>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3"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40" name="Picture 8" descr=""/>
          <p:cNvPicPr/>
          <p:nvPr/>
        </p:nvPicPr>
        <p:blipFill>
          <a:blip r:embed="rId2"/>
          <a:stretch/>
        </p:blipFill>
        <p:spPr>
          <a:xfrm>
            <a:off x="9959040" y="5906880"/>
            <a:ext cx="1545120" cy="263520"/>
          </a:xfrm>
          <a:prstGeom prst="rect">
            <a:avLst/>
          </a:prstGeom>
          <a:ln>
            <a:noFill/>
          </a:ln>
        </p:spPr>
      </p:pic>
      <p:sp>
        <p:nvSpPr>
          <p:cNvPr id="41"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42"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79" name="Picture 8" descr=""/>
          <p:cNvPicPr/>
          <p:nvPr/>
        </p:nvPicPr>
        <p:blipFill>
          <a:blip r:embed="rId2"/>
          <a:stretch/>
        </p:blipFill>
        <p:spPr>
          <a:xfrm>
            <a:off x="9959040" y="5906880"/>
            <a:ext cx="1545120" cy="263520"/>
          </a:xfrm>
          <a:prstGeom prst="rect">
            <a:avLst/>
          </a:prstGeom>
          <a:ln>
            <a:noFill/>
          </a:ln>
        </p:spPr>
      </p:pic>
      <p:sp>
        <p:nvSpPr>
          <p:cNvPr id="80"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8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18" name="Picture 8" descr=""/>
          <p:cNvPicPr/>
          <p:nvPr/>
        </p:nvPicPr>
        <p:blipFill>
          <a:blip r:embed="rId2"/>
          <a:stretch/>
        </p:blipFill>
        <p:spPr>
          <a:xfrm>
            <a:off x="9959040" y="5906880"/>
            <a:ext cx="1545120" cy="263520"/>
          </a:xfrm>
          <a:prstGeom prst="rect">
            <a:avLst/>
          </a:prstGeom>
          <a:ln>
            <a:noFill/>
          </a:ln>
        </p:spPr>
      </p:pic>
      <p:sp>
        <p:nvSpPr>
          <p:cNvPr id="119" name="PlaceHolder 1"/>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20"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8f2585"/>
            </a:gs>
            <a:gs pos="100000">
              <a:srgbClr val="f26d26"/>
            </a:gs>
          </a:gsLst>
          <a:lin ang="10800000"/>
        </a:gradFill>
      </p:bgPr>
    </p:bg>
    <p:spTree>
      <p:nvGrpSpPr>
        <p:cNvPr id="1" name=""/>
        <p:cNvGrpSpPr/>
        <p:nvPr/>
      </p:nvGrpSpPr>
      <p:grpSpPr>
        <a:xfrm>
          <a:off x="0" y="0"/>
          <a:ext cx="0" cy="0"/>
          <a:chOff x="0" y="0"/>
          <a:chExt cx="0" cy="0"/>
        </a:xfrm>
      </p:grpSpPr>
      <p:pic>
        <p:nvPicPr>
          <p:cNvPr id="157" name="Picture 8" descr=""/>
          <p:cNvPicPr/>
          <p:nvPr/>
        </p:nvPicPr>
        <p:blipFill>
          <a:blip r:embed="rId2"/>
          <a:stretch/>
        </p:blipFill>
        <p:spPr>
          <a:xfrm>
            <a:off x="9959040" y="5906880"/>
            <a:ext cx="1545120" cy="263520"/>
          </a:xfrm>
          <a:prstGeom prst="rect">
            <a:avLst/>
          </a:prstGeom>
          <a:ln>
            <a:noFill/>
          </a:ln>
        </p:spPr>
      </p:pic>
      <p:sp>
        <p:nvSpPr>
          <p:cNvPr id="158" name="PlaceHolder 1"/>
          <p:cNvSpPr>
            <a:spLocks noGrp="1"/>
          </p:cNvSpPr>
          <p:nvPr>
            <p:ph type="title"/>
          </p:nvPr>
        </p:nvSpPr>
        <p:spPr>
          <a:xfrm>
            <a:off x="609480" y="273600"/>
            <a:ext cx="10972080" cy="1144440"/>
          </a:xfrm>
          <a:prstGeom prst="rect">
            <a:avLst/>
          </a:prstGeom>
        </p:spPr>
        <p:txBody>
          <a:bodyPr lIns="0" rIns="0" tIns="0" bIns="0" anchor="ctr">
            <a:noAutofit/>
          </a:bodyPr>
          <a:p>
            <a:pPr algn="ctr"/>
            <a:r>
              <a:rPr b="0" lang="en-US" sz="1800" spc="-1" strike="noStrike">
                <a:latin typeface="Arial"/>
              </a:rPr>
              <a:t>Click to edit the title text format</a:t>
            </a:r>
            <a:endParaRPr b="0" lang="en-US" sz="1800" spc="-1" strike="noStrike">
              <a:latin typeface="Arial"/>
            </a:endParaRPr>
          </a:p>
        </p:txBody>
      </p:sp>
      <p:sp>
        <p:nvSpPr>
          <p:cNvPr id="159" name="PlaceHolder 2"/>
          <p:cNvSpPr>
            <a:spLocks noGrp="1"/>
          </p:cNvSpPr>
          <p:nvPr>
            <p:ph type="body"/>
          </p:nvPr>
        </p:nvSpPr>
        <p:spPr>
          <a:xfrm>
            <a:off x="609480" y="1604520"/>
            <a:ext cx="10972080" cy="3976920"/>
          </a:xfrm>
          <a:prstGeom prst="rect">
            <a:avLst/>
          </a:prstGeom>
        </p:spPr>
        <p:txBody>
          <a:bodyPr lIns="0" rIns="0" tIns="0" bIns="0">
            <a:normAutofit/>
          </a:bodyPr>
          <a:p>
            <a:pPr marL="432000" indent="-324000" algn="ctr">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lgn="ctr">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lgn="ctr">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lgn="ctr">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lgn="ctr">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lgn="ctr">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lgn="ctr">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pic>
        <p:nvPicPr>
          <p:cNvPr id="196" name="Picture 8" descr=""/>
          <p:cNvPicPr/>
          <p:nvPr/>
        </p:nvPicPr>
        <p:blipFill>
          <a:blip r:embed="rId2"/>
          <a:stretch/>
        </p:blipFill>
        <p:spPr>
          <a:xfrm>
            <a:off x="9959040" y="5906880"/>
            <a:ext cx="1545120" cy="263520"/>
          </a:xfrm>
          <a:prstGeom prst="rect">
            <a:avLst/>
          </a:prstGeom>
          <a:ln>
            <a:noFill/>
          </a:ln>
        </p:spPr>
      </p:pic>
      <p:sp>
        <p:nvSpPr>
          <p:cNvPr id="197" name="CustomShape 1"/>
          <p:cNvSpPr/>
          <p:nvPr/>
        </p:nvSpPr>
        <p:spPr>
          <a:xfrm>
            <a:off x="9487080" y="236880"/>
            <a:ext cx="2119680" cy="257040"/>
          </a:xfrm>
          <a:prstGeom prst="rect">
            <a:avLst/>
          </a:prstGeom>
          <a:noFill/>
          <a:ln>
            <a:noFill/>
          </a:ln>
        </p:spPr>
        <p:style>
          <a:lnRef idx="0"/>
          <a:fillRef idx="0"/>
          <a:effectRef idx="0"/>
          <a:fontRef idx="minor"/>
        </p:style>
        <p:txBody>
          <a:bodyPr lIns="90000" rIns="90000" tIns="45000" bIns="45000">
            <a:spAutoFit/>
          </a:bodyPr>
          <a:p>
            <a:pPr algn="r">
              <a:lnSpc>
                <a:spcPct val="100000"/>
              </a:lnSpc>
            </a:pPr>
            <a:r>
              <a:rPr b="0" lang="en-US" sz="1100" spc="-1" strike="noStrike">
                <a:solidFill>
                  <a:srgbClr val="000000"/>
                </a:solidFill>
                <a:latin typeface="Open Sans Regular"/>
                <a:ea typeface="Open Sans Regular"/>
              </a:rPr>
              <a:t>SoftServe Confidential</a:t>
            </a:r>
            <a:endParaRPr b="0" lang="en-US" sz="1100" spc="-1" strike="noStrike">
              <a:latin typeface="Arial"/>
            </a:endParaRPr>
          </a:p>
        </p:txBody>
      </p:sp>
      <p:sp>
        <p:nvSpPr>
          <p:cNvPr id="198" name="PlaceHolder 2"/>
          <p:cNvSpPr>
            <a:spLocks noGrp="1"/>
          </p:cNvSpPr>
          <p:nvPr>
            <p:ph type="title"/>
          </p:nvPr>
        </p:nvSpPr>
        <p:spPr>
          <a:xfrm>
            <a:off x="609480" y="273600"/>
            <a:ext cx="10972440" cy="1144800"/>
          </a:xfrm>
          <a:prstGeom prst="rect">
            <a:avLst/>
          </a:prstGeom>
        </p:spPr>
        <p:txBody>
          <a:bodyPr lIns="0" rIns="0" tIns="0" bIns="0" anchor="ctr">
            <a:noAutofit/>
          </a:bodyPr>
          <a:p>
            <a:pPr algn="ctr"/>
            <a:r>
              <a:rPr b="0" lang="en-US" sz="4400" spc="-1" strike="noStrike">
                <a:latin typeface="Arial"/>
              </a:rPr>
              <a:t>Click to edit the title text format</a:t>
            </a:r>
            <a:endParaRPr b="0" lang="en-US" sz="4400" spc="-1" strike="noStrike">
              <a:latin typeface="Arial"/>
            </a:endParaRPr>
          </a:p>
        </p:txBody>
      </p:sp>
      <p:sp>
        <p:nvSpPr>
          <p:cNvPr id="199" name="PlaceHolder 3"/>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ffffff"/>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ffffff"/>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ffffff"/>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ffffff"/>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ffffff"/>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ffffff"/>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ffffff"/>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5.xml"/>
</Relationships>
</file>

<file path=ppt/slides/_rels/slide9.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5.xml"/>
</Relationships>
</file>

<file path=ppt/slides/_rels/slide1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25.xml"/>
</Relationships>
</file>

<file path=ppt/slides/_rels/slide1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7.xml"/>
</Relationships>
</file>

<file path=ppt/slides/_rels/slide16.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49.xml"/>
</Relationships>
</file>

<file path=ppt/slides/_rels/slide17.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4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19.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9.xml"/>
</Relationships>
</file>

<file path=ppt/slides/_rels/slide2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CustomShape 1"/>
          <p:cNvSpPr/>
          <p:nvPr/>
        </p:nvSpPr>
        <p:spPr>
          <a:xfrm>
            <a:off x="685800" y="5915160"/>
            <a:ext cx="3465360" cy="293400"/>
          </a:xfrm>
          <a:prstGeom prst="rect">
            <a:avLst/>
          </a:prstGeom>
          <a:noFill/>
          <a:ln>
            <a:noFill/>
          </a:ln>
        </p:spPr>
        <p:style>
          <a:lnRef idx="0"/>
          <a:fillRef idx="0"/>
          <a:effectRef idx="0"/>
          <a:fontRef idx="minor"/>
        </p:style>
      </p:sp>
      <p:sp>
        <p:nvSpPr>
          <p:cNvPr id="243" name="CustomShape 2"/>
          <p:cNvSpPr/>
          <p:nvPr/>
        </p:nvSpPr>
        <p:spPr>
          <a:xfrm>
            <a:off x="199440" y="329760"/>
            <a:ext cx="12389040" cy="668124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6600" spc="-1" strike="noStrike">
                <a:solidFill>
                  <a:srgbClr val="ffffff"/>
                </a:solidFill>
                <a:latin typeface="Arial"/>
                <a:ea typeface="DejaVu Sans"/>
              </a:rPr>
              <a:t>Node.js Express. Examples of usage</a:t>
            </a:r>
            <a:endParaRPr b="0" lang="en-US" sz="6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CustomShape 1"/>
          <p:cNvSpPr/>
          <p:nvPr/>
        </p:nvSpPr>
        <p:spPr>
          <a:xfrm>
            <a:off x="685800" y="2057400"/>
            <a:ext cx="1979280" cy="684000"/>
          </a:xfrm>
          <a:prstGeom prst="rect">
            <a:avLst/>
          </a:prstGeom>
          <a:noFill/>
          <a:ln>
            <a:noFill/>
          </a:ln>
        </p:spPr>
        <p:style>
          <a:lnRef idx="0"/>
          <a:fillRef idx="0"/>
          <a:effectRef idx="0"/>
          <a:fontRef idx="minor"/>
        </p:style>
      </p:sp>
      <p:sp>
        <p:nvSpPr>
          <p:cNvPr id="245" name="CustomShape 2"/>
          <p:cNvSpPr/>
          <p:nvPr/>
        </p:nvSpPr>
        <p:spPr>
          <a:xfrm>
            <a:off x="2895480" y="2057400"/>
            <a:ext cx="1979280" cy="684000"/>
          </a:xfrm>
          <a:prstGeom prst="rect">
            <a:avLst/>
          </a:prstGeom>
          <a:noFill/>
          <a:ln>
            <a:noFill/>
          </a:ln>
        </p:spPr>
        <p:style>
          <a:lnRef idx="0"/>
          <a:fillRef idx="0"/>
          <a:effectRef idx="0"/>
          <a:fontRef idx="minor"/>
        </p:style>
      </p:sp>
      <p:sp>
        <p:nvSpPr>
          <p:cNvPr id="246" name="CustomShape 3"/>
          <p:cNvSpPr/>
          <p:nvPr/>
        </p:nvSpPr>
        <p:spPr>
          <a:xfrm>
            <a:off x="5105520" y="2057400"/>
            <a:ext cx="1979280" cy="684000"/>
          </a:xfrm>
          <a:prstGeom prst="rect">
            <a:avLst/>
          </a:prstGeom>
          <a:noFill/>
          <a:ln>
            <a:noFill/>
          </a:ln>
        </p:spPr>
        <p:style>
          <a:lnRef idx="0"/>
          <a:fillRef idx="0"/>
          <a:effectRef idx="0"/>
          <a:fontRef idx="minor"/>
        </p:style>
      </p:sp>
      <p:sp>
        <p:nvSpPr>
          <p:cNvPr id="247" name="CustomShape 4"/>
          <p:cNvSpPr/>
          <p:nvPr/>
        </p:nvSpPr>
        <p:spPr>
          <a:xfrm>
            <a:off x="7315200" y="2057400"/>
            <a:ext cx="1979280" cy="684000"/>
          </a:xfrm>
          <a:prstGeom prst="rect">
            <a:avLst/>
          </a:prstGeom>
          <a:noFill/>
          <a:ln>
            <a:noFill/>
          </a:ln>
        </p:spPr>
        <p:style>
          <a:lnRef idx="0"/>
          <a:fillRef idx="0"/>
          <a:effectRef idx="0"/>
          <a:fontRef idx="minor"/>
        </p:style>
      </p:sp>
      <p:sp>
        <p:nvSpPr>
          <p:cNvPr id="248" name="CustomShape 5"/>
          <p:cNvSpPr/>
          <p:nvPr/>
        </p:nvSpPr>
        <p:spPr>
          <a:xfrm>
            <a:off x="9524880" y="2057400"/>
            <a:ext cx="1979280" cy="684000"/>
          </a:xfrm>
          <a:prstGeom prst="rect">
            <a:avLst/>
          </a:prstGeom>
          <a:noFill/>
          <a:ln>
            <a:noFill/>
          </a:ln>
        </p:spPr>
        <p:style>
          <a:lnRef idx="0"/>
          <a:fillRef idx="0"/>
          <a:effectRef idx="0"/>
          <a:fontRef idx="minor"/>
        </p:style>
      </p:sp>
      <p:sp>
        <p:nvSpPr>
          <p:cNvPr id="249" name="CustomShape 6"/>
          <p:cNvSpPr/>
          <p:nvPr/>
        </p:nvSpPr>
        <p:spPr>
          <a:xfrm>
            <a:off x="685800" y="685800"/>
            <a:ext cx="10818720" cy="684000"/>
          </a:xfrm>
          <a:prstGeom prst="rect">
            <a:avLst/>
          </a:prstGeom>
          <a:noFill/>
          <a:ln>
            <a:noFill/>
          </a:ln>
        </p:spPr>
        <p:style>
          <a:lnRef idx="0"/>
          <a:fillRef idx="0"/>
          <a:effectRef idx="0"/>
          <a:fontRef idx="minor"/>
        </p:style>
      </p:sp>
      <p:sp>
        <p:nvSpPr>
          <p:cNvPr id="250" name="CustomShape 7"/>
          <p:cNvSpPr/>
          <p:nvPr/>
        </p:nvSpPr>
        <p:spPr>
          <a:xfrm>
            <a:off x="2141280" y="592920"/>
            <a:ext cx="7054560" cy="7419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What is Express?</a:t>
            </a:r>
            <a:endParaRPr b="0" lang="en-US" sz="4400" spc="-1" strike="noStrike">
              <a:latin typeface="Arial"/>
            </a:endParaRPr>
          </a:p>
        </p:txBody>
      </p:sp>
      <p:sp>
        <p:nvSpPr>
          <p:cNvPr id="251" name="CustomShape 8"/>
          <p:cNvSpPr/>
          <p:nvPr/>
        </p:nvSpPr>
        <p:spPr>
          <a:xfrm>
            <a:off x="1519200" y="1744560"/>
            <a:ext cx="8298720" cy="1405800"/>
          </a:xfrm>
          <a:prstGeom prst="rect">
            <a:avLst/>
          </a:prstGeom>
          <a:noFill/>
          <a:ln>
            <a:noFill/>
          </a:ln>
        </p:spPr>
        <p:style>
          <a:lnRef idx="0"/>
          <a:fillRef idx="0"/>
          <a:effectRef idx="0"/>
          <a:fontRef idx="minor"/>
        </p:style>
      </p:sp>
      <p:sp>
        <p:nvSpPr>
          <p:cNvPr id="252" name="CustomShape 9"/>
          <p:cNvSpPr/>
          <p:nvPr/>
        </p:nvSpPr>
        <p:spPr>
          <a:xfrm>
            <a:off x="1258920" y="1463400"/>
            <a:ext cx="9958680" cy="5210640"/>
          </a:xfrm>
          <a:prstGeom prst="rect">
            <a:avLst/>
          </a:prstGeom>
          <a:noFill/>
          <a:ln>
            <a:noFill/>
          </a:ln>
        </p:spPr>
        <p:style>
          <a:lnRef idx="0"/>
          <a:fillRef idx="0"/>
          <a:effectRef idx="0"/>
          <a:fontRef idx="minor"/>
        </p:style>
        <p:txBody>
          <a:bodyPr lIns="90000" rIns="90000" tIns="45000" bIns="45000">
            <a:spAutoFit/>
          </a:bodyPr>
          <a:p>
            <a:pPr marL="343080" indent="-342360">
              <a:lnSpc>
                <a:spcPct val="150000"/>
              </a:lnSpc>
              <a:buClr>
                <a:srgbClr val="ffffff"/>
              </a:buClr>
              <a:buFont typeface="Arial"/>
              <a:buChar char="•"/>
            </a:pPr>
            <a:r>
              <a:rPr b="0" lang="en-US" sz="2400" spc="-1" strike="noStrike">
                <a:solidFill>
                  <a:srgbClr val="ffffff"/>
                </a:solidFill>
                <a:latin typeface="Arial"/>
                <a:ea typeface="DejaVu Sans"/>
              </a:rPr>
              <a:t>Express is a relatively small framework that sits on top of Node.js’s web server functionality to simplify its API s and add helpful new features.</a:t>
            </a:r>
            <a:endParaRPr b="0" lang="en-US" sz="2400" spc="-1" strike="noStrike">
              <a:latin typeface="Arial"/>
            </a:endParaRPr>
          </a:p>
          <a:p>
            <a:pPr marL="343080" indent="-342360">
              <a:lnSpc>
                <a:spcPct val="150000"/>
              </a:lnSpc>
              <a:buClr>
                <a:srgbClr val="ffffff"/>
              </a:buClr>
              <a:buFont typeface="Arial"/>
              <a:buChar char="•"/>
            </a:pPr>
            <a:r>
              <a:rPr b="0" lang="en-US" sz="2400" spc="-1" strike="noStrike">
                <a:solidFill>
                  <a:srgbClr val="ffffff"/>
                </a:solidFill>
                <a:latin typeface="Arial"/>
                <a:ea typeface="DejaVu Sans"/>
              </a:rPr>
              <a:t>It makes it easier to organize your application’s functionality with middleware and routing</a:t>
            </a:r>
            <a:endParaRPr b="0" lang="en-US" sz="2400" spc="-1" strike="noStrike">
              <a:latin typeface="Arial"/>
            </a:endParaRPr>
          </a:p>
          <a:p>
            <a:pPr marL="343080" indent="-342360">
              <a:lnSpc>
                <a:spcPct val="150000"/>
              </a:lnSpc>
              <a:buClr>
                <a:srgbClr val="ffffff"/>
              </a:buClr>
              <a:buFont typeface="Arial"/>
              <a:buChar char="•"/>
            </a:pPr>
            <a:r>
              <a:rPr b="0" lang="en-US" sz="2400" spc="-1" strike="noStrike">
                <a:solidFill>
                  <a:srgbClr val="ffffff"/>
                </a:solidFill>
                <a:latin typeface="Arial"/>
                <a:ea typeface="DejaVu Sans"/>
              </a:rPr>
              <a:t>It adds helpful utilities to Node.js’s HTTP objects </a:t>
            </a:r>
            <a:endParaRPr b="0" lang="en-US" sz="2400" spc="-1" strike="noStrike">
              <a:latin typeface="Arial"/>
            </a:endParaRPr>
          </a:p>
          <a:p>
            <a:pPr marL="343080" indent="-342360">
              <a:lnSpc>
                <a:spcPct val="150000"/>
              </a:lnSpc>
              <a:buClr>
                <a:srgbClr val="ffffff"/>
              </a:buClr>
              <a:buFont typeface="Arial"/>
              <a:buChar char="•"/>
            </a:pPr>
            <a:r>
              <a:rPr b="0" lang="en-US" sz="2400" spc="-1" strike="noStrike">
                <a:solidFill>
                  <a:srgbClr val="ffffff"/>
                </a:solidFill>
                <a:latin typeface="Arial"/>
                <a:ea typeface="DejaVu Sans"/>
              </a:rPr>
              <a:t>It facilitates the rendering of dynamic HTML views</a:t>
            </a:r>
            <a:endParaRPr b="0" lang="en-US" sz="2400" spc="-1" strike="noStrike">
              <a:latin typeface="Arial"/>
            </a:endParaRPr>
          </a:p>
          <a:p>
            <a:pPr marL="343080" indent="-342360">
              <a:lnSpc>
                <a:spcPct val="150000"/>
              </a:lnSpc>
              <a:buClr>
                <a:srgbClr val="ffffff"/>
              </a:buClr>
              <a:buFont typeface="Arial"/>
              <a:buChar char="•"/>
            </a:pPr>
            <a:r>
              <a:rPr b="0" lang="en-US" sz="2400" spc="-1" strike="noStrike">
                <a:solidFill>
                  <a:srgbClr val="ffffff"/>
                </a:solidFill>
                <a:latin typeface="Arial"/>
                <a:ea typeface="DejaVu Sans"/>
              </a:rPr>
              <a:t>It defines an easily implemented extensibility standard.</a:t>
            </a:r>
            <a:endParaRPr b="0" lang="en-US" sz="2400" spc="-1" strike="noStrike">
              <a:latin typeface="Arial"/>
            </a:endParaRPr>
          </a:p>
          <a:p>
            <a:pPr>
              <a:lnSpc>
                <a:spcPct val="100000"/>
              </a:lnSpc>
            </a:pPr>
            <a:endParaRPr b="0" lang="en-US" sz="2400" spc="-1" strike="noStrike">
              <a:latin typeface="Arial"/>
            </a:endParaRPr>
          </a:p>
          <a:p>
            <a:pPr>
              <a:lnSpc>
                <a:spcPct val="100000"/>
              </a:lnSpc>
            </a:pP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CustomShape 1"/>
          <p:cNvSpPr/>
          <p:nvPr/>
        </p:nvSpPr>
        <p:spPr>
          <a:xfrm>
            <a:off x="685800" y="2057400"/>
            <a:ext cx="1979280" cy="684000"/>
          </a:xfrm>
          <a:prstGeom prst="rect">
            <a:avLst/>
          </a:prstGeom>
          <a:noFill/>
          <a:ln>
            <a:noFill/>
          </a:ln>
        </p:spPr>
        <p:style>
          <a:lnRef idx="0"/>
          <a:fillRef idx="0"/>
          <a:effectRef idx="0"/>
          <a:fontRef idx="minor"/>
        </p:style>
      </p:sp>
      <p:sp>
        <p:nvSpPr>
          <p:cNvPr id="254" name="CustomShape 2"/>
          <p:cNvSpPr/>
          <p:nvPr/>
        </p:nvSpPr>
        <p:spPr>
          <a:xfrm>
            <a:off x="2895480" y="2057400"/>
            <a:ext cx="1979280" cy="684000"/>
          </a:xfrm>
          <a:prstGeom prst="rect">
            <a:avLst/>
          </a:prstGeom>
          <a:noFill/>
          <a:ln>
            <a:noFill/>
          </a:ln>
        </p:spPr>
        <p:style>
          <a:lnRef idx="0"/>
          <a:fillRef idx="0"/>
          <a:effectRef idx="0"/>
          <a:fontRef idx="minor"/>
        </p:style>
      </p:sp>
      <p:sp>
        <p:nvSpPr>
          <p:cNvPr id="255" name="CustomShape 3"/>
          <p:cNvSpPr/>
          <p:nvPr/>
        </p:nvSpPr>
        <p:spPr>
          <a:xfrm>
            <a:off x="5105520" y="2057400"/>
            <a:ext cx="1979280" cy="684000"/>
          </a:xfrm>
          <a:prstGeom prst="rect">
            <a:avLst/>
          </a:prstGeom>
          <a:noFill/>
          <a:ln>
            <a:noFill/>
          </a:ln>
        </p:spPr>
        <p:style>
          <a:lnRef idx="0"/>
          <a:fillRef idx="0"/>
          <a:effectRef idx="0"/>
          <a:fontRef idx="minor"/>
        </p:style>
      </p:sp>
      <p:sp>
        <p:nvSpPr>
          <p:cNvPr id="256" name="CustomShape 4"/>
          <p:cNvSpPr/>
          <p:nvPr/>
        </p:nvSpPr>
        <p:spPr>
          <a:xfrm>
            <a:off x="7315200" y="2057400"/>
            <a:ext cx="1979280" cy="684000"/>
          </a:xfrm>
          <a:prstGeom prst="rect">
            <a:avLst/>
          </a:prstGeom>
          <a:noFill/>
          <a:ln>
            <a:noFill/>
          </a:ln>
        </p:spPr>
        <p:style>
          <a:lnRef idx="0"/>
          <a:fillRef idx="0"/>
          <a:effectRef idx="0"/>
          <a:fontRef idx="minor"/>
        </p:style>
      </p:sp>
      <p:sp>
        <p:nvSpPr>
          <p:cNvPr id="257" name="CustomShape 5"/>
          <p:cNvSpPr/>
          <p:nvPr/>
        </p:nvSpPr>
        <p:spPr>
          <a:xfrm>
            <a:off x="9524880" y="2057400"/>
            <a:ext cx="1979280" cy="684000"/>
          </a:xfrm>
          <a:prstGeom prst="rect">
            <a:avLst/>
          </a:prstGeom>
          <a:noFill/>
          <a:ln>
            <a:noFill/>
          </a:ln>
        </p:spPr>
        <p:style>
          <a:lnRef idx="0"/>
          <a:fillRef idx="0"/>
          <a:effectRef idx="0"/>
          <a:fontRef idx="minor"/>
        </p:style>
      </p:sp>
      <p:sp>
        <p:nvSpPr>
          <p:cNvPr id="258" name="CustomShape 6"/>
          <p:cNvSpPr/>
          <p:nvPr/>
        </p:nvSpPr>
        <p:spPr>
          <a:xfrm>
            <a:off x="685800" y="685800"/>
            <a:ext cx="10818720" cy="684000"/>
          </a:xfrm>
          <a:prstGeom prst="rect">
            <a:avLst/>
          </a:prstGeom>
          <a:noFill/>
          <a:ln>
            <a:noFill/>
          </a:ln>
        </p:spPr>
        <p:style>
          <a:lnRef idx="0"/>
          <a:fillRef idx="0"/>
          <a:effectRef idx="0"/>
          <a:fontRef idx="minor"/>
        </p:style>
      </p:sp>
      <p:sp>
        <p:nvSpPr>
          <p:cNvPr id="259" name="CustomShape 7"/>
          <p:cNvSpPr/>
          <p:nvPr/>
        </p:nvSpPr>
        <p:spPr>
          <a:xfrm>
            <a:off x="344520" y="467640"/>
            <a:ext cx="11190240" cy="924840"/>
          </a:xfrm>
          <a:prstGeom prst="rect">
            <a:avLst/>
          </a:prstGeom>
          <a:noFill/>
          <a:ln>
            <a:noFill/>
          </a:ln>
        </p:spPr>
        <p:style>
          <a:lnRef idx="0"/>
          <a:fillRef idx="0"/>
          <a:effectRef idx="0"/>
          <a:fontRef idx="minor"/>
        </p:style>
        <p:txBody>
          <a:bodyPr lIns="90000" rIns="90000" tIns="45000" bIns="45000">
            <a:noAutofit/>
          </a:bodyPr>
          <a:p>
            <a:pPr>
              <a:lnSpc>
                <a:spcPct val="100000"/>
              </a:lnSpc>
            </a:pPr>
            <a:r>
              <a:rPr b="0" lang="en-US" sz="4400" spc="-1" strike="noStrike">
                <a:solidFill>
                  <a:srgbClr val="ffffff"/>
                </a:solidFill>
                <a:latin typeface="Proxima Nova Black"/>
                <a:ea typeface="DejaVu Sans"/>
              </a:rPr>
              <a:t>A request through a Node.js web application</a:t>
            </a:r>
            <a:endParaRPr b="0" lang="en-US" sz="4400" spc="-1" strike="noStrike">
              <a:latin typeface="Arial"/>
            </a:endParaRPr>
          </a:p>
        </p:txBody>
      </p:sp>
      <p:pic>
        <p:nvPicPr>
          <p:cNvPr id="260" name="Рисунок 220" descr=""/>
          <p:cNvPicPr/>
          <p:nvPr/>
        </p:nvPicPr>
        <p:blipFill>
          <a:blip r:embed="rId1"/>
          <a:stretch/>
        </p:blipFill>
        <p:spPr>
          <a:xfrm>
            <a:off x="3257280" y="1875600"/>
            <a:ext cx="5675760" cy="2056320"/>
          </a:xfrm>
          <a:prstGeom prst="rect">
            <a:avLst/>
          </a:prstGeom>
          <a:ln>
            <a:noFill/>
          </a:ln>
        </p:spPr>
      </p:pic>
      <p:sp>
        <p:nvSpPr>
          <p:cNvPr id="261" name="CustomShape 8"/>
          <p:cNvSpPr/>
          <p:nvPr/>
        </p:nvSpPr>
        <p:spPr>
          <a:xfrm>
            <a:off x="1146240" y="4048200"/>
            <a:ext cx="10388520" cy="228420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en-US" sz="2400" spc="-1" strike="noStrike">
                <a:solidFill>
                  <a:srgbClr val="ffffff"/>
                </a:solidFill>
                <a:latin typeface="NewBaskerville-Roman"/>
                <a:ea typeface="DejaVu Sans"/>
              </a:rPr>
              <a:t>	</a:t>
            </a:r>
            <a:r>
              <a:rPr b="0" lang="en-US" sz="2400" spc="-1" strike="noStrike">
                <a:solidFill>
                  <a:srgbClr val="ffffff"/>
                </a:solidFill>
                <a:latin typeface="NewBaskerville-Roman"/>
                <a:ea typeface="DejaVu Sans"/>
              </a:rPr>
              <a:t>The JavaScript function that processes browser requests in your application is called a </a:t>
            </a:r>
            <a:r>
              <a:rPr b="0" i="1" lang="en-US" sz="2400" spc="-1" strike="noStrike">
                <a:solidFill>
                  <a:srgbClr val="ffffff"/>
                </a:solidFill>
                <a:latin typeface="NewBaskerville-Italic"/>
                <a:ea typeface="DejaVu Sans"/>
              </a:rPr>
              <a:t>request handler</a:t>
            </a:r>
            <a:r>
              <a:rPr b="0" lang="en-US" sz="2400" spc="-1" strike="noStrike">
                <a:solidFill>
                  <a:srgbClr val="ffffff"/>
                </a:solidFill>
                <a:latin typeface="NewBaskerville-Roman"/>
                <a:ea typeface="DejaVu Sans"/>
              </a:rPr>
              <a:t>. it’s a JavaScript function that takes the request, figures out what to do, and responds. Node.js’s HTTP server handles the connection between the client and your JavaScript function so that you don’t have to handle tricky network protocols.</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CustomShape 1"/>
          <p:cNvSpPr/>
          <p:nvPr/>
        </p:nvSpPr>
        <p:spPr>
          <a:xfrm>
            <a:off x="1616400" y="640080"/>
            <a:ext cx="10818720" cy="684000"/>
          </a:xfrm>
          <a:prstGeom prst="rect">
            <a:avLst/>
          </a:prstGeom>
          <a:noFill/>
          <a:ln>
            <a:noFill/>
          </a:ln>
        </p:spPr>
        <p:style>
          <a:lnRef idx="0"/>
          <a:fillRef idx="0"/>
          <a:effectRef idx="0"/>
          <a:fontRef idx="minor"/>
        </p:style>
      </p:sp>
      <p:sp>
        <p:nvSpPr>
          <p:cNvPr id="263" name="CustomShape 2"/>
          <p:cNvSpPr/>
          <p:nvPr/>
        </p:nvSpPr>
        <p:spPr>
          <a:xfrm>
            <a:off x="685800" y="2057400"/>
            <a:ext cx="10818720" cy="3427200"/>
          </a:xfrm>
          <a:prstGeom prst="rect">
            <a:avLst/>
          </a:prstGeom>
          <a:noFill/>
          <a:ln>
            <a:noFill/>
          </a:ln>
        </p:spPr>
        <p:style>
          <a:lnRef idx="0"/>
          <a:fillRef idx="0"/>
          <a:effectRef idx="0"/>
          <a:fontRef idx="minor"/>
        </p:style>
      </p:sp>
      <p:sp>
        <p:nvSpPr>
          <p:cNvPr id="264" name="CustomShape 3"/>
          <p:cNvSpPr/>
          <p:nvPr/>
        </p:nvSpPr>
        <p:spPr>
          <a:xfrm>
            <a:off x="1470600" y="444960"/>
            <a:ext cx="9249120" cy="7419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What Express adds to  Node.js</a:t>
            </a:r>
            <a:endParaRPr b="0" lang="en-US" sz="4400" spc="-1" strike="noStrike">
              <a:latin typeface="Arial"/>
            </a:endParaRPr>
          </a:p>
        </p:txBody>
      </p:sp>
      <p:sp>
        <p:nvSpPr>
          <p:cNvPr id="265" name="CustomShape 4"/>
          <p:cNvSpPr/>
          <p:nvPr/>
        </p:nvSpPr>
        <p:spPr>
          <a:xfrm>
            <a:off x="1278720" y="3702240"/>
            <a:ext cx="10225800" cy="220536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It adds a number of helpful conveniences to Node.js’s HTTP server, abstracting away a lot of its complexity. For example, sending a single JPEG file is fairly complex in raw Node.js; Express reduces it to one line.</a:t>
            </a:r>
            <a:endParaRPr b="0" lang="en-US" sz="2000" spc="-1" strike="noStrike">
              <a:latin typeface="Arial"/>
            </a:endParaRPr>
          </a:p>
          <a:p>
            <a:pPr algn="just">
              <a:lnSpc>
                <a:spcPct val="100000"/>
              </a:lnSpc>
            </a:pPr>
            <a:endParaRPr b="0" lang="en-US" sz="2000" spc="-1" strike="noStrike">
              <a:latin typeface="Arial"/>
            </a:endParaRPr>
          </a:p>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It lets you refactor one monolithic request handler function into many smaller request handlers that handle only specific bits and pieces. This is more maintainable and more modular.</a:t>
            </a:r>
            <a:endParaRPr b="0" lang="en-US" sz="2000" spc="-1" strike="noStrike">
              <a:latin typeface="Arial"/>
            </a:endParaRPr>
          </a:p>
        </p:txBody>
      </p:sp>
      <p:pic>
        <p:nvPicPr>
          <p:cNvPr id="266" name="Рисунок 226" descr=""/>
          <p:cNvPicPr/>
          <p:nvPr/>
        </p:nvPicPr>
        <p:blipFill>
          <a:blip r:embed="rId1"/>
          <a:stretch/>
        </p:blipFill>
        <p:spPr>
          <a:xfrm>
            <a:off x="2966760" y="1448280"/>
            <a:ext cx="6256800" cy="1980000"/>
          </a:xfrm>
          <a:prstGeom prst="rect">
            <a:avLst/>
          </a:prstGeom>
          <a:ln>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CustomShape 1"/>
          <p:cNvSpPr/>
          <p:nvPr/>
        </p:nvSpPr>
        <p:spPr>
          <a:xfrm>
            <a:off x="610560" y="731520"/>
            <a:ext cx="10818720" cy="684000"/>
          </a:xfrm>
          <a:prstGeom prst="rect">
            <a:avLst/>
          </a:prstGeom>
          <a:noFill/>
          <a:ln>
            <a:noFill/>
          </a:ln>
        </p:spPr>
        <p:style>
          <a:lnRef idx="0"/>
          <a:fillRef idx="0"/>
          <a:effectRef idx="0"/>
          <a:fontRef idx="minor"/>
        </p:style>
      </p:sp>
      <p:sp>
        <p:nvSpPr>
          <p:cNvPr id="268" name="CustomShape 2"/>
          <p:cNvSpPr/>
          <p:nvPr/>
        </p:nvSpPr>
        <p:spPr>
          <a:xfrm>
            <a:off x="685800" y="2574360"/>
            <a:ext cx="10818720" cy="2910240"/>
          </a:xfrm>
          <a:prstGeom prst="rect">
            <a:avLst/>
          </a:prstGeom>
          <a:noFill/>
          <a:ln>
            <a:noFill/>
          </a:ln>
        </p:spPr>
        <p:style>
          <a:lnRef idx="0"/>
          <a:fillRef idx="0"/>
          <a:effectRef idx="0"/>
          <a:fontRef idx="minor"/>
        </p:style>
      </p:sp>
      <p:sp>
        <p:nvSpPr>
          <p:cNvPr id="269" name="CustomShape 3"/>
          <p:cNvSpPr/>
          <p:nvPr/>
        </p:nvSpPr>
        <p:spPr>
          <a:xfrm>
            <a:off x="1569240" y="326520"/>
            <a:ext cx="9051840" cy="83448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Express’s minimal philosophy</a:t>
            </a:r>
            <a:endParaRPr b="0" lang="en-US" sz="4400" spc="-1" strike="noStrike">
              <a:latin typeface="Arial"/>
            </a:endParaRPr>
          </a:p>
        </p:txBody>
      </p:sp>
      <p:sp>
        <p:nvSpPr>
          <p:cNvPr id="270" name="CustomShape 4"/>
          <p:cNvSpPr/>
          <p:nvPr/>
        </p:nvSpPr>
        <p:spPr>
          <a:xfrm>
            <a:off x="1364400" y="1372680"/>
            <a:ext cx="9902880" cy="149652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en-US" sz="2000" spc="-1" strike="noStrike">
                <a:solidFill>
                  <a:srgbClr val="ffffff"/>
                </a:solidFill>
                <a:latin typeface="Arial"/>
                <a:ea typeface="DejaVu Sans"/>
              </a:rPr>
              <a:t>It’s very rare to build an Express app of any size that uses only Express. Express by</a:t>
            </a:r>
            <a:endParaRPr b="0" lang="en-US" sz="2000" spc="-1" strike="noStrike">
              <a:latin typeface="Arial"/>
            </a:endParaRPr>
          </a:p>
          <a:p>
            <a:pPr algn="just">
              <a:lnSpc>
                <a:spcPct val="100000"/>
              </a:lnSpc>
            </a:pPr>
            <a:r>
              <a:rPr b="0" lang="en-US" sz="2000" spc="-1" strike="noStrike">
                <a:solidFill>
                  <a:srgbClr val="ffffff"/>
                </a:solidFill>
                <a:latin typeface="Arial"/>
                <a:ea typeface="DejaVu Sans"/>
              </a:rPr>
              <a:t>itself probably doesn’t do everything you need, and you’ll likely find yourself with a</a:t>
            </a:r>
            <a:endParaRPr b="0" lang="en-US" sz="2000" spc="-1" strike="noStrike">
              <a:latin typeface="Arial"/>
            </a:endParaRPr>
          </a:p>
          <a:p>
            <a:pPr algn="just">
              <a:lnSpc>
                <a:spcPct val="100000"/>
              </a:lnSpc>
            </a:pPr>
            <a:r>
              <a:rPr b="0" lang="en-US" sz="2000" spc="-1" strike="noStrike">
                <a:solidFill>
                  <a:srgbClr val="ffffff"/>
                </a:solidFill>
                <a:latin typeface="Arial"/>
                <a:ea typeface="DejaVu Sans"/>
              </a:rPr>
              <a:t>large number of other libraries that you integrate into your Express applications.</a:t>
            </a:r>
            <a:endParaRPr b="0" lang="en-US" sz="2000" spc="-1" strike="noStrike">
              <a:latin typeface="Arial"/>
            </a:endParaRPr>
          </a:p>
        </p:txBody>
      </p:sp>
      <p:sp>
        <p:nvSpPr>
          <p:cNvPr id="271" name="CustomShape 5"/>
          <p:cNvSpPr/>
          <p:nvPr/>
        </p:nvSpPr>
        <p:spPr>
          <a:xfrm>
            <a:off x="883440" y="2869920"/>
            <a:ext cx="10423440" cy="3290040"/>
          </a:xfrm>
          <a:prstGeom prst="rect">
            <a:avLst/>
          </a:prstGeom>
          <a:noFill/>
          <a:ln>
            <a:noFill/>
          </a:ln>
        </p:spPr>
        <p:style>
          <a:lnRef idx="0"/>
          <a:fillRef idx="0"/>
          <a:effectRef idx="0"/>
          <a:fontRef idx="minor"/>
        </p:style>
        <p:txBody>
          <a:bodyPr lIns="90000" rIns="90000" tIns="45000" bIns="45000">
            <a:spAutoFit/>
          </a:bodyPr>
          <a:p>
            <a:pPr marL="285840" indent="-285120" algn="just">
              <a:lnSpc>
                <a:spcPct val="150000"/>
              </a:lnSpc>
              <a:buClr>
                <a:srgbClr val="ffffff"/>
              </a:buClr>
              <a:buFont typeface="Arial"/>
              <a:buChar char="•"/>
            </a:pPr>
            <a:r>
              <a:rPr b="0" i="1" lang="en-US" sz="2000" spc="-1" strike="noStrike">
                <a:solidFill>
                  <a:srgbClr val="ffffff"/>
                </a:solidFill>
                <a:latin typeface="Arial"/>
                <a:ea typeface="DejaVu Sans"/>
              </a:rPr>
              <a:t>connect-ratelimit</a:t>
            </a:r>
            <a:r>
              <a:rPr b="0" lang="en-US" sz="2000" spc="-1" strike="noStrike">
                <a:solidFill>
                  <a:srgbClr val="ffffff"/>
                </a:solidFill>
                <a:latin typeface="Arial"/>
                <a:ea typeface="DejaVu Sans"/>
              </a:rPr>
              <a:t>—Lets you throttle connections to a certain number of requests per hour. If someone is sending numerous requests to your server, you can start giving them errors to stop them from bringing your site down.</a:t>
            </a:r>
            <a:endParaRPr b="0" lang="en-US" sz="2000" spc="-1" strike="noStrike">
              <a:latin typeface="Arial"/>
            </a:endParaRPr>
          </a:p>
          <a:p>
            <a:pPr marL="285840" indent="-285120" algn="just">
              <a:lnSpc>
                <a:spcPct val="150000"/>
              </a:lnSpc>
              <a:buClr>
                <a:srgbClr val="ffffff"/>
              </a:buClr>
              <a:buFont typeface="Arial"/>
              <a:buChar char="•"/>
            </a:pPr>
            <a:r>
              <a:rPr b="0" i="1" lang="en-US" sz="2000" spc="-1" strike="noStrike">
                <a:solidFill>
                  <a:srgbClr val="ffffff"/>
                </a:solidFill>
                <a:latin typeface="Arial"/>
                <a:ea typeface="DejaVu Sans"/>
              </a:rPr>
              <a:t>Helmet</a:t>
            </a:r>
            <a:r>
              <a:rPr b="0" lang="en-US" sz="2000" spc="-1" strike="noStrike">
                <a:solidFill>
                  <a:srgbClr val="ffffff"/>
                </a:solidFill>
                <a:latin typeface="Arial"/>
                <a:ea typeface="DejaVu Sans"/>
              </a:rPr>
              <a:t>—Helps you add HTTP headers to make your app safer against certain kinds of attacks. </a:t>
            </a:r>
            <a:endParaRPr b="0" lang="en-US" sz="2000" spc="-1" strike="noStrike">
              <a:latin typeface="Arial"/>
            </a:endParaRPr>
          </a:p>
          <a:p>
            <a:pPr marL="285840" indent="-285120" algn="just">
              <a:lnSpc>
                <a:spcPct val="150000"/>
              </a:lnSpc>
              <a:buClr>
                <a:srgbClr val="ffffff"/>
              </a:buClr>
              <a:buFont typeface="Arial"/>
              <a:buChar char="•"/>
            </a:pPr>
            <a:r>
              <a:rPr b="0" i="1" lang="en-US" sz="2000" spc="-1" strike="noStrike">
                <a:solidFill>
                  <a:srgbClr val="ffffff"/>
                </a:solidFill>
                <a:latin typeface="Arial"/>
                <a:ea typeface="DejaVu Sans"/>
              </a:rPr>
              <a:t>cookie-parser</a:t>
            </a:r>
            <a:r>
              <a:rPr b="0" lang="en-US" sz="2000" spc="-1" strike="noStrike">
                <a:solidFill>
                  <a:srgbClr val="ffffff"/>
                </a:solidFill>
                <a:latin typeface="Arial"/>
                <a:ea typeface="DejaVu Sans"/>
              </a:rPr>
              <a:t>—Parses browser cookies.</a:t>
            </a:r>
            <a:endParaRPr b="0" lang="en-US" sz="2000" spc="-1" strike="noStrike">
              <a:latin typeface="Arial"/>
            </a:endParaRPr>
          </a:p>
          <a:p>
            <a:pPr marL="285840" indent="-285120" algn="just">
              <a:lnSpc>
                <a:spcPct val="150000"/>
              </a:lnSpc>
              <a:buClr>
                <a:srgbClr val="ffffff"/>
              </a:buClr>
              <a:buFont typeface="Arial"/>
              <a:buChar char="•"/>
            </a:pPr>
            <a:r>
              <a:rPr b="0" i="1" lang="en-US" sz="2000" spc="-1" strike="noStrike">
                <a:solidFill>
                  <a:srgbClr val="ffffff"/>
                </a:solidFill>
                <a:latin typeface="Arial"/>
                <a:ea typeface="DejaVu Sans"/>
              </a:rPr>
              <a:t>morgan</a:t>
            </a:r>
            <a:r>
              <a:rPr b="0" lang="en-US" sz="2000" spc="-1" strike="noStrike">
                <a:solidFill>
                  <a:srgbClr val="ffffff"/>
                </a:solidFill>
                <a:latin typeface="Arial"/>
                <a:ea typeface="DejaVu Sans"/>
              </a:rPr>
              <a:t> — HTTP request logger middleware</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CustomShape 1"/>
          <p:cNvSpPr/>
          <p:nvPr/>
        </p:nvSpPr>
        <p:spPr>
          <a:xfrm>
            <a:off x="1890720" y="640080"/>
            <a:ext cx="10818720" cy="684000"/>
          </a:xfrm>
          <a:prstGeom prst="rect">
            <a:avLst/>
          </a:prstGeom>
          <a:noFill/>
          <a:ln>
            <a:noFill/>
          </a:ln>
        </p:spPr>
        <p:style>
          <a:lnRef idx="0"/>
          <a:fillRef idx="0"/>
          <a:effectRef idx="0"/>
          <a:fontRef idx="minor"/>
        </p:style>
      </p:sp>
      <p:sp>
        <p:nvSpPr>
          <p:cNvPr id="273" name="CustomShape 2"/>
          <p:cNvSpPr/>
          <p:nvPr/>
        </p:nvSpPr>
        <p:spPr>
          <a:xfrm>
            <a:off x="683280" y="1382760"/>
            <a:ext cx="10818720" cy="3427200"/>
          </a:xfrm>
          <a:prstGeom prst="rect">
            <a:avLst/>
          </a:prstGeom>
          <a:noFill/>
          <a:ln>
            <a:noFill/>
          </a:ln>
        </p:spPr>
        <p:style>
          <a:lnRef idx="0"/>
          <a:fillRef idx="0"/>
          <a:effectRef idx="0"/>
          <a:fontRef idx="minor"/>
        </p:style>
      </p:sp>
      <p:sp>
        <p:nvSpPr>
          <p:cNvPr id="274" name="CustomShape 3"/>
          <p:cNvSpPr/>
          <p:nvPr/>
        </p:nvSpPr>
        <p:spPr>
          <a:xfrm>
            <a:off x="1422360" y="210960"/>
            <a:ext cx="9340560" cy="741960"/>
          </a:xfrm>
          <a:prstGeom prst="rect">
            <a:avLst/>
          </a:prstGeom>
          <a:noFill/>
          <a:ln>
            <a:noFill/>
          </a:ln>
        </p:spPr>
        <p:style>
          <a:lnRef idx="0"/>
          <a:fillRef idx="0"/>
          <a:effectRef idx="0"/>
          <a:fontRef idx="minor"/>
        </p:style>
        <p:txBody>
          <a:bodyPr lIns="90000" rIns="90000" tIns="45000" bIns="45000">
            <a:noAutofit/>
          </a:bodyPr>
          <a:p>
            <a:pPr algn="ctr">
              <a:lnSpc>
                <a:spcPct val="100000"/>
              </a:lnSpc>
            </a:pPr>
            <a:r>
              <a:rPr b="0" lang="en-US" sz="4400" spc="-1" strike="noStrike">
                <a:solidFill>
                  <a:srgbClr val="ffffff"/>
                </a:solidFill>
                <a:latin typeface="Proxima Nova Black"/>
                <a:ea typeface="DejaVu Sans"/>
              </a:rPr>
              <a:t>The core parts of Express</a:t>
            </a:r>
            <a:endParaRPr b="0" lang="en-US" sz="4400" spc="-1" strike="noStrike">
              <a:latin typeface="Arial"/>
            </a:endParaRPr>
          </a:p>
        </p:txBody>
      </p:sp>
      <p:sp>
        <p:nvSpPr>
          <p:cNvPr id="275" name="CustomShape 4"/>
          <p:cNvSpPr/>
          <p:nvPr/>
        </p:nvSpPr>
        <p:spPr>
          <a:xfrm>
            <a:off x="816120" y="1273680"/>
            <a:ext cx="10553040" cy="4204440"/>
          </a:xfrm>
          <a:prstGeom prst="rect">
            <a:avLst/>
          </a:prstGeom>
          <a:noFill/>
          <a:ln>
            <a:noFill/>
          </a:ln>
        </p:spPr>
        <p:style>
          <a:lnRef idx="0"/>
          <a:fillRef idx="0"/>
          <a:effectRef idx="0"/>
          <a:fontRef idx="minor"/>
        </p:style>
        <p:txBody>
          <a:bodyPr lIns="90000" rIns="90000" tIns="45000" bIns="45000">
            <a:spAutoFit/>
          </a:bodyPr>
          <a:p>
            <a:pPr marL="285840" indent="-285120">
              <a:lnSpc>
                <a:spcPct val="150000"/>
              </a:lnSpc>
              <a:buClr>
                <a:srgbClr val="ffffff"/>
              </a:buClr>
              <a:buFont typeface="Arial"/>
              <a:buChar char="•"/>
            </a:pPr>
            <a:r>
              <a:rPr b="0" i="1" lang="en-US" sz="2000" spc="-1" strike="noStrike">
                <a:solidFill>
                  <a:srgbClr val="ffffff"/>
                </a:solidFill>
                <a:latin typeface="Arial"/>
                <a:ea typeface="DejaVu Sans"/>
              </a:rPr>
              <a:t>Middleware</a:t>
            </a:r>
            <a:r>
              <a:rPr b="0" lang="en-US" sz="2000" spc="-1" strike="noStrike">
                <a:solidFill>
                  <a:srgbClr val="ffffff"/>
                </a:solidFill>
                <a:latin typeface="Arial"/>
                <a:ea typeface="DejaVu Sans"/>
              </a:rPr>
              <a:t>—In contrast to vanilla Node, where your requests flow through only one function, Express has a middleware stack, which is effectively an array of functions.</a:t>
            </a:r>
            <a:endParaRPr b="0" lang="en-US" sz="2000" spc="-1" strike="noStrike">
              <a:latin typeface="Arial"/>
            </a:endParaRPr>
          </a:p>
          <a:p>
            <a:pPr marL="285840" indent="-285120">
              <a:lnSpc>
                <a:spcPct val="150000"/>
              </a:lnSpc>
              <a:buClr>
                <a:srgbClr val="ffffff"/>
              </a:buClr>
              <a:buFont typeface="Arial"/>
              <a:buChar char="•"/>
            </a:pPr>
            <a:r>
              <a:rPr b="0" i="1" lang="en-US" sz="2000" spc="-1" strike="noStrike">
                <a:solidFill>
                  <a:srgbClr val="ffffff"/>
                </a:solidFill>
                <a:latin typeface="Arial"/>
                <a:ea typeface="DejaVu Sans"/>
              </a:rPr>
              <a:t>Routing</a:t>
            </a:r>
            <a:r>
              <a:rPr b="0" lang="en-US" sz="2000" spc="-1" strike="noStrike">
                <a:solidFill>
                  <a:srgbClr val="ffffff"/>
                </a:solidFill>
                <a:latin typeface="Arial"/>
                <a:ea typeface="DejaVu Sans"/>
              </a:rPr>
              <a:t>—Routing is a lot like middleware, but the functions are called only when you visit a specific URL with a specific HTTP method. For example, you could only run a request handler when the browser visits yourwebsite.com/about.</a:t>
            </a:r>
            <a:endParaRPr b="0" lang="en-US" sz="2000" spc="-1" strike="noStrike">
              <a:latin typeface="Arial"/>
            </a:endParaRPr>
          </a:p>
          <a:p>
            <a:pPr marL="285840" indent="-285120">
              <a:lnSpc>
                <a:spcPct val="150000"/>
              </a:lnSpc>
              <a:buClr>
                <a:srgbClr val="ffffff"/>
              </a:buClr>
              <a:buFont typeface="Arial"/>
              <a:buChar char="•"/>
            </a:pPr>
            <a:r>
              <a:rPr b="0" i="1" lang="en-US" sz="2000" spc="-1" strike="noStrike">
                <a:solidFill>
                  <a:srgbClr val="ffffff"/>
                </a:solidFill>
                <a:latin typeface="Arial"/>
                <a:ea typeface="DejaVu Sans"/>
              </a:rPr>
              <a:t>Extensions to request and response objects</a:t>
            </a:r>
            <a:r>
              <a:rPr b="0" lang="en-US" sz="2000" spc="-1" strike="noStrike">
                <a:solidFill>
                  <a:srgbClr val="ffffff"/>
                </a:solidFill>
                <a:latin typeface="Arial"/>
                <a:ea typeface="DejaVu Sans"/>
              </a:rPr>
              <a:t>—Express extends the request and response objects with extra methods and properties for developer convenience.</a:t>
            </a:r>
            <a:endParaRPr b="0" lang="en-US" sz="2000" spc="-1" strike="noStrike">
              <a:latin typeface="Arial"/>
            </a:endParaRPr>
          </a:p>
          <a:p>
            <a:pPr marL="285840" indent="-285120">
              <a:lnSpc>
                <a:spcPct val="150000"/>
              </a:lnSpc>
              <a:buClr>
                <a:srgbClr val="ffffff"/>
              </a:buClr>
              <a:buFont typeface="Arial"/>
              <a:buChar char="•"/>
            </a:pPr>
            <a:r>
              <a:rPr b="0" i="1" lang="en-US" sz="2000" spc="-1" strike="noStrike">
                <a:solidFill>
                  <a:srgbClr val="ffffff"/>
                </a:solidFill>
                <a:latin typeface="Arial"/>
                <a:ea typeface="DejaVu Sans"/>
              </a:rPr>
              <a:t>Views</a:t>
            </a:r>
            <a:r>
              <a:rPr b="0" lang="en-US" sz="2000" spc="-1" strike="noStrike">
                <a:solidFill>
                  <a:srgbClr val="ffffff"/>
                </a:solidFill>
                <a:latin typeface="Arial"/>
                <a:ea typeface="DejaVu Sans"/>
              </a:rPr>
              <a:t>—Views allow you to dynamically render HTML. This both allows you to change the HTML on the fly and to write the HTML in other languages.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CustomShape 1"/>
          <p:cNvSpPr/>
          <p:nvPr/>
        </p:nvSpPr>
        <p:spPr>
          <a:xfrm>
            <a:off x="685800" y="685800"/>
            <a:ext cx="10818720" cy="684000"/>
          </a:xfrm>
          <a:prstGeom prst="rect">
            <a:avLst/>
          </a:prstGeom>
          <a:noFill/>
          <a:ln>
            <a:noFill/>
          </a:ln>
        </p:spPr>
        <p:style>
          <a:lnRef idx="0"/>
          <a:fillRef idx="0"/>
          <a:effectRef idx="0"/>
          <a:fontRef idx="minor"/>
        </p:style>
      </p:sp>
      <p:sp>
        <p:nvSpPr>
          <p:cNvPr id="277" name="CustomShape 2"/>
          <p:cNvSpPr/>
          <p:nvPr/>
        </p:nvSpPr>
        <p:spPr>
          <a:xfrm>
            <a:off x="685800" y="2057400"/>
            <a:ext cx="10818720" cy="3427200"/>
          </a:xfrm>
          <a:prstGeom prst="rect">
            <a:avLst/>
          </a:prstGeom>
          <a:noFill/>
          <a:ln>
            <a:noFill/>
          </a:ln>
        </p:spPr>
        <p:style>
          <a:lnRef idx="0"/>
          <a:fillRef idx="0"/>
          <a:effectRef idx="0"/>
          <a:fontRef idx="minor"/>
        </p:style>
      </p:sp>
      <p:sp>
        <p:nvSpPr>
          <p:cNvPr id="278" name="CustomShape 3"/>
          <p:cNvSpPr/>
          <p:nvPr/>
        </p:nvSpPr>
        <p:spPr>
          <a:xfrm>
            <a:off x="815040" y="314640"/>
            <a:ext cx="10560600" cy="74196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Middleware and the middleware stack</a:t>
            </a:r>
            <a:endParaRPr b="0" lang="en-US" sz="4400" spc="-1" strike="noStrike">
              <a:latin typeface="Arial"/>
            </a:endParaRPr>
          </a:p>
        </p:txBody>
      </p:sp>
      <p:sp>
        <p:nvSpPr>
          <p:cNvPr id="279" name="CustomShape 4"/>
          <p:cNvSpPr/>
          <p:nvPr/>
        </p:nvSpPr>
        <p:spPr>
          <a:xfrm>
            <a:off x="1005840" y="1812240"/>
            <a:ext cx="9892080" cy="193680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    </a:t>
            </a:r>
            <a:r>
              <a:rPr b="0" lang="en-US" sz="2000" spc="-1" strike="noStrike">
                <a:solidFill>
                  <a:srgbClr val="ffffff"/>
                </a:solidFill>
                <a:latin typeface="Arial"/>
                <a:ea typeface="DejaVu Sans"/>
              </a:rPr>
              <a:t>Web servers listen for requests, parse those requests, and send responses. The Node runtime will get these requests first and turn them from raw bytes into two JavaScript objects that you can handle: one object for the request ( req ) and one object for the response ( res) . In Node, these two objects are passed through just one function. But in Express, these objects are passed through an array of functions, called the middleware stack.</a:t>
            </a:r>
            <a:endParaRPr b="0" lang="en-US" sz="2000" spc="-1" strike="noStrike">
              <a:latin typeface="Arial"/>
            </a:endParaRPr>
          </a:p>
          <a:p>
            <a:pPr>
              <a:lnSpc>
                <a:spcPct val="100000"/>
              </a:lnSpc>
            </a:pPr>
            <a:endParaRPr b="0" lang="en-US" sz="2000" spc="-1" strike="noStrike">
              <a:latin typeface="Arial"/>
            </a:endParaRPr>
          </a:p>
        </p:txBody>
      </p:sp>
      <p:pic>
        <p:nvPicPr>
          <p:cNvPr id="280" name="Рисунок 2" descr=""/>
          <p:cNvPicPr/>
          <p:nvPr/>
        </p:nvPicPr>
        <p:blipFill>
          <a:blip r:embed="rId1"/>
          <a:stretch/>
        </p:blipFill>
        <p:spPr>
          <a:xfrm>
            <a:off x="3931920" y="4297680"/>
            <a:ext cx="4305240" cy="1476000"/>
          </a:xfrm>
          <a:prstGeom prst="rect">
            <a:avLst/>
          </a:prstGeom>
          <a:ln>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CustomShape 1"/>
          <p:cNvSpPr/>
          <p:nvPr/>
        </p:nvSpPr>
        <p:spPr>
          <a:xfrm>
            <a:off x="685800" y="685800"/>
            <a:ext cx="10818720" cy="684000"/>
          </a:xfrm>
          <a:prstGeom prst="rect">
            <a:avLst/>
          </a:prstGeom>
          <a:noFill/>
          <a:ln>
            <a:noFill/>
          </a:ln>
        </p:spPr>
        <p:style>
          <a:lnRef idx="0"/>
          <a:fillRef idx="0"/>
          <a:effectRef idx="0"/>
          <a:fontRef idx="minor"/>
        </p:style>
      </p:sp>
      <p:sp>
        <p:nvSpPr>
          <p:cNvPr id="282" name="CustomShape 2"/>
          <p:cNvSpPr/>
          <p:nvPr/>
        </p:nvSpPr>
        <p:spPr>
          <a:xfrm>
            <a:off x="685800" y="2057400"/>
            <a:ext cx="10818720" cy="3427200"/>
          </a:xfrm>
          <a:prstGeom prst="rect">
            <a:avLst/>
          </a:prstGeom>
          <a:noFill/>
          <a:ln>
            <a:noFill/>
          </a:ln>
        </p:spPr>
        <p:style>
          <a:lnRef idx="0"/>
          <a:fillRef idx="0"/>
          <a:effectRef idx="0"/>
          <a:fontRef idx="minor"/>
        </p:style>
      </p:sp>
      <p:sp>
        <p:nvSpPr>
          <p:cNvPr id="283" name="CustomShape 3"/>
          <p:cNvSpPr/>
          <p:nvPr/>
        </p:nvSpPr>
        <p:spPr>
          <a:xfrm>
            <a:off x="914040" y="48024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Middleware and the middleware stack</a:t>
            </a:r>
            <a:endParaRPr b="0" lang="en-US" sz="4400" spc="-1" strike="noStrike">
              <a:latin typeface="Arial"/>
            </a:endParaRPr>
          </a:p>
        </p:txBody>
      </p:sp>
      <p:pic>
        <p:nvPicPr>
          <p:cNvPr id="284" name="Рисунок 249" descr=""/>
          <p:cNvPicPr/>
          <p:nvPr/>
        </p:nvPicPr>
        <p:blipFill>
          <a:blip r:embed="rId1"/>
          <a:stretch/>
        </p:blipFill>
        <p:spPr>
          <a:xfrm>
            <a:off x="6916320" y="2560320"/>
            <a:ext cx="4056480" cy="1970640"/>
          </a:xfrm>
          <a:prstGeom prst="rect">
            <a:avLst/>
          </a:prstGeom>
          <a:ln>
            <a:noFill/>
          </a:ln>
        </p:spPr>
      </p:pic>
      <p:sp>
        <p:nvSpPr>
          <p:cNvPr id="285" name="CustomShape 4"/>
          <p:cNvSpPr/>
          <p:nvPr/>
        </p:nvSpPr>
        <p:spPr>
          <a:xfrm>
            <a:off x="1090800" y="1645920"/>
            <a:ext cx="10064880" cy="100476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Every function in this stack takes three arguments. The first two are req and res from before. They’re given to you by Node, although Express decorates them with a few convenience features</a:t>
            </a:r>
            <a:endParaRPr b="0" lang="en-US" sz="2000" spc="-1" strike="noStrike">
              <a:latin typeface="Arial"/>
            </a:endParaRPr>
          </a:p>
        </p:txBody>
      </p:sp>
      <p:sp>
        <p:nvSpPr>
          <p:cNvPr id="286" name="CustomShape 5"/>
          <p:cNvSpPr/>
          <p:nvPr/>
        </p:nvSpPr>
        <p:spPr>
          <a:xfrm>
            <a:off x="1062720" y="3017520"/>
            <a:ext cx="5668560" cy="130968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The third argument to each of these functions is itself a function, conventionally called next. When next is called, Express will go on to the next function in the stack.</a:t>
            </a:r>
            <a:endParaRPr b="0" lang="en-US" sz="2000" spc="-1" strike="noStrike">
              <a:latin typeface="Arial"/>
            </a:endParaRPr>
          </a:p>
        </p:txBody>
      </p:sp>
      <p:sp>
        <p:nvSpPr>
          <p:cNvPr id="287" name="CustomShape 6"/>
          <p:cNvSpPr/>
          <p:nvPr/>
        </p:nvSpPr>
        <p:spPr>
          <a:xfrm>
            <a:off x="1062720" y="4572000"/>
            <a:ext cx="10213560" cy="130968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Eventually, one of these functions in the stack must call res.end, which will end the request. (In Express, you can also call some other methods like res.send or res.sendFile, but these call res.end internally.) You can call res.end in any of the functions in the middleware stack, but you must only do it once or you’ll get an error.</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CustomShape 1"/>
          <p:cNvSpPr/>
          <p:nvPr/>
        </p:nvSpPr>
        <p:spPr>
          <a:xfrm>
            <a:off x="685800" y="685800"/>
            <a:ext cx="10818720" cy="684000"/>
          </a:xfrm>
          <a:prstGeom prst="rect">
            <a:avLst/>
          </a:prstGeom>
          <a:noFill/>
          <a:ln>
            <a:noFill/>
          </a:ln>
        </p:spPr>
        <p:style>
          <a:lnRef idx="0"/>
          <a:fillRef idx="0"/>
          <a:effectRef idx="0"/>
          <a:fontRef idx="minor"/>
        </p:style>
      </p:sp>
      <p:sp>
        <p:nvSpPr>
          <p:cNvPr id="289" name="CustomShape 2"/>
          <p:cNvSpPr/>
          <p:nvPr/>
        </p:nvSpPr>
        <p:spPr>
          <a:xfrm>
            <a:off x="731520" y="2057400"/>
            <a:ext cx="10818720" cy="3427200"/>
          </a:xfrm>
          <a:prstGeom prst="rect">
            <a:avLst/>
          </a:prstGeom>
          <a:noFill/>
          <a:ln>
            <a:noFill/>
          </a:ln>
        </p:spPr>
        <p:style>
          <a:lnRef idx="0"/>
          <a:fillRef idx="0"/>
          <a:effectRef idx="0"/>
          <a:fontRef idx="minor"/>
        </p:style>
      </p:sp>
      <p:sp>
        <p:nvSpPr>
          <p:cNvPr id="290" name="CustomShape 3"/>
          <p:cNvSpPr/>
          <p:nvPr/>
        </p:nvSpPr>
        <p:spPr>
          <a:xfrm>
            <a:off x="914040" y="33768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Example app: a static file server</a:t>
            </a:r>
            <a:endParaRPr b="0" lang="en-US" sz="4400" spc="-1" strike="noStrike">
              <a:latin typeface="Arial"/>
            </a:endParaRPr>
          </a:p>
        </p:txBody>
      </p:sp>
      <p:pic>
        <p:nvPicPr>
          <p:cNvPr id="291" name="Рисунок 253" descr=""/>
          <p:cNvPicPr/>
          <p:nvPr/>
        </p:nvPicPr>
        <p:blipFill>
          <a:blip r:embed="rId1"/>
          <a:stretch/>
        </p:blipFill>
        <p:spPr>
          <a:xfrm>
            <a:off x="3269880" y="1191600"/>
            <a:ext cx="5742360" cy="1389600"/>
          </a:xfrm>
          <a:prstGeom prst="rect">
            <a:avLst/>
          </a:prstGeom>
          <a:ln>
            <a:noFill/>
          </a:ln>
        </p:spPr>
      </p:pic>
      <p:sp>
        <p:nvSpPr>
          <p:cNvPr id="292" name="CustomShape 4"/>
          <p:cNvSpPr/>
          <p:nvPr/>
        </p:nvSpPr>
        <p:spPr>
          <a:xfrm>
            <a:off x="1409760" y="2732040"/>
            <a:ext cx="9866880" cy="69660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The logger—This will output the requested URL and the time it was requested to the console. It’ll always continue on to the next middleware. (In terms of code, it’ll always call next .)</a:t>
            </a:r>
            <a:endParaRPr b="0" lang="en-US" sz="2000" spc="-1" strike="noStrike">
              <a:latin typeface="Arial"/>
            </a:endParaRPr>
          </a:p>
        </p:txBody>
      </p:sp>
      <p:sp>
        <p:nvSpPr>
          <p:cNvPr id="293" name="CustomShape 5"/>
          <p:cNvSpPr/>
          <p:nvPr/>
        </p:nvSpPr>
        <p:spPr>
          <a:xfrm>
            <a:off x="1401480" y="3771360"/>
            <a:ext cx="9717120" cy="85788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The static file sender—This will check if the file exists in the folder. If it does, it’ll send that file over the internet. If the requested file doesn’t exist, it’ll continue on to the final middleware (once again, calling next ).</a:t>
            </a:r>
            <a:endParaRPr b="0" lang="en-US" sz="2000" spc="-1" strike="noStrike">
              <a:latin typeface="Arial"/>
            </a:endParaRPr>
          </a:p>
        </p:txBody>
      </p:sp>
      <p:sp>
        <p:nvSpPr>
          <p:cNvPr id="294" name="CustomShape 6"/>
          <p:cNvSpPr/>
          <p:nvPr/>
        </p:nvSpPr>
        <p:spPr>
          <a:xfrm>
            <a:off x="1401480" y="4972320"/>
            <a:ext cx="9725400" cy="96660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The 404 handler—If this middleware is hit, it means that the previous one didn’t find a file, and you should return a 404 message and finish up the request.</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CustomShape 1"/>
          <p:cNvSpPr/>
          <p:nvPr/>
        </p:nvSpPr>
        <p:spPr>
          <a:xfrm>
            <a:off x="685800" y="685800"/>
            <a:ext cx="10818720" cy="684000"/>
          </a:xfrm>
          <a:prstGeom prst="rect">
            <a:avLst/>
          </a:prstGeom>
          <a:noFill/>
          <a:ln>
            <a:noFill/>
          </a:ln>
        </p:spPr>
        <p:style>
          <a:lnRef idx="0"/>
          <a:fillRef idx="0"/>
          <a:effectRef idx="0"/>
          <a:fontRef idx="minor"/>
        </p:style>
      </p:sp>
      <p:sp>
        <p:nvSpPr>
          <p:cNvPr id="296" name="CustomShape 2"/>
          <p:cNvSpPr/>
          <p:nvPr/>
        </p:nvSpPr>
        <p:spPr>
          <a:xfrm>
            <a:off x="731520" y="2057400"/>
            <a:ext cx="10818720" cy="3427200"/>
          </a:xfrm>
          <a:prstGeom prst="rect">
            <a:avLst/>
          </a:prstGeom>
          <a:noFill/>
          <a:ln>
            <a:noFill/>
          </a:ln>
        </p:spPr>
        <p:style>
          <a:lnRef idx="0"/>
          <a:fillRef idx="0"/>
          <a:effectRef idx="0"/>
          <a:fontRef idx="minor"/>
        </p:style>
      </p:sp>
      <p:sp>
        <p:nvSpPr>
          <p:cNvPr id="297" name="CustomShape 3"/>
          <p:cNvSpPr/>
          <p:nvPr/>
        </p:nvSpPr>
        <p:spPr>
          <a:xfrm>
            <a:off x="1005840" y="457200"/>
            <a:ext cx="10362240" cy="821880"/>
          </a:xfrm>
          <a:prstGeom prst="rect">
            <a:avLst/>
          </a:prstGeom>
          <a:noFill/>
          <a:ln>
            <a:noFill/>
          </a:ln>
        </p:spPr>
        <p:style>
          <a:lnRef idx="0"/>
          <a:fillRef idx="0"/>
          <a:effectRef idx="0"/>
          <a:fontRef idx="minor"/>
        </p:style>
      </p:sp>
      <p:pic>
        <p:nvPicPr>
          <p:cNvPr id="298" name="Рисунок 260" descr=""/>
          <p:cNvPicPr/>
          <p:nvPr/>
        </p:nvPicPr>
        <p:blipFill>
          <a:blip r:embed="rId1"/>
          <a:stretch/>
        </p:blipFill>
        <p:spPr>
          <a:xfrm>
            <a:off x="1031040" y="1370520"/>
            <a:ext cx="5551920" cy="2808720"/>
          </a:xfrm>
          <a:prstGeom prst="rect">
            <a:avLst/>
          </a:prstGeom>
          <a:ln>
            <a:noFill/>
          </a:ln>
        </p:spPr>
      </p:pic>
      <p:pic>
        <p:nvPicPr>
          <p:cNvPr id="299" name="Рисунок 261" descr=""/>
          <p:cNvPicPr/>
          <p:nvPr/>
        </p:nvPicPr>
        <p:blipFill>
          <a:blip r:embed="rId2"/>
          <a:stretch/>
        </p:blipFill>
        <p:spPr>
          <a:xfrm>
            <a:off x="1005840" y="4542840"/>
            <a:ext cx="5418720" cy="941760"/>
          </a:xfrm>
          <a:prstGeom prst="rect">
            <a:avLst/>
          </a:prstGeom>
          <a:ln>
            <a:noFill/>
          </a:ln>
        </p:spPr>
      </p:pic>
      <p:sp>
        <p:nvSpPr>
          <p:cNvPr id="300" name="CustomShape 4"/>
          <p:cNvSpPr/>
          <p:nvPr/>
        </p:nvSpPr>
        <p:spPr>
          <a:xfrm>
            <a:off x="914040" y="33768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A logger function</a:t>
            </a:r>
            <a:endParaRPr b="0" lang="en-US" sz="4400" spc="-1" strike="noStrike">
              <a:latin typeface="Arial"/>
            </a:endParaRPr>
          </a:p>
        </p:txBody>
      </p:sp>
      <p:sp>
        <p:nvSpPr>
          <p:cNvPr id="301" name="CustomShape 5"/>
          <p:cNvSpPr/>
          <p:nvPr/>
        </p:nvSpPr>
        <p:spPr>
          <a:xfrm>
            <a:off x="6583680" y="1845360"/>
            <a:ext cx="5393520" cy="130968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pl-PL" sz="2000" spc="-1" strike="noStrike">
                <a:solidFill>
                  <a:srgbClr val="ffffff"/>
                </a:solidFill>
                <a:latin typeface="Arial"/>
                <a:ea typeface="DejaVu Sans"/>
              </a:rPr>
              <a:t> </a:t>
            </a:r>
            <a:r>
              <a:rPr b="0" lang="pl-PL" sz="2000" spc="-1" strike="noStrike">
                <a:solidFill>
                  <a:srgbClr val="ffffff"/>
                </a:solidFill>
                <a:latin typeface="Arial"/>
                <a:ea typeface="DejaVu Sans"/>
              </a:rPr>
              <a:t>Y</a:t>
            </a:r>
            <a:r>
              <a:rPr b="0" lang="en-US" sz="2000" spc="-1" strike="noStrike">
                <a:solidFill>
                  <a:srgbClr val="ffffff"/>
                </a:solidFill>
                <a:latin typeface="Arial"/>
                <a:ea typeface="DejaVu Sans"/>
              </a:rPr>
              <a:t>our browser will hang—the loading spinner will spin and spin and spin, until the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request eventually times out and you get an error in your browser.</a:t>
            </a:r>
            <a:endParaRPr b="0" lang="en-US" sz="2000" spc="-1" strike="noStrike">
              <a:latin typeface="Arial"/>
            </a:endParaRPr>
          </a:p>
        </p:txBody>
      </p:sp>
      <p:sp>
        <p:nvSpPr>
          <p:cNvPr id="302" name="CustomShape 6"/>
          <p:cNvSpPr/>
          <p:nvPr/>
        </p:nvSpPr>
        <p:spPr>
          <a:xfrm>
            <a:off x="6583680" y="3590280"/>
            <a:ext cx="5485320" cy="191952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It needs to finish responding to the request (with res.end or one of Express’s</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convenience methods like res.send or res.sendFile).</a:t>
            </a:r>
            <a:endParaRPr b="0" lang="en-US" sz="2000" spc="-1" strike="noStrike">
              <a:latin typeface="Arial"/>
            </a:endParaRPr>
          </a:p>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It needs to call next to continue on to the next function in the middleware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stack.</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CustomShape 1"/>
          <p:cNvSpPr/>
          <p:nvPr/>
        </p:nvSpPr>
        <p:spPr>
          <a:xfrm>
            <a:off x="685800" y="685800"/>
            <a:ext cx="10818720" cy="684000"/>
          </a:xfrm>
          <a:prstGeom prst="rect">
            <a:avLst/>
          </a:prstGeom>
          <a:noFill/>
          <a:ln>
            <a:noFill/>
          </a:ln>
        </p:spPr>
        <p:style>
          <a:lnRef idx="0"/>
          <a:fillRef idx="0"/>
          <a:effectRef idx="0"/>
          <a:fontRef idx="minor"/>
        </p:style>
      </p:sp>
      <p:sp>
        <p:nvSpPr>
          <p:cNvPr id="304" name="CustomShape 2"/>
          <p:cNvSpPr/>
          <p:nvPr/>
        </p:nvSpPr>
        <p:spPr>
          <a:xfrm>
            <a:off x="731520" y="2057400"/>
            <a:ext cx="10818720" cy="3427200"/>
          </a:xfrm>
          <a:prstGeom prst="rect">
            <a:avLst/>
          </a:prstGeom>
          <a:noFill/>
          <a:ln>
            <a:noFill/>
          </a:ln>
        </p:spPr>
        <p:style>
          <a:lnRef idx="0"/>
          <a:fillRef idx="0"/>
          <a:effectRef idx="0"/>
          <a:fontRef idx="minor"/>
        </p:style>
      </p:sp>
      <p:sp>
        <p:nvSpPr>
          <p:cNvPr id="305" name="CustomShape 3"/>
          <p:cNvSpPr/>
          <p:nvPr/>
        </p:nvSpPr>
        <p:spPr>
          <a:xfrm>
            <a:off x="1005840" y="457200"/>
            <a:ext cx="10362240" cy="821880"/>
          </a:xfrm>
          <a:prstGeom prst="rect">
            <a:avLst/>
          </a:prstGeom>
          <a:noFill/>
          <a:ln>
            <a:noFill/>
          </a:ln>
        </p:spPr>
        <p:style>
          <a:lnRef idx="0"/>
          <a:fillRef idx="0"/>
          <a:effectRef idx="0"/>
          <a:fontRef idx="minor"/>
        </p:style>
      </p:sp>
      <p:pic>
        <p:nvPicPr>
          <p:cNvPr id="306" name="Рисунок 265" descr=""/>
          <p:cNvPicPr/>
          <p:nvPr/>
        </p:nvPicPr>
        <p:blipFill>
          <a:blip r:embed="rId1"/>
          <a:stretch/>
        </p:blipFill>
        <p:spPr>
          <a:xfrm>
            <a:off x="373680" y="1270080"/>
            <a:ext cx="6409080" cy="3370680"/>
          </a:xfrm>
          <a:prstGeom prst="rect">
            <a:avLst/>
          </a:prstGeom>
          <a:ln>
            <a:noFill/>
          </a:ln>
        </p:spPr>
      </p:pic>
      <p:pic>
        <p:nvPicPr>
          <p:cNvPr id="307" name="Рисунок 266" descr=""/>
          <p:cNvPicPr/>
          <p:nvPr/>
        </p:nvPicPr>
        <p:blipFill>
          <a:blip r:embed="rId2"/>
          <a:stretch/>
        </p:blipFill>
        <p:spPr>
          <a:xfrm>
            <a:off x="373680" y="4773960"/>
            <a:ext cx="4628160" cy="1627560"/>
          </a:xfrm>
          <a:prstGeom prst="rect">
            <a:avLst/>
          </a:prstGeom>
          <a:ln>
            <a:noFill/>
          </a:ln>
        </p:spPr>
      </p:pic>
      <p:sp>
        <p:nvSpPr>
          <p:cNvPr id="308" name="CustomShape 4"/>
          <p:cNvSpPr/>
          <p:nvPr/>
        </p:nvSpPr>
        <p:spPr>
          <a:xfrm>
            <a:off x="7065360" y="1202040"/>
            <a:ext cx="4302720" cy="466380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Express applications have asynchronous behavior like this </a:t>
            </a:r>
            <a:r>
              <a:rPr b="0" i="1" lang="en-US" sz="2000" spc="-1" strike="noStrike">
                <a:solidFill>
                  <a:srgbClr val="ffffff"/>
                </a:solidFill>
                <a:latin typeface="Arial"/>
                <a:ea typeface="DejaVu Sans"/>
              </a:rPr>
              <a:t>all the time</a:t>
            </a:r>
            <a:r>
              <a:rPr b="0" lang="en-US" sz="2000" spc="-1" strike="noStrike">
                <a:solidFill>
                  <a:srgbClr val="ffffff"/>
                </a:solidFill>
                <a:latin typeface="Arial"/>
                <a:ea typeface="DejaVu Sans"/>
              </a:rPr>
              <a:t>. That’s why</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we must have next in the first place! If</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everything were synchronous, Express would</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know exactly</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where every middleware ended: when the function finished</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(either by</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calling return or hitting the end). You wouldn’t need to</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have next anywhere. But</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because things are asynchronous, you</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need to manually tell Express when to continue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on to the next middleware in the stack.</a:t>
            </a:r>
            <a:endParaRPr b="0" lang="en-US" sz="2000" spc="-1" strike="noStrike">
              <a:latin typeface="Arial"/>
            </a:endParaRPr>
          </a:p>
        </p:txBody>
      </p:sp>
      <p:sp>
        <p:nvSpPr>
          <p:cNvPr id="309" name="CustomShape 5"/>
          <p:cNvSpPr/>
          <p:nvPr/>
        </p:nvSpPr>
        <p:spPr>
          <a:xfrm>
            <a:off x="914040" y="33768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Static file middleware</a:t>
            </a:r>
            <a:endParaRPr b="0" lang="en-US" sz="44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CustomShape 1"/>
          <p:cNvSpPr/>
          <p:nvPr/>
        </p:nvSpPr>
        <p:spPr>
          <a:xfrm>
            <a:off x="685800" y="685800"/>
            <a:ext cx="10818720" cy="684000"/>
          </a:xfrm>
          <a:prstGeom prst="rect">
            <a:avLst/>
          </a:prstGeom>
          <a:noFill/>
          <a:ln>
            <a:noFill/>
          </a:ln>
        </p:spPr>
        <p:style>
          <a:lnRef idx="0"/>
          <a:fillRef idx="0"/>
          <a:effectRef idx="0"/>
          <a:fontRef idx="minor"/>
        </p:style>
      </p:sp>
      <p:sp>
        <p:nvSpPr>
          <p:cNvPr id="311" name="CustomShape 2"/>
          <p:cNvSpPr/>
          <p:nvPr/>
        </p:nvSpPr>
        <p:spPr>
          <a:xfrm>
            <a:off x="731520" y="2057400"/>
            <a:ext cx="10818720" cy="3427200"/>
          </a:xfrm>
          <a:prstGeom prst="rect">
            <a:avLst/>
          </a:prstGeom>
          <a:noFill/>
          <a:ln>
            <a:noFill/>
          </a:ln>
        </p:spPr>
        <p:style>
          <a:lnRef idx="0"/>
          <a:fillRef idx="0"/>
          <a:effectRef idx="0"/>
          <a:fontRef idx="minor"/>
        </p:style>
      </p:sp>
      <p:sp>
        <p:nvSpPr>
          <p:cNvPr id="312" name="CustomShape 3"/>
          <p:cNvSpPr/>
          <p:nvPr/>
        </p:nvSpPr>
        <p:spPr>
          <a:xfrm>
            <a:off x="959760" y="75564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Alternative using third party modules</a:t>
            </a:r>
            <a:endParaRPr b="0" lang="en-US" sz="4400" spc="-1" strike="noStrike">
              <a:latin typeface="Arial"/>
            </a:endParaRPr>
          </a:p>
        </p:txBody>
      </p:sp>
      <p:sp>
        <p:nvSpPr>
          <p:cNvPr id="313" name="CustomShape 4"/>
          <p:cNvSpPr/>
          <p:nvPr/>
        </p:nvSpPr>
        <p:spPr>
          <a:xfrm>
            <a:off x="478440" y="1272240"/>
            <a:ext cx="10980720" cy="601200"/>
          </a:xfrm>
          <a:prstGeom prst="rect">
            <a:avLst/>
          </a:prstGeom>
          <a:noFill/>
          <a:ln>
            <a:noFill/>
          </a:ln>
        </p:spPr>
        <p:style>
          <a:lnRef idx="0"/>
          <a:fillRef idx="0"/>
          <a:effectRef idx="0"/>
          <a:fontRef idx="minor"/>
        </p:style>
      </p:sp>
      <p:sp>
        <p:nvSpPr>
          <p:cNvPr id="314" name="CustomShape 5"/>
          <p:cNvSpPr/>
          <p:nvPr/>
        </p:nvSpPr>
        <p:spPr>
          <a:xfrm>
            <a:off x="576360" y="2458440"/>
            <a:ext cx="10980720" cy="364680"/>
          </a:xfrm>
          <a:prstGeom prst="rect">
            <a:avLst/>
          </a:prstGeom>
          <a:noFill/>
          <a:ln>
            <a:noFill/>
          </a:ln>
        </p:spPr>
        <p:style>
          <a:lnRef idx="0"/>
          <a:fillRef idx="0"/>
          <a:effectRef idx="0"/>
          <a:fontRef idx="minor"/>
        </p:style>
      </p:sp>
      <p:sp>
        <p:nvSpPr>
          <p:cNvPr id="315" name="CustomShape 6"/>
          <p:cNvSpPr/>
          <p:nvPr/>
        </p:nvSpPr>
        <p:spPr>
          <a:xfrm>
            <a:off x="576360" y="4008240"/>
            <a:ext cx="10818720" cy="414360"/>
          </a:xfrm>
          <a:prstGeom prst="rect">
            <a:avLst/>
          </a:prstGeom>
          <a:noFill/>
          <a:ln>
            <a:noFill/>
          </a:ln>
        </p:spPr>
        <p:style>
          <a:lnRef idx="0"/>
          <a:fillRef idx="0"/>
          <a:effectRef idx="0"/>
          <a:fontRef idx="minor"/>
        </p:style>
      </p:sp>
      <p:pic>
        <p:nvPicPr>
          <p:cNvPr id="316" name="Рисунок 273" descr=""/>
          <p:cNvPicPr/>
          <p:nvPr/>
        </p:nvPicPr>
        <p:blipFill>
          <a:blip r:embed="rId1"/>
          <a:stretch/>
        </p:blipFill>
        <p:spPr>
          <a:xfrm>
            <a:off x="4167360" y="2286000"/>
            <a:ext cx="3970800" cy="306612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CustomShape 1"/>
          <p:cNvSpPr/>
          <p:nvPr/>
        </p:nvSpPr>
        <p:spPr>
          <a:xfrm>
            <a:off x="685800" y="685800"/>
            <a:ext cx="10818720" cy="684000"/>
          </a:xfrm>
          <a:prstGeom prst="rect">
            <a:avLst/>
          </a:prstGeom>
          <a:noFill/>
          <a:ln>
            <a:noFill/>
          </a:ln>
        </p:spPr>
        <p:style>
          <a:lnRef idx="0"/>
          <a:fillRef idx="0"/>
          <a:effectRef idx="0"/>
          <a:fontRef idx="minor"/>
        </p:style>
      </p:sp>
      <p:sp>
        <p:nvSpPr>
          <p:cNvPr id="318" name="CustomShape 2"/>
          <p:cNvSpPr/>
          <p:nvPr/>
        </p:nvSpPr>
        <p:spPr>
          <a:xfrm>
            <a:off x="731520" y="2057400"/>
            <a:ext cx="10818720" cy="3427200"/>
          </a:xfrm>
          <a:prstGeom prst="rect">
            <a:avLst/>
          </a:prstGeom>
          <a:noFill/>
          <a:ln>
            <a:noFill/>
          </a:ln>
        </p:spPr>
        <p:style>
          <a:lnRef idx="0"/>
          <a:fillRef idx="0"/>
          <a:effectRef idx="0"/>
          <a:fontRef idx="minor"/>
        </p:style>
      </p:sp>
      <p:sp>
        <p:nvSpPr>
          <p:cNvPr id="319" name="CustomShape 3"/>
          <p:cNvSpPr/>
          <p:nvPr/>
        </p:nvSpPr>
        <p:spPr>
          <a:xfrm>
            <a:off x="956880" y="48024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Error-handling middleware</a:t>
            </a:r>
            <a:endParaRPr b="0" lang="en-US" sz="4400" spc="-1" strike="noStrike">
              <a:latin typeface="Arial"/>
            </a:endParaRPr>
          </a:p>
        </p:txBody>
      </p:sp>
      <p:sp>
        <p:nvSpPr>
          <p:cNvPr id="320" name="CustomShape 4"/>
          <p:cNvSpPr/>
          <p:nvPr/>
        </p:nvSpPr>
        <p:spPr>
          <a:xfrm>
            <a:off x="284400" y="1119240"/>
            <a:ext cx="11616840" cy="136980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There’s a second kind </a:t>
            </a:r>
            <a:r>
              <a:rPr b="0" lang="pl-PL" sz="2000" spc="-1" strike="noStrike">
                <a:solidFill>
                  <a:srgbClr val="ffffff"/>
                </a:solidFill>
                <a:latin typeface="Arial"/>
                <a:ea typeface="DejaVu Sans"/>
              </a:rPr>
              <a:t>of middleware </a:t>
            </a:r>
            <a:r>
              <a:rPr b="0" lang="en-US" sz="2000" spc="-1" strike="noStrike">
                <a:solidFill>
                  <a:srgbClr val="ffffff"/>
                </a:solidFill>
                <a:latin typeface="Arial"/>
                <a:ea typeface="DejaVu Sans"/>
              </a:rPr>
              <a:t>that’s much less-used: error-handling middleware. When</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your app is in error mode, all regular middleware is ignored and Express will execute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only error-handling middleware functions. To enter error mode, simply call next with</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an argument. It’s convention to call it with an error object, as in next(new Error</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("Something bad happened!")) .</a:t>
            </a:r>
            <a:endParaRPr b="0" lang="en-US" sz="2000" spc="-1" strike="noStrike">
              <a:latin typeface="Arial"/>
            </a:endParaRPr>
          </a:p>
        </p:txBody>
      </p:sp>
      <p:pic>
        <p:nvPicPr>
          <p:cNvPr id="321" name="Рисунок 279" descr=""/>
          <p:cNvPicPr/>
          <p:nvPr/>
        </p:nvPicPr>
        <p:blipFill>
          <a:blip r:embed="rId1"/>
          <a:stretch/>
        </p:blipFill>
        <p:spPr>
          <a:xfrm>
            <a:off x="731520" y="2638080"/>
            <a:ext cx="4780440" cy="1132560"/>
          </a:xfrm>
          <a:prstGeom prst="rect">
            <a:avLst/>
          </a:prstGeom>
          <a:ln>
            <a:noFill/>
          </a:ln>
        </p:spPr>
      </p:pic>
      <p:pic>
        <p:nvPicPr>
          <p:cNvPr id="322" name="Рисунок 280" descr=""/>
          <p:cNvPicPr/>
          <p:nvPr/>
        </p:nvPicPr>
        <p:blipFill>
          <a:blip r:embed="rId2"/>
          <a:stretch/>
        </p:blipFill>
        <p:spPr>
          <a:xfrm>
            <a:off x="641160" y="3896280"/>
            <a:ext cx="4732920" cy="1284840"/>
          </a:xfrm>
          <a:prstGeom prst="rect">
            <a:avLst/>
          </a:prstGeom>
          <a:ln>
            <a:noFill/>
          </a:ln>
        </p:spPr>
      </p:pic>
      <p:pic>
        <p:nvPicPr>
          <p:cNvPr id="323" name="Рисунок 281" descr=""/>
          <p:cNvPicPr/>
          <p:nvPr/>
        </p:nvPicPr>
        <p:blipFill>
          <a:blip r:embed="rId3"/>
          <a:stretch/>
        </p:blipFill>
        <p:spPr>
          <a:xfrm>
            <a:off x="5883480" y="2638080"/>
            <a:ext cx="3523320" cy="1237320"/>
          </a:xfrm>
          <a:prstGeom prst="rect">
            <a:avLst/>
          </a:prstGeom>
          <a:ln>
            <a:noFill/>
          </a:ln>
        </p:spPr>
      </p:pic>
      <p:pic>
        <p:nvPicPr>
          <p:cNvPr id="324" name="Рисунок 282" descr=""/>
          <p:cNvPicPr/>
          <p:nvPr/>
        </p:nvPicPr>
        <p:blipFill>
          <a:blip r:embed="rId4"/>
          <a:stretch/>
        </p:blipFill>
        <p:spPr>
          <a:xfrm>
            <a:off x="5883480" y="4069080"/>
            <a:ext cx="6113880" cy="1151280"/>
          </a:xfrm>
          <a:prstGeom prst="rect">
            <a:avLst/>
          </a:prstGeom>
          <a:ln>
            <a:noFill/>
          </a:ln>
        </p:spPr>
      </p:pic>
      <p:pic>
        <p:nvPicPr>
          <p:cNvPr id="325" name="Рисунок 283" descr=""/>
          <p:cNvPicPr/>
          <p:nvPr/>
        </p:nvPicPr>
        <p:blipFill>
          <a:blip r:embed="rId5"/>
          <a:stretch/>
        </p:blipFill>
        <p:spPr>
          <a:xfrm>
            <a:off x="5883480" y="5455440"/>
            <a:ext cx="5647320" cy="1094400"/>
          </a:xfrm>
          <a:prstGeom prst="rect">
            <a:avLst/>
          </a:prstGeom>
          <a:ln>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CustomShape 1"/>
          <p:cNvSpPr/>
          <p:nvPr/>
        </p:nvSpPr>
        <p:spPr>
          <a:xfrm>
            <a:off x="685800" y="685800"/>
            <a:ext cx="10818720" cy="684000"/>
          </a:xfrm>
          <a:prstGeom prst="rect">
            <a:avLst/>
          </a:prstGeom>
          <a:noFill/>
          <a:ln>
            <a:noFill/>
          </a:ln>
        </p:spPr>
        <p:style>
          <a:lnRef idx="0"/>
          <a:fillRef idx="0"/>
          <a:effectRef idx="0"/>
          <a:fontRef idx="minor"/>
        </p:style>
      </p:sp>
      <p:sp>
        <p:nvSpPr>
          <p:cNvPr id="327" name="CustomShape 2"/>
          <p:cNvSpPr/>
          <p:nvPr/>
        </p:nvSpPr>
        <p:spPr>
          <a:xfrm>
            <a:off x="731520" y="2057400"/>
            <a:ext cx="10818720" cy="3427200"/>
          </a:xfrm>
          <a:prstGeom prst="rect">
            <a:avLst/>
          </a:prstGeom>
          <a:noFill/>
          <a:ln>
            <a:noFill/>
          </a:ln>
        </p:spPr>
        <p:style>
          <a:lnRef idx="0"/>
          <a:fillRef idx="0"/>
          <a:effectRef idx="0"/>
          <a:fontRef idx="minor"/>
        </p:style>
      </p:sp>
      <p:sp>
        <p:nvSpPr>
          <p:cNvPr id="328" name="CustomShape 3"/>
          <p:cNvSpPr/>
          <p:nvPr/>
        </p:nvSpPr>
        <p:spPr>
          <a:xfrm>
            <a:off x="914040" y="20556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Routing</a:t>
            </a:r>
            <a:endParaRPr b="0" lang="en-US" sz="4400" spc="-1" strike="noStrike">
              <a:latin typeface="Arial"/>
            </a:endParaRPr>
          </a:p>
        </p:txBody>
      </p:sp>
      <p:sp>
        <p:nvSpPr>
          <p:cNvPr id="329" name="CustomShape 4"/>
          <p:cNvSpPr/>
          <p:nvPr/>
        </p:nvSpPr>
        <p:spPr>
          <a:xfrm>
            <a:off x="1097280" y="1043280"/>
            <a:ext cx="10672920" cy="1378080"/>
          </a:xfrm>
          <a:prstGeom prst="rect">
            <a:avLst/>
          </a:prstGeom>
          <a:noFill/>
          <a:ln>
            <a:noFill/>
          </a:ln>
        </p:spPr>
        <p:style>
          <a:lnRef idx="0"/>
          <a:fillRef idx="0"/>
          <a:effectRef idx="0"/>
          <a:fontRef idx="minor"/>
        </p:style>
        <p:txBody>
          <a:bodyPr lIns="90000" rIns="90000" tIns="45000" bIns="45000">
            <a:noAutofit/>
          </a:bodyPr>
          <a:p>
            <a:pPr algn="just">
              <a:lnSpc>
                <a:spcPct val="100000"/>
              </a:lnSpc>
            </a:pP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Routing is a way to map requests to specific handlers depending on their URL and</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HTTP</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verb.</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Conceptually, it’s not too crazy: it</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maps an HTTP verb + URI combo to a request</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handler. This lets you map things like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GET /about or POST /user/log_in to a specific bit of code</a:t>
            </a:r>
            <a:r>
              <a:rPr b="0" lang="pl-PL" sz="2000" spc="-1" strike="noStrike">
                <a:solidFill>
                  <a:srgbClr val="ffffff"/>
                </a:solidFill>
                <a:latin typeface="Arial"/>
                <a:ea typeface="DejaVu Sans"/>
              </a:rPr>
              <a:t>.</a:t>
            </a:r>
            <a:endParaRPr b="0" lang="en-US" sz="2000" spc="-1" strike="noStrike">
              <a:latin typeface="Arial"/>
            </a:endParaRPr>
          </a:p>
          <a:p>
            <a:pPr>
              <a:lnSpc>
                <a:spcPct val="100000"/>
              </a:lnSpc>
            </a:pPr>
            <a:endParaRPr b="0" lang="en-US" sz="2000" spc="-1" strike="noStrike">
              <a:latin typeface="Arial"/>
            </a:endParaRPr>
          </a:p>
        </p:txBody>
      </p:sp>
      <p:pic>
        <p:nvPicPr>
          <p:cNvPr id="330" name="Рисунок 290" descr=""/>
          <p:cNvPicPr/>
          <p:nvPr/>
        </p:nvPicPr>
        <p:blipFill>
          <a:blip r:embed="rId1"/>
          <a:stretch/>
        </p:blipFill>
        <p:spPr>
          <a:xfrm>
            <a:off x="1249200" y="4985640"/>
            <a:ext cx="6409080" cy="999000"/>
          </a:xfrm>
          <a:prstGeom prst="rect">
            <a:avLst/>
          </a:prstGeom>
          <a:ln>
            <a:noFill/>
          </a:ln>
        </p:spPr>
      </p:pic>
      <p:pic>
        <p:nvPicPr>
          <p:cNvPr id="331" name="Рисунок 291" descr=""/>
          <p:cNvPicPr/>
          <p:nvPr/>
        </p:nvPicPr>
        <p:blipFill>
          <a:blip r:embed="rId2"/>
          <a:stretch/>
        </p:blipFill>
        <p:spPr>
          <a:xfrm>
            <a:off x="1249200" y="2584800"/>
            <a:ext cx="5904360" cy="203724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CustomShape 1"/>
          <p:cNvSpPr/>
          <p:nvPr/>
        </p:nvSpPr>
        <p:spPr>
          <a:xfrm>
            <a:off x="685800" y="685800"/>
            <a:ext cx="10818720" cy="684000"/>
          </a:xfrm>
          <a:prstGeom prst="rect">
            <a:avLst/>
          </a:prstGeom>
          <a:noFill/>
          <a:ln>
            <a:noFill/>
          </a:ln>
        </p:spPr>
        <p:style>
          <a:lnRef idx="0"/>
          <a:fillRef idx="0"/>
          <a:effectRef idx="0"/>
          <a:fontRef idx="minor"/>
        </p:style>
      </p:sp>
      <p:sp>
        <p:nvSpPr>
          <p:cNvPr id="333" name="CustomShape 2"/>
          <p:cNvSpPr/>
          <p:nvPr/>
        </p:nvSpPr>
        <p:spPr>
          <a:xfrm>
            <a:off x="685800" y="2057400"/>
            <a:ext cx="3465360" cy="3427200"/>
          </a:xfrm>
          <a:prstGeom prst="rect">
            <a:avLst/>
          </a:prstGeom>
          <a:noFill/>
          <a:ln>
            <a:noFill/>
          </a:ln>
        </p:spPr>
        <p:style>
          <a:lnRef idx="0"/>
          <a:fillRef idx="0"/>
          <a:effectRef idx="0"/>
          <a:fontRef idx="minor"/>
        </p:style>
      </p:sp>
      <p:sp>
        <p:nvSpPr>
          <p:cNvPr id="334" name="CustomShape 3"/>
          <p:cNvSpPr/>
          <p:nvPr/>
        </p:nvSpPr>
        <p:spPr>
          <a:xfrm>
            <a:off x="914040" y="20556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Using routers to split up your app</a:t>
            </a:r>
            <a:endParaRPr b="0" lang="en-US" sz="4400" spc="-1" strike="noStrike">
              <a:latin typeface="Arial"/>
            </a:endParaRPr>
          </a:p>
        </p:txBody>
      </p:sp>
      <p:sp>
        <p:nvSpPr>
          <p:cNvPr id="335" name="CustomShape 4"/>
          <p:cNvSpPr/>
          <p:nvPr/>
        </p:nvSpPr>
        <p:spPr>
          <a:xfrm>
            <a:off x="1190880" y="1028160"/>
            <a:ext cx="10313640" cy="2322360"/>
          </a:xfrm>
          <a:prstGeom prst="rect">
            <a:avLst/>
          </a:prstGeom>
          <a:noFill/>
          <a:ln>
            <a:noFill/>
          </a:ln>
        </p:spPr>
        <p:style>
          <a:lnRef idx="0"/>
          <a:fillRef idx="0"/>
          <a:effectRef idx="0"/>
          <a:fontRef idx="minor"/>
        </p:style>
        <p:txBody>
          <a:bodyPr lIns="90000" rIns="90000" tIns="45000" bIns="45000">
            <a:no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A router is an isolated instance of middleware and routes. Routers can be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thought of as “mini”</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applications only capable of performing middleware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and routing. Every express application has a</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built-in app router.</a:t>
            </a:r>
            <a:endParaRPr b="0" lang="en-US" sz="2000" spc="-1" strike="noStrike">
              <a:latin typeface="Arial"/>
            </a:endParaRPr>
          </a:p>
          <a:p>
            <a:pPr marL="343080" indent="-342360" algn="just">
              <a:lnSpc>
                <a:spcPct val="100000"/>
              </a:lnSpc>
              <a:buClr>
                <a:srgbClr val="ffffff"/>
              </a:buClr>
              <a:buFont typeface="Arial"/>
              <a:buChar char="•"/>
            </a:pPr>
            <a:r>
              <a:rPr b="0" lang="pl-PL" sz="2000" spc="-1" strike="noStrike">
                <a:solidFill>
                  <a:srgbClr val="ffffff"/>
                </a:solidFill>
                <a:latin typeface="Arial"/>
                <a:ea typeface="DejaVu Sans"/>
              </a:rPr>
              <a:t>R</a:t>
            </a:r>
            <a:r>
              <a:rPr b="0" lang="en-US" sz="2000" spc="-1" strike="noStrike">
                <a:solidFill>
                  <a:srgbClr val="ffffff"/>
                </a:solidFill>
                <a:latin typeface="Arial"/>
                <a:ea typeface="DejaVu Sans"/>
              </a:rPr>
              <a:t>outers allow you to chunk your big app into numerous mini-apps that</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you can later put together. For small apps, this might be overkill, but as soon as you</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think, “This app.js file is getting big,” it’s time to think about breaking down your app</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with routers.</a:t>
            </a:r>
            <a:endParaRPr b="0" lang="en-US" sz="2000" spc="-1" strike="noStrike">
              <a:latin typeface="Arial"/>
            </a:endParaRPr>
          </a:p>
          <a:p>
            <a:pPr algn="just">
              <a:lnSpc>
                <a:spcPct val="100000"/>
              </a:lnSpc>
            </a:pPr>
            <a:endParaRPr b="0" lang="en-US" sz="2000" spc="-1" strike="noStrike">
              <a:latin typeface="Arial"/>
            </a:endParaRPr>
          </a:p>
        </p:txBody>
      </p:sp>
      <p:pic>
        <p:nvPicPr>
          <p:cNvPr id="336" name="Рисунок 300" descr=""/>
          <p:cNvPicPr/>
          <p:nvPr/>
        </p:nvPicPr>
        <p:blipFill>
          <a:blip r:embed="rId1"/>
          <a:stretch/>
        </p:blipFill>
        <p:spPr>
          <a:xfrm>
            <a:off x="1538280" y="3166200"/>
            <a:ext cx="5780520" cy="183708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CustomShape 1"/>
          <p:cNvSpPr/>
          <p:nvPr/>
        </p:nvSpPr>
        <p:spPr>
          <a:xfrm>
            <a:off x="914040" y="20556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pl-PL" sz="4400" spc="-1" strike="noStrike">
                <a:solidFill>
                  <a:srgbClr val="ffffff"/>
                </a:solidFill>
                <a:latin typeface="Proxima Nova Black"/>
                <a:ea typeface="DejaVu Sans"/>
              </a:rPr>
              <a:t>Extending request and response</a:t>
            </a:r>
            <a:endParaRPr b="0" lang="en-US" sz="4400" spc="-1" strike="noStrike">
              <a:latin typeface="Arial"/>
            </a:endParaRPr>
          </a:p>
        </p:txBody>
      </p:sp>
      <p:sp>
        <p:nvSpPr>
          <p:cNvPr id="338" name="CustomShape 2"/>
          <p:cNvSpPr/>
          <p:nvPr/>
        </p:nvSpPr>
        <p:spPr>
          <a:xfrm>
            <a:off x="1046160" y="1197720"/>
            <a:ext cx="10098000" cy="100476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Express augments the request and response objects that you’re passed in every</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request handler. The old stuff is still there, but Express adds some new stuff too! The</a:t>
            </a:r>
            <a:r>
              <a:rPr b="0" lang="pl-PL" sz="2000" spc="-1" strike="noStrike">
                <a:solidFill>
                  <a:srgbClr val="ffffff"/>
                </a:solidFill>
                <a:latin typeface="Arial"/>
                <a:ea typeface="DejaVu Sans"/>
              </a:rPr>
              <a:t> </a:t>
            </a:r>
            <a:r>
              <a:rPr b="0" lang="en-US" sz="2000" spc="-1" strike="noStrike">
                <a:solidFill>
                  <a:srgbClr val="ffffff"/>
                </a:solidFill>
                <a:latin typeface="Arial"/>
                <a:ea typeface="DejaVu Sans"/>
              </a:rPr>
              <a:t>API docs (http://expressjs.com/api.html) explain everything</a:t>
            </a:r>
            <a:r>
              <a:rPr b="0" lang="pl-PL" sz="2000" spc="-1" strike="noStrike">
                <a:solidFill>
                  <a:srgbClr val="ffffff"/>
                </a:solidFill>
                <a:latin typeface="Arial"/>
                <a:ea typeface="DejaVu Sans"/>
              </a:rPr>
              <a:t>.</a:t>
            </a:r>
            <a:endParaRPr b="0" lang="en-US" sz="2000" spc="-1" strike="noStrike">
              <a:latin typeface="Arial"/>
            </a:endParaRPr>
          </a:p>
        </p:txBody>
      </p:sp>
      <p:pic>
        <p:nvPicPr>
          <p:cNvPr id="339" name="Рисунок 16" descr=""/>
          <p:cNvPicPr/>
          <p:nvPr/>
        </p:nvPicPr>
        <p:blipFill>
          <a:blip r:embed="rId1"/>
          <a:stretch/>
        </p:blipFill>
        <p:spPr>
          <a:xfrm>
            <a:off x="1178280" y="2674080"/>
            <a:ext cx="3600360" cy="447120"/>
          </a:xfrm>
          <a:prstGeom prst="rect">
            <a:avLst/>
          </a:prstGeom>
          <a:ln>
            <a:noFill/>
          </a:ln>
        </p:spPr>
      </p:pic>
      <p:pic>
        <p:nvPicPr>
          <p:cNvPr id="340" name="Рисунок 18" descr=""/>
          <p:cNvPicPr/>
          <p:nvPr/>
        </p:nvPicPr>
        <p:blipFill>
          <a:blip r:embed="rId2"/>
          <a:stretch/>
        </p:blipFill>
        <p:spPr>
          <a:xfrm>
            <a:off x="1178280" y="3541320"/>
            <a:ext cx="3771720" cy="332640"/>
          </a:xfrm>
          <a:prstGeom prst="rect">
            <a:avLst/>
          </a:prstGeom>
          <a:ln>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CustomShape 1"/>
          <p:cNvSpPr/>
          <p:nvPr/>
        </p:nvSpPr>
        <p:spPr>
          <a:xfrm>
            <a:off x="1218960" y="45360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Views</a:t>
            </a:r>
            <a:endParaRPr b="0" lang="en-US" sz="4400" spc="-1" strike="noStrike">
              <a:latin typeface="Arial"/>
            </a:endParaRPr>
          </a:p>
        </p:txBody>
      </p:sp>
      <p:sp>
        <p:nvSpPr>
          <p:cNvPr id="342" name="CustomShape 2"/>
          <p:cNvSpPr/>
          <p:nvPr/>
        </p:nvSpPr>
        <p:spPr>
          <a:xfrm>
            <a:off x="1544040" y="1276200"/>
            <a:ext cx="9793800" cy="699840"/>
          </a:xfrm>
          <a:prstGeom prst="rect">
            <a:avLst/>
          </a:prstGeom>
          <a:noFill/>
          <a:ln>
            <a:noFill/>
          </a:ln>
        </p:spPr>
        <p:style>
          <a:lnRef idx="0"/>
          <a:fillRef idx="0"/>
          <a:effectRef idx="0"/>
          <a:fontRef idx="minor"/>
        </p:style>
        <p:txBody>
          <a:bodyPr lIns="90000" rIns="90000" tIns="45000" bIns="45000">
            <a:spAutoFit/>
          </a:bodyPr>
          <a:p>
            <a:pPr marL="343080" indent="-342360" algn="just">
              <a:lnSpc>
                <a:spcPct val="100000"/>
              </a:lnSpc>
              <a:buClr>
                <a:srgbClr val="ffffff"/>
              </a:buClr>
              <a:buFont typeface="Arial"/>
              <a:buChar char="•"/>
            </a:pPr>
            <a:r>
              <a:rPr b="0" lang="en-US" sz="2000" spc="-1" strike="noStrike">
                <a:solidFill>
                  <a:srgbClr val="ffffff"/>
                </a:solidFill>
                <a:latin typeface="Arial"/>
                <a:ea typeface="DejaVu Sans"/>
              </a:rPr>
              <a:t>A number of different view engines are available. There’s EJS (which stands for Embedded JavaScript), Handlebars, Pug, and more.</a:t>
            </a:r>
            <a:endParaRPr b="0" lang="en-US" sz="2000" spc="-1" strike="noStrike">
              <a:latin typeface="Arial"/>
            </a:endParaRPr>
          </a:p>
        </p:txBody>
      </p:sp>
      <p:pic>
        <p:nvPicPr>
          <p:cNvPr id="343" name="Рисунок 8" descr=""/>
          <p:cNvPicPr/>
          <p:nvPr/>
        </p:nvPicPr>
        <p:blipFill>
          <a:blip r:embed="rId1"/>
          <a:stretch/>
        </p:blipFill>
        <p:spPr>
          <a:xfrm>
            <a:off x="1612440" y="2111760"/>
            <a:ext cx="4970880" cy="1193400"/>
          </a:xfrm>
          <a:prstGeom prst="rect">
            <a:avLst/>
          </a:prstGeom>
          <a:ln>
            <a:noFill/>
          </a:ln>
        </p:spPr>
      </p:pic>
      <p:pic>
        <p:nvPicPr>
          <p:cNvPr id="344" name="Рисунок 10" descr=""/>
          <p:cNvPicPr/>
          <p:nvPr/>
        </p:nvPicPr>
        <p:blipFill>
          <a:blip r:embed="rId2"/>
          <a:stretch/>
        </p:blipFill>
        <p:spPr>
          <a:xfrm>
            <a:off x="1594800" y="3429000"/>
            <a:ext cx="2835720" cy="1541520"/>
          </a:xfrm>
          <a:prstGeom prst="rect">
            <a:avLst/>
          </a:prstGeom>
          <a:ln>
            <a:noFill/>
          </a:ln>
        </p:spPr>
      </p:pic>
      <p:pic>
        <p:nvPicPr>
          <p:cNvPr id="345" name="Рисунок 12" descr=""/>
          <p:cNvPicPr/>
          <p:nvPr/>
        </p:nvPicPr>
        <p:blipFill>
          <a:blip r:embed="rId3"/>
          <a:stretch/>
        </p:blipFill>
        <p:spPr>
          <a:xfrm>
            <a:off x="1594800" y="5094000"/>
            <a:ext cx="2676240" cy="61848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CustomShape 1"/>
          <p:cNvSpPr/>
          <p:nvPr/>
        </p:nvSpPr>
        <p:spPr>
          <a:xfrm>
            <a:off x="1218960" y="45360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Modifying Express for MVC</a:t>
            </a:r>
            <a:endParaRPr b="0" lang="en-US" sz="4400" spc="-1" strike="noStrike">
              <a:latin typeface="Arial"/>
            </a:endParaRPr>
          </a:p>
        </p:txBody>
      </p:sp>
      <p:sp>
        <p:nvSpPr>
          <p:cNvPr id="347" name="CustomShape 2"/>
          <p:cNvSpPr/>
          <p:nvPr/>
        </p:nvSpPr>
        <p:spPr>
          <a:xfrm>
            <a:off x="1482120" y="1276200"/>
            <a:ext cx="9836280" cy="699840"/>
          </a:xfrm>
          <a:prstGeom prst="rect">
            <a:avLst/>
          </a:prstGeom>
          <a:noFill/>
          <a:ln>
            <a:noFill/>
          </a:ln>
        </p:spPr>
        <p:style>
          <a:lnRef idx="0"/>
          <a:fillRef idx="0"/>
          <a:effectRef idx="0"/>
          <a:fontRef idx="minor"/>
        </p:style>
        <p:txBody>
          <a:bodyPr lIns="90000" rIns="90000" tIns="45000" bIns="45000">
            <a:spAutoFit/>
          </a:bodyPr>
          <a:p>
            <a:pPr marL="343080" indent="-342360">
              <a:lnSpc>
                <a:spcPct val="100000"/>
              </a:lnSpc>
              <a:buClr>
                <a:srgbClr val="ffffff"/>
              </a:buClr>
              <a:buFont typeface="Arial"/>
              <a:buChar char="•"/>
            </a:pPr>
            <a:r>
              <a:rPr b="0" lang="en-US" sz="2000" spc="-1" strike="noStrike">
                <a:solidFill>
                  <a:srgbClr val="ffffff"/>
                </a:solidFill>
                <a:latin typeface="Arial"/>
                <a:ea typeface="DejaVu Sans"/>
              </a:rPr>
              <a:t>Firstly, what is MVC architecture? MVC architecture separates the data (model), the display (view) and the application logic (controller).</a:t>
            </a:r>
            <a:endParaRPr b="0" lang="en-US" sz="2000" spc="-1" strike="noStrike">
              <a:latin typeface="Arial"/>
            </a:endParaRPr>
          </a:p>
        </p:txBody>
      </p:sp>
      <p:sp>
        <p:nvSpPr>
          <p:cNvPr id="348" name="CustomShape 3"/>
          <p:cNvSpPr/>
          <p:nvPr/>
        </p:nvSpPr>
        <p:spPr>
          <a:xfrm>
            <a:off x="1482120" y="1983960"/>
            <a:ext cx="8871120" cy="394920"/>
          </a:xfrm>
          <a:prstGeom prst="rect">
            <a:avLst/>
          </a:prstGeom>
          <a:noFill/>
          <a:ln>
            <a:noFill/>
          </a:ln>
        </p:spPr>
        <p:style>
          <a:lnRef idx="0"/>
          <a:fillRef idx="0"/>
          <a:effectRef idx="0"/>
          <a:fontRef idx="minor"/>
        </p:style>
        <p:txBody>
          <a:bodyPr lIns="90000" rIns="90000" tIns="45000" bIns="45000">
            <a:spAutoFit/>
          </a:bodyPr>
          <a:p>
            <a:pPr marL="343080" indent="-342360">
              <a:lnSpc>
                <a:spcPct val="100000"/>
              </a:lnSpc>
              <a:buClr>
                <a:srgbClr val="ffffff"/>
              </a:buClr>
              <a:buFont typeface="Arial"/>
              <a:buChar char="•"/>
            </a:pPr>
            <a:r>
              <a:rPr b="0" lang="en-US" sz="2000" spc="-1" strike="noStrike">
                <a:solidFill>
                  <a:srgbClr val="ffffff"/>
                </a:solidFill>
                <a:latin typeface="Arial"/>
                <a:ea typeface="DejaVu Sans"/>
              </a:rPr>
              <a:t>At a simple level, this loop in an MVC architecture works like this:</a:t>
            </a:r>
            <a:endParaRPr b="0" lang="en-US" sz="2000" spc="-1" strike="noStrike">
              <a:latin typeface="Arial"/>
            </a:endParaRPr>
          </a:p>
        </p:txBody>
      </p:sp>
      <p:sp>
        <p:nvSpPr>
          <p:cNvPr id="349" name="CustomShape 4"/>
          <p:cNvSpPr/>
          <p:nvPr/>
        </p:nvSpPr>
        <p:spPr>
          <a:xfrm>
            <a:off x="1838160" y="2384280"/>
            <a:ext cx="7599240" cy="3747240"/>
          </a:xfrm>
          <a:prstGeom prst="rect">
            <a:avLst/>
          </a:prstGeom>
          <a:noFill/>
          <a:ln>
            <a:noFill/>
          </a:ln>
        </p:spPr>
        <p:style>
          <a:lnRef idx="0"/>
          <a:fillRef idx="0"/>
          <a:effectRef idx="0"/>
          <a:fontRef idx="minor"/>
        </p:style>
        <p:txBody>
          <a:bodyPr lIns="90000" rIns="90000" tIns="45000" bIns="45000">
            <a:spAutoFit/>
          </a:bodyPr>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A request comes into the application.</a:t>
            </a:r>
            <a:endParaRPr b="0" lang="en-US" sz="2000" spc="-1" strike="noStrike">
              <a:latin typeface="Arial"/>
            </a:endParaRPr>
          </a:p>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The request gets routed to a controller.</a:t>
            </a:r>
            <a:endParaRPr b="0" lang="en-US" sz="2000" spc="-1" strike="noStrike">
              <a:latin typeface="Arial"/>
            </a:endParaRPr>
          </a:p>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The controller, if necessary, makes a request to the model.</a:t>
            </a:r>
            <a:endParaRPr b="0" lang="en-US" sz="2000" spc="-1" strike="noStrike">
              <a:latin typeface="Arial"/>
            </a:endParaRPr>
          </a:p>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The model responds to the controller.</a:t>
            </a:r>
            <a:endParaRPr b="0" lang="en-US" sz="2000" spc="-1" strike="noStrike">
              <a:latin typeface="Arial"/>
            </a:endParaRPr>
          </a:p>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The controller merges the view and the data to form a response.</a:t>
            </a:r>
            <a:endParaRPr b="0" lang="en-US" sz="2000" spc="-1" strike="noStrike">
              <a:latin typeface="Arial"/>
            </a:endParaRPr>
          </a:p>
          <a:p>
            <a:pPr marL="343080" indent="-342360">
              <a:lnSpc>
                <a:spcPct val="150000"/>
              </a:lnSpc>
              <a:buClr>
                <a:srgbClr val="ffffff"/>
              </a:buClr>
              <a:buFont typeface="Arial"/>
              <a:buAutoNum type="arabicPeriod"/>
            </a:pPr>
            <a:r>
              <a:rPr b="0" lang="en-US" sz="2000" spc="-1" strike="noStrike">
                <a:solidFill>
                  <a:srgbClr val="ffffff"/>
                </a:solidFill>
                <a:latin typeface="Arial"/>
                <a:ea typeface="DejaVu Sans"/>
              </a:rPr>
              <a:t>The controller sends the generated response to the original requester.</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CustomShape 1"/>
          <p:cNvSpPr/>
          <p:nvPr/>
        </p:nvSpPr>
        <p:spPr>
          <a:xfrm>
            <a:off x="1218960" y="453600"/>
            <a:ext cx="10362240" cy="821880"/>
          </a:xfrm>
          <a:prstGeom prst="rect">
            <a:avLst/>
          </a:prstGeom>
          <a:noFill/>
          <a:ln>
            <a:noFill/>
          </a:ln>
        </p:spPr>
        <p:style>
          <a:lnRef idx="0"/>
          <a:fillRef idx="0"/>
          <a:effectRef idx="0"/>
          <a:fontRef idx="minor"/>
        </p:style>
        <p:txBody>
          <a:bodyPr lIns="90000" rIns="90000" tIns="45000" bIns="45000">
            <a:noAutofit/>
          </a:bodyPr>
          <a:p>
            <a:pPr algn="ctr">
              <a:lnSpc>
                <a:spcPct val="90000"/>
              </a:lnSpc>
            </a:pPr>
            <a:r>
              <a:rPr b="0" lang="en-US" sz="4400" spc="-1" strike="noStrike">
                <a:solidFill>
                  <a:srgbClr val="ffffff"/>
                </a:solidFill>
                <a:latin typeface="Proxima Nova Black"/>
                <a:ea typeface="DejaVu Sans"/>
              </a:rPr>
              <a:t>Modifying Express for MVC</a:t>
            </a:r>
            <a:endParaRPr b="0" lang="en-US" sz="4400" spc="-1" strike="noStrike">
              <a:latin typeface="Arial"/>
            </a:endParaRPr>
          </a:p>
        </p:txBody>
      </p:sp>
      <p:pic>
        <p:nvPicPr>
          <p:cNvPr id="351" name="Рисунок 8" descr=""/>
          <p:cNvPicPr/>
          <p:nvPr/>
        </p:nvPicPr>
        <p:blipFill>
          <a:blip r:embed="rId1"/>
          <a:stretch/>
        </p:blipFill>
        <p:spPr>
          <a:xfrm>
            <a:off x="596160" y="1469520"/>
            <a:ext cx="5905440" cy="3352680"/>
          </a:xfrm>
          <a:prstGeom prst="rect">
            <a:avLst/>
          </a:prstGeom>
          <a:ln>
            <a:noFill/>
          </a:ln>
        </p:spPr>
      </p:pic>
      <p:pic>
        <p:nvPicPr>
          <p:cNvPr id="352" name="" descr=""/>
          <p:cNvPicPr/>
          <p:nvPr/>
        </p:nvPicPr>
        <p:blipFill>
          <a:blip r:embed="rId2"/>
          <a:stretch/>
        </p:blipFill>
        <p:spPr>
          <a:xfrm>
            <a:off x="7772400" y="1316880"/>
            <a:ext cx="2532960" cy="435204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3" name="pasted-image.png" descr=""/>
          <p:cNvPicPr/>
          <p:nvPr/>
        </p:nvPicPr>
        <p:blipFill>
          <a:blip r:embed="rId1"/>
          <a:stretch/>
        </p:blipFill>
        <p:spPr>
          <a:xfrm>
            <a:off x="0" y="0"/>
            <a:ext cx="12190320" cy="6856200"/>
          </a:xfrm>
          <a:prstGeom prst="rect">
            <a:avLst/>
          </a:prstGeom>
          <a:ln w="1260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460</TotalTime>
  <Application>LibreOffice/6.4.2.2$Linux_X86_64 LibreOffice_project/470efa65018866d4eccd0320fc85de07297c8d71</Application>
  <Words>1457</Words>
  <Paragraphs>65</Paragraphs>
  <Company>Verint Systems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2018-11-02T13:55:27Z</dcterms:created>
  <dc:creator>Strutynska, Viktoriya</dc:creator>
  <dc:description/>
  <dc:language>en-US</dc:language>
  <cp:lastModifiedBy/>
  <dcterms:modified xsi:type="dcterms:W3CDTF">2020-04-15T15:56:05Z</dcterms:modified>
  <cp:revision>26</cp:revision>
  <dc:subject/>
  <dc:title>508/WCAG SERVICE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Verint Systems</vt:lpwstr>
  </property>
  <property fmtid="{D5CDD505-2E9C-101B-9397-08002B2CF9AE}" pid="4" name="ContentTypeId">
    <vt:lpwstr>0x0101004195FC54A15F344D83577B1CDDD67A5D</vt:lpwstr>
  </property>
  <property fmtid="{D5CDD505-2E9C-101B-9397-08002B2CF9AE}" pid="5" name="HiddenSlides">
    <vt:i4>0</vt:i4>
  </property>
  <property fmtid="{D5CDD505-2E9C-101B-9397-08002B2CF9AE}" pid="6" name="HyperlinksChanged">
    <vt:bool>0</vt:bool>
  </property>
  <property fmtid="{D5CDD505-2E9C-101B-9397-08002B2CF9AE}" pid="7" name="LinksUpToDate">
    <vt:bool>0</vt:bool>
  </property>
  <property fmtid="{D5CDD505-2E9C-101B-9397-08002B2CF9AE}" pid="8" name="MMClips">
    <vt:i4>0</vt:i4>
  </property>
  <property fmtid="{D5CDD505-2E9C-101B-9397-08002B2CF9AE}" pid="9" name="Notes">
    <vt:i4>1</vt:i4>
  </property>
  <property fmtid="{D5CDD505-2E9C-101B-9397-08002B2CF9AE}" pid="10" name="PresentationFormat">
    <vt:lpwstr>Широкоэкранный</vt:lpwstr>
  </property>
  <property fmtid="{D5CDD505-2E9C-101B-9397-08002B2CF9AE}" pid="11" name="ScaleCrop">
    <vt:bool>0</vt:bool>
  </property>
  <property fmtid="{D5CDD505-2E9C-101B-9397-08002B2CF9AE}" pid="12" name="ShareDoc">
    <vt:bool>0</vt:bool>
  </property>
  <property fmtid="{D5CDD505-2E9C-101B-9397-08002B2CF9AE}" pid="13" name="Slides">
    <vt:i4>20</vt:i4>
  </property>
</Properties>
</file>