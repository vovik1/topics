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33.xml" ContentType="application/vnd.openxmlformats-officedocument.presentationml.slideLayout+xml"/>
  <Override PartName="/ppt/slideLayouts/slideLayout58.xml" ContentType="application/vnd.openxmlformats-officedocument.presentationml.slideLayout+xml"/>
  <Override PartName="/ppt/slideLayouts/_rels/slideLayout57.xml.rels" ContentType="application/vnd.openxmlformats-package.relationships+xml"/>
  <Override PartName="/ppt/slideLayouts/_rels/slideLayout56.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8.xml.rels" ContentType="application/vnd.openxmlformats-package.relationships+xml"/>
  <Override PartName="/ppt/slideLayouts/_rels/slideLayout32.xml.rels" ContentType="application/vnd.openxmlformats-package.relationships+xml"/>
  <Override PartName="/ppt/slideLayouts/_rels/slideLayout60.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31.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4.xml.rels" ContentType="application/vnd.openxmlformats-package.relationships+xml"/>
  <Override PartName="/ppt/slideLayouts/_rels/slideLayout55.xml.rels" ContentType="application/vnd.openxmlformats-package.relationships+xml"/>
  <Override PartName="/ppt/slideLayouts/_rels/slideLayout49.xml.rels" ContentType="application/vnd.openxmlformats-package.relationships+xml"/>
  <Override PartName="/ppt/slideLayouts/_rels/slideLayout5.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19.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50.xml.rels" ContentType="application/vnd.openxmlformats-package.relationships+xml"/>
  <Override PartName="/ppt/slideLayouts/_rels/slideLayout11.xml.rels" ContentType="application/vnd.openxmlformats-package.relationships+xml"/>
  <Override PartName="/ppt/slideLayouts/_rels/slideLayout58.xml.rels" ContentType="application/vnd.openxmlformats-package.relationships+xml"/>
  <Override PartName="/ppt/slideLayouts/_rels/slideLayout53.xml.rels" ContentType="application/vnd.openxmlformats-package.relationships+xml"/>
  <Override PartName="/ppt/slideLayouts/_rels/slideLayout33.xml.rels" ContentType="application/vnd.openxmlformats-package.relationships+xml"/>
  <Override PartName="/ppt/slideLayouts/_rels/slideLayout8.xml.rels" ContentType="application/vnd.openxmlformats-package.relationships+xml"/>
  <Override PartName="/ppt/slideLayouts/_rels/slideLayout52.xml.rels" ContentType="application/vnd.openxmlformats-package.relationships+xml"/>
  <Override PartName="/ppt/slideLayouts/_rels/slideLayout51.xml.rels" ContentType="application/vnd.openxmlformats-package.relationships+xml"/>
  <Override PartName="/ppt/slideLayouts/_rels/slideLayout36.xml.rels" ContentType="application/vnd.openxmlformats-package.relationships+xml"/>
  <Override PartName="/ppt/slideLayouts/_rels/slideLayout42.xml.rels" ContentType="application/vnd.openxmlformats-package.relationships+xml"/>
  <Override PartName="/ppt/slideLayouts/_rels/slideLayout45.xml.rels" ContentType="application/vnd.openxmlformats-package.relationships+xml"/>
  <Override PartName="/ppt/slideLayouts/_rels/slideLayout44.xml.rels" ContentType="application/vnd.openxmlformats-package.relationships+xml"/>
  <Override PartName="/ppt/slideLayouts/_rels/slideLayout38.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40.xml.rels" ContentType="application/vnd.openxmlformats-package.relationships+xml"/>
  <Override PartName="/ppt/slideLayouts/_rels/slideLayout6.xml.rels" ContentType="application/vnd.openxmlformats-package.relationships+xml"/>
  <Override PartName="/ppt/slideLayouts/_rels/slideLayout41.xml.rels" ContentType="application/vnd.openxmlformats-package.relationships+xml"/>
  <Override PartName="/ppt/slideLayouts/_rels/slideLayout35.xml.rels" ContentType="application/vnd.openxmlformats-package.relationships+xml"/>
  <Override PartName="/ppt/slideLayouts/_rels/slideLayout7.xml.rels" ContentType="application/vnd.openxmlformats-package.relationships+xml"/>
  <Override PartName="/ppt/slideLayouts/_rels/slideLayout43.xml.rels" ContentType="application/vnd.openxmlformats-package.relationships+xml"/>
  <Override PartName="/ppt/slideLayouts/_rels/slideLayout37.xml.rels" ContentType="application/vnd.openxmlformats-package.relationships+xml"/>
  <Override PartName="/ppt/slideLayouts/_rels/slideLayout16.xml.rels" ContentType="application/vnd.openxmlformats-package.relationships+xml"/>
  <Override PartName="/ppt/slideLayouts/_rels/slideLayout59.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1.xml.rels" ContentType="application/vnd.openxmlformats-package.relationships+xml"/>
  <Override PartName="/ppt/slideLayouts/_rels/slideLayout17.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54.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8.xml.rels" ContentType="application/vnd.openxmlformats-package.relationships+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54.xml" ContentType="application/vnd.openxmlformats-officedocument.presentationml.slideLayout+xml"/>
  <Override PartName="/ppt/slideLayouts/slideLayout13.xml" ContentType="application/vnd.openxmlformats-officedocument.presentationml.slideLayout+xml"/>
  <Override PartName="/ppt/slideLayouts/slideLayout38.xml" ContentType="application/vnd.openxmlformats-officedocument.presentationml.slideLayout+xml"/>
  <Override PartName="/ppt/slideLayouts/slideLayout52.xml" ContentType="application/vnd.openxmlformats-officedocument.presentationml.slideLayout+xml"/>
  <Override PartName="/ppt/slideLayouts/slideLayout14.xml" ContentType="application/vnd.openxmlformats-officedocument.presentationml.slideLayout+xml"/>
  <Override PartName="/ppt/slideLayouts/slideLayout39.xml" ContentType="application/vnd.openxmlformats-officedocument.presentationml.slideLayout+xml"/>
  <Override PartName="/ppt/slideLayouts/slideLayout60.xml" ContentType="application/vnd.openxmlformats-officedocument.presentationml.slideLayout+xml"/>
  <Override PartName="/ppt/slideLayouts/slideLayout53.xml" ContentType="application/vnd.openxmlformats-officedocument.presentationml.slideLayout+xml"/>
  <Override PartName="/ppt/slideLayouts/slideLayout12.xml" ContentType="application/vnd.openxmlformats-officedocument.presentationml.slideLayout+xml"/>
  <Override PartName="/ppt/slideLayouts/slideLayout37.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30.xml" ContentType="application/vnd.openxmlformats-officedocument.presentationml.slideLayout+xml"/>
  <Override PartName="/ppt/slideLayouts/slideLayout56.xml" ContentType="application/vnd.openxmlformats-officedocument.presentationml.slideLayout+xml"/>
  <Override PartName="/ppt/slideLayouts/slideLayout31.xml" ContentType="application/vnd.openxmlformats-officedocument.presentationml.slideLayout+xml"/>
  <Override PartName="/ppt/slideLayouts/slideLayout57.xml" ContentType="application/vnd.openxmlformats-officedocument.presentationml.slideLayout+xml"/>
  <Override PartName="/ppt/slideLayouts/slideLayout32.xml" ContentType="application/vnd.openxmlformats-officedocument.presentationml.slideLayout+xml"/>
  <Override PartName="/ppt/media/image2.wmf" ContentType="image/x-wmf"/>
  <Override PartName="/ppt/media/image1.wmf" ContentType="image/x-wmf"/>
  <Override PartName="/ppt/media/image3.wmf" ContentType="image/x-wmf"/>
  <Override PartName="/ppt/media/image4.wmf" ContentType="image/x-wmf"/>
  <Override PartName="/ppt/media/image6.wmf" ContentType="image/x-wmf"/>
  <Override PartName="/ppt/media/image5.wmf" ContentType="image/x-wmf"/>
  <Override PartName="/ppt/media/image7.wmf" ContentType="image/x-wmf"/>
  <Override PartName="/ppt/media/image12.png" ContentType="image/png"/>
  <Override PartName="/ppt/media/image11.png" ContentType="image/png"/>
  <Override PartName="/ppt/media/image10.png" ContentType="image/png"/>
  <Override PartName="/ppt/media/image14.png" ContentType="image/png"/>
  <Override PartName="/ppt/media/image13.png" ContentType="image/png"/>
  <Override PartName="/ppt/media/image15.png" ContentType="image/png"/>
  <Override PartName="/ppt/media/image16.png" ContentType="image/png"/>
  <Override PartName="/ppt/media/image21.png" ContentType="image/png"/>
  <Override PartName="/ppt/media/image20.png" ContentType="image/png"/>
  <Override PartName="/ppt/media/image22.png" ContentType="image/png"/>
  <Override PartName="/ppt/media/image23.png" ContentType="image/png"/>
  <Override PartName="/ppt/media/image18.png" ContentType="image/png"/>
  <Override PartName="/ppt/media/image17.png" ContentType="image/png"/>
  <Override PartName="/ppt/media/image19.png" ContentType="image/png"/>
  <Override PartName="/ppt/media/image8.png" ContentType="image/png"/>
  <Override PartName="/ppt/media/image9.png" ContentType="image/png"/>
  <Override PartName="/ppt/notesSlides/notesSlide19.xml" ContentType="application/vnd.openxmlformats-officedocument.presentationml.notesSlide+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4.xml" ContentType="application/vnd.openxmlformats-officedocument.presentationml.slideMaster+xml"/>
  <Override PartName="/ppt/presentation.xml" ContentType="application/vnd.openxmlformats-officedocument.presentationml.presentation.main+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7.xml.rels" ContentType="application/vnd.openxmlformats-package.relationships+xml"/>
  <Override PartName="/ppt/slides/_rels/slide10.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19.xml.rels" ContentType="application/vnd.openxmlformats-package.relationships+xml"/>
  <Override PartName="/ppt/slides/_rels/slide2.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21.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_rels/.rels" ContentType="application/vnd.openxmlformats-package.relationshi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uk-UA" sz="1800" spc="-1" strike="noStrike">
                <a:solidFill>
                  <a:srgbClr val="000000"/>
                </a:solidFill>
                <a:latin typeface="Arial"/>
              </a:rPr>
              <a:t>Click to move the slide</a:t>
            </a:r>
            <a:endParaRPr b="0" lang="uk-UA" sz="1800" spc="-1" strike="noStrike">
              <a:solidFill>
                <a:srgbClr val="000000"/>
              </a:solidFill>
              <a:latin typeface="Arial"/>
            </a:endParaRPr>
          </a:p>
        </p:txBody>
      </p:sp>
      <p:sp>
        <p:nvSpPr>
          <p:cNvPr id="199"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200"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201"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202"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203"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04E7FC01-ED34-4B5D-A10F-893D1817E756}"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685800" y="1143000"/>
            <a:ext cx="5483160" cy="3082680"/>
          </a:xfrm>
          <a:prstGeom prst="rect">
            <a:avLst/>
          </a:prstGeom>
        </p:spPr>
      </p:sp>
      <p:sp>
        <p:nvSpPr>
          <p:cNvPr id="289" name="PlaceHolder 2"/>
          <p:cNvSpPr>
            <a:spLocks noGrp="1"/>
          </p:cNvSpPr>
          <p:nvPr>
            <p:ph type="body"/>
          </p:nvPr>
        </p:nvSpPr>
        <p:spPr>
          <a:xfrm>
            <a:off x="685800" y="4400640"/>
            <a:ext cx="5482440" cy="3596400"/>
          </a:xfrm>
          <a:prstGeom prst="rect">
            <a:avLst/>
          </a:prstGeom>
        </p:spPr>
        <p:txBody>
          <a:bodyPr lIns="0" rIns="0" tIns="0" bIns="0">
            <a:noAutofit/>
          </a:bodyPr>
          <a:p>
            <a:endParaRPr b="0" lang="en-US" sz="2000" spc="-1" strike="noStrike">
              <a:latin typeface="Arial"/>
            </a:endParaRPr>
          </a:p>
        </p:txBody>
      </p:sp>
      <p:sp>
        <p:nvSpPr>
          <p:cNvPr id="290" name="CustomShape 3"/>
          <p:cNvSpPr/>
          <p:nvPr/>
        </p:nvSpPr>
        <p:spPr>
          <a:xfrm>
            <a:off x="3884760" y="8685360"/>
            <a:ext cx="2967840" cy="45468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CAD989F4-B51A-48A1-B647-85CCEA49DC09}" type="slidenum">
              <a:rPr b="0" lang="en-GB" sz="1200" spc="-1" strike="noStrike">
                <a:solidFill>
                  <a:srgbClr val="000000"/>
                </a:solidFill>
                <a:latin typeface="+mn-lt"/>
                <a:ea typeface="+mn-ea"/>
              </a:rPr>
              <a:t>&lt;number&gt;</a:t>
            </a:fld>
            <a:endParaRPr b="0" lang="en-US" sz="12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217440" y="812880"/>
            <a:ext cx="7124400" cy="4008240"/>
          </a:xfrm>
          <a:prstGeom prst="rect">
            <a:avLst/>
          </a:prstGeom>
        </p:spPr>
      </p:sp>
      <p:sp>
        <p:nvSpPr>
          <p:cNvPr id="292"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n-US" sz="2000" spc="-1" strike="noStrike">
                <a:solidFill>
                  <a:srgbClr val="000000"/>
                </a:solidFill>
                <a:latin typeface="Arial"/>
              </a:rPr>
              <a:t>While a monolithic application is a single unified unit, a microservices architecture breaks it down into a collection of smaller independent units. These units carry out every application process as a separate service. So all the services have their own logic and the database as well as perform the specific functions.</a:t>
            </a:r>
            <a:endParaRPr b="0" lang="en-US" sz="2000" spc="-1" strike="noStrike">
              <a:latin typeface="Arial"/>
            </a:endParaRPr>
          </a:p>
          <a:p>
            <a:pPr>
              <a:lnSpc>
                <a:spcPct val="100000"/>
              </a:lnSpc>
            </a:pPr>
            <a:r>
              <a:rPr b="0" lang="en-US" sz="2000" spc="-1" strike="noStrike">
                <a:solidFill>
                  <a:srgbClr val="000000"/>
                </a:solidFill>
                <a:latin typeface="Arial"/>
              </a:rPr>
              <a:t>Within a microservices architecture, the entire functionality is split up into independently deployable modules which communicate with each other through defined methods called APIs (Application Programming Interfaces). Each service covers its own scope and can be updated, deployed, and scaled independently.</a:t>
            </a:r>
            <a:endParaRPr b="0" lang="en-US" sz="2000" spc="-1" strike="noStrike">
              <a:latin typeface="Arial"/>
            </a:endParaRPr>
          </a:p>
          <a:p>
            <a:pPr>
              <a:lnSpc>
                <a:spcPct val="100000"/>
              </a:lnSpc>
            </a:pPr>
            <a:endParaRPr b="0" lang="en-US" sz="2000" spc="-1" strike="noStrike">
              <a:latin typeface="Arial"/>
            </a:endParaRPr>
          </a:p>
        </p:txBody>
      </p:sp>
      <p:sp>
        <p:nvSpPr>
          <p:cNvPr id="293" name="TextShape 3"/>
          <p:cNvSpPr txBox="1"/>
          <p:nvPr/>
        </p:nvSpPr>
        <p:spPr>
          <a:xfrm>
            <a:off x="4278960" y="10157400"/>
            <a:ext cx="3280320" cy="533880"/>
          </a:xfrm>
          <a:prstGeom prst="rect">
            <a:avLst/>
          </a:prstGeom>
          <a:noFill/>
          <a:ln>
            <a:noFill/>
          </a:ln>
        </p:spPr>
        <p:txBody>
          <a:bodyPr lIns="0" rIns="0" tIns="0" bIns="0" anchor="b">
            <a:noAutofit/>
          </a:bodyPr>
          <a:p>
            <a:pPr algn="r">
              <a:lnSpc>
                <a:spcPct val="100000"/>
              </a:lnSpc>
            </a:pPr>
            <a:fld id="{7C40E421-4602-4F97-9D9F-C42566F38FE7}" type="slidenum">
              <a:rPr b="0" lang="en-US" sz="1400" spc="-1" strike="noStrike">
                <a:solidFill>
                  <a:srgbClr val="000000"/>
                </a:solidFill>
                <a:latin typeface="Times New Roman"/>
                <a:ea typeface="+mn-ea"/>
              </a:rPr>
              <a:t>&lt;number&gt;</a:t>
            </a:fld>
            <a:endParaRPr b="0" lang="en-US" sz="14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380880" y="695160"/>
            <a:ext cx="6094080" cy="3427200"/>
          </a:xfrm>
          <a:prstGeom prst="rect">
            <a:avLst/>
          </a:prstGeom>
        </p:spPr>
      </p:sp>
      <p:sp>
        <p:nvSpPr>
          <p:cNvPr id="295" name="PlaceHolder 2"/>
          <p:cNvSpPr>
            <a:spLocks noGrp="1"/>
          </p:cNvSpPr>
          <p:nvPr>
            <p:ph type="body"/>
          </p:nvPr>
        </p:nvSpPr>
        <p:spPr>
          <a:xfrm>
            <a:off x="685800" y="4343400"/>
            <a:ext cx="5484960" cy="5099040"/>
          </a:xfrm>
          <a:prstGeom prst="rect">
            <a:avLst/>
          </a:prstGeom>
        </p:spPr>
        <p:txBody>
          <a:bodyPr lIns="0" rIns="0" tIns="0" bIns="0">
            <a:noAutofit/>
          </a:bodyPr>
          <a:p>
            <a:pPr marL="216000" indent="-215280">
              <a:lnSpc>
                <a:spcPct val="100000"/>
              </a:lnSpc>
            </a:pPr>
            <a:r>
              <a:rPr b="0" lang="en-US" sz="2000" spc="-1" strike="noStrike">
                <a:latin typeface="Arial"/>
              </a:rPr>
              <a:t>With microservices, we are also able to adopt technology more quickly, and understand</a:t>
            </a:r>
            <a:endParaRPr b="0" lang="en-US" sz="2000" spc="-1" strike="noStrike">
              <a:latin typeface="Arial"/>
            </a:endParaRPr>
          </a:p>
          <a:p>
            <a:pPr marL="216000" indent="-215280">
              <a:lnSpc>
                <a:spcPct val="100000"/>
              </a:lnSpc>
            </a:pPr>
            <a:r>
              <a:rPr b="0" lang="en-US" sz="2000" spc="-1" strike="noStrike">
                <a:latin typeface="Arial"/>
              </a:rPr>
              <a:t>how new advancements may help us. One of the biggest barriers to trying out and</a:t>
            </a:r>
            <a:endParaRPr b="0" lang="en-US" sz="2000" spc="-1" strike="noStrike">
              <a:latin typeface="Arial"/>
            </a:endParaRPr>
          </a:p>
          <a:p>
            <a:pPr marL="216000" indent="-215280">
              <a:lnSpc>
                <a:spcPct val="100000"/>
              </a:lnSpc>
            </a:pPr>
            <a:r>
              <a:rPr b="0" lang="en-US" sz="2000" spc="-1" strike="noStrike">
                <a:latin typeface="Arial"/>
              </a:rPr>
              <a:t>adopting new technology is the risks associated with it. With a monolithic application, if I</a:t>
            </a:r>
            <a:endParaRPr b="0" lang="en-US" sz="2000" spc="-1" strike="noStrike">
              <a:latin typeface="Arial"/>
            </a:endParaRPr>
          </a:p>
          <a:p>
            <a:pPr marL="216000" indent="-215280">
              <a:lnSpc>
                <a:spcPct val="100000"/>
              </a:lnSpc>
            </a:pPr>
            <a:r>
              <a:rPr b="0" lang="en-US" sz="2000" spc="-1" strike="noStrike">
                <a:latin typeface="Arial"/>
              </a:rPr>
              <a:t>want to try a new programming language, database, or framework, any change will impact</a:t>
            </a:r>
            <a:endParaRPr b="0" lang="en-US" sz="2000" spc="-1" strike="noStrike">
              <a:latin typeface="Arial"/>
            </a:endParaRPr>
          </a:p>
          <a:p>
            <a:pPr marL="216000" indent="-215280">
              <a:lnSpc>
                <a:spcPct val="100000"/>
              </a:lnSpc>
            </a:pPr>
            <a:r>
              <a:rPr b="0" lang="en-US" sz="2000" spc="-1" strike="noStrike">
                <a:latin typeface="Arial"/>
              </a:rPr>
              <a:t>a large amount of my system. With a system consisting of multiple services, I have</a:t>
            </a:r>
            <a:endParaRPr b="0" lang="en-US" sz="2000" spc="-1" strike="noStrike">
              <a:latin typeface="Arial"/>
            </a:endParaRPr>
          </a:p>
          <a:p>
            <a:pPr marL="216000" indent="-215280">
              <a:lnSpc>
                <a:spcPct val="100000"/>
              </a:lnSpc>
            </a:pPr>
            <a:r>
              <a:rPr b="0" lang="en-US" sz="2000" spc="-1" strike="noStrike">
                <a:latin typeface="Arial"/>
              </a:rPr>
              <a:t>multiple new places in which to try out a new piece of technology. I can pick a service that</a:t>
            </a:r>
            <a:endParaRPr b="0" lang="en-US" sz="2000" spc="-1" strike="noStrike">
              <a:latin typeface="Arial"/>
            </a:endParaRPr>
          </a:p>
          <a:p>
            <a:pPr marL="216000" indent="-215280">
              <a:lnSpc>
                <a:spcPct val="100000"/>
              </a:lnSpc>
            </a:pPr>
            <a:r>
              <a:rPr b="0" lang="en-US" sz="2000" spc="-1" strike="noStrike">
                <a:latin typeface="Arial"/>
              </a:rPr>
              <a:t>is perhaps lowest risk and use the technology there, knowing that I can limit any potential</a:t>
            </a:r>
            <a:endParaRPr b="0" lang="en-US" sz="2000" spc="-1" strike="noStrike">
              <a:latin typeface="Arial"/>
            </a:endParaRPr>
          </a:p>
          <a:p>
            <a:pPr marL="216000" indent="-215280">
              <a:lnSpc>
                <a:spcPct val="100000"/>
              </a:lnSpc>
            </a:pPr>
            <a:r>
              <a:rPr b="0" lang="en-US" sz="2000" spc="-1" strike="noStrike">
                <a:latin typeface="Arial"/>
              </a:rPr>
              <a:t>negative impact. Many organizations find this ability to more quickly absorb new</a:t>
            </a:r>
            <a:endParaRPr b="0" lang="en-US" sz="2000" spc="-1" strike="noStrike">
              <a:latin typeface="Arial"/>
            </a:endParaRPr>
          </a:p>
          <a:p>
            <a:pPr marL="216000" indent="-215280">
              <a:lnSpc>
                <a:spcPct val="100000"/>
              </a:lnSpc>
            </a:pPr>
            <a:r>
              <a:rPr b="0" lang="en-US" sz="2000" spc="-1" strike="noStrike">
                <a:latin typeface="Arial"/>
              </a:rPr>
              <a:t>technologies to be a real advantage for them.</a:t>
            </a:r>
            <a:endParaRPr b="0" lang="en-US" sz="20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217440" y="812880"/>
            <a:ext cx="7124400" cy="4008240"/>
          </a:xfrm>
          <a:prstGeom prst="rect">
            <a:avLst/>
          </a:prstGeom>
        </p:spPr>
      </p:sp>
      <p:sp>
        <p:nvSpPr>
          <p:cNvPr id="297"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n-US" sz="1200" spc="-1" strike="noStrike">
                <a:solidFill>
                  <a:srgbClr val="000000"/>
                </a:solidFill>
                <a:latin typeface="Arial"/>
                <a:ea typeface="DejaVu Sans"/>
              </a:rPr>
              <a:t>With microservices, we can make a change to a single service and deploy it independently</a:t>
            </a:r>
            <a:r>
              <a:rPr b="0" lang="uk-UA" sz="1200" spc="-1" strike="noStrike">
                <a:solidFill>
                  <a:srgbClr val="000000"/>
                </a:solidFill>
                <a:latin typeface="Arial"/>
                <a:ea typeface="+mn-ea"/>
              </a:rPr>
              <a:t> </a:t>
            </a:r>
            <a:r>
              <a:rPr b="0" lang="en-US" sz="1200" spc="-1" strike="noStrike">
                <a:solidFill>
                  <a:srgbClr val="000000"/>
                </a:solidFill>
                <a:latin typeface="Arial"/>
                <a:ea typeface="DejaVu Sans"/>
              </a:rPr>
              <a:t>of the rest of the system. This allows us to get our code deployed faster. If a</a:t>
            </a:r>
            <a:r>
              <a:rPr b="0" lang="uk-UA" sz="1200" spc="-1" strike="noStrike">
                <a:solidFill>
                  <a:srgbClr val="000000"/>
                </a:solidFill>
                <a:latin typeface="Arial"/>
                <a:ea typeface="DejaVu Sans"/>
              </a:rPr>
              <a:t> </a:t>
            </a:r>
            <a:r>
              <a:rPr b="0" lang="en-US" sz="1200" spc="-1" strike="noStrike">
                <a:solidFill>
                  <a:srgbClr val="000000"/>
                </a:solidFill>
                <a:latin typeface="Arial"/>
                <a:ea typeface="DejaVu Sans"/>
              </a:rPr>
              <a:t>problem does</a:t>
            </a:r>
            <a:r>
              <a:rPr b="0" lang="uk-UA" sz="1200" spc="-1" strike="noStrike">
                <a:solidFill>
                  <a:srgbClr val="000000"/>
                </a:solidFill>
                <a:latin typeface="Arial"/>
                <a:ea typeface="+mn-ea"/>
              </a:rPr>
              <a:t> </a:t>
            </a:r>
            <a:r>
              <a:rPr b="0" lang="en-US" sz="1200" spc="-1" strike="noStrike">
                <a:solidFill>
                  <a:srgbClr val="000000"/>
                </a:solidFill>
                <a:latin typeface="Arial"/>
                <a:ea typeface="DejaVu Sans"/>
              </a:rPr>
              <a:t>occur, it can be isolated quickly to an individual service, making fast rollback easy to</a:t>
            </a:r>
            <a:r>
              <a:rPr b="0" lang="uk-UA" sz="1200" spc="-1" strike="noStrike">
                <a:solidFill>
                  <a:srgbClr val="000000"/>
                </a:solidFill>
                <a:latin typeface="Arial"/>
                <a:ea typeface="+mn-ea"/>
              </a:rPr>
              <a:t> </a:t>
            </a:r>
            <a:r>
              <a:rPr b="0" lang="en-US" sz="1200" spc="-1" strike="noStrike">
                <a:solidFill>
                  <a:srgbClr val="000000"/>
                </a:solidFill>
                <a:latin typeface="Arial"/>
                <a:ea typeface="DejaVu Sans"/>
              </a:rPr>
              <a:t>achieve.</a:t>
            </a:r>
            <a:endParaRPr b="0" lang="en-US" sz="1200" spc="-1" strike="noStrike">
              <a:latin typeface="Arial"/>
            </a:endParaRPr>
          </a:p>
          <a:p>
            <a:pPr marL="216000" indent="-216000">
              <a:lnSpc>
                <a:spcPct val="100000"/>
              </a:lnSpc>
            </a:pPr>
            <a:endParaRPr b="0" lang="en-US" sz="1200" spc="-1" strike="noStrike">
              <a:latin typeface="Arial"/>
            </a:endParaRPr>
          </a:p>
        </p:txBody>
      </p:sp>
      <p:sp>
        <p:nvSpPr>
          <p:cNvPr id="298" name="TextShape 3"/>
          <p:cNvSpPr txBox="1"/>
          <p:nvPr/>
        </p:nvSpPr>
        <p:spPr>
          <a:xfrm>
            <a:off x="4278960" y="10157400"/>
            <a:ext cx="3280320" cy="533880"/>
          </a:xfrm>
          <a:prstGeom prst="rect">
            <a:avLst/>
          </a:prstGeom>
          <a:noFill/>
          <a:ln>
            <a:noFill/>
          </a:ln>
        </p:spPr>
        <p:txBody>
          <a:bodyPr lIns="0" rIns="0" tIns="0" bIns="0" anchor="b">
            <a:noAutofit/>
          </a:bodyPr>
          <a:p>
            <a:pPr algn="r">
              <a:lnSpc>
                <a:spcPct val="100000"/>
              </a:lnSpc>
            </a:pPr>
            <a:fld id="{AA199129-C761-4555-A118-FAD28313C7F6}" type="slidenum">
              <a:rPr b="0" lang="en-US" sz="1400" spc="-1" strike="noStrike">
                <a:solidFill>
                  <a:srgbClr val="000000"/>
                </a:solidFill>
                <a:latin typeface="Times New Roman"/>
                <a:ea typeface="+mn-ea"/>
              </a:rPr>
              <a:t>&lt;number&gt;</a:t>
            </a:fld>
            <a:endParaRPr b="0" lang="en-US" sz="14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217440" y="812880"/>
            <a:ext cx="7122600" cy="4006440"/>
          </a:xfrm>
          <a:prstGeom prst="rect">
            <a:avLst/>
          </a:prstGeom>
        </p:spPr>
      </p:sp>
      <p:sp>
        <p:nvSpPr>
          <p:cNvPr id="300" name="PlaceHolder 2"/>
          <p:cNvSpPr>
            <a:spLocks noGrp="1"/>
          </p:cNvSpPr>
          <p:nvPr>
            <p:ph type="body"/>
          </p:nvPr>
        </p:nvSpPr>
        <p:spPr>
          <a:xfrm>
            <a:off x="756000" y="5078520"/>
            <a:ext cx="6045840" cy="4809240"/>
          </a:xfrm>
          <a:prstGeom prst="rect">
            <a:avLst/>
          </a:prstGeom>
        </p:spPr>
        <p:txBody>
          <a:bodyPr lIns="0" rIns="0" tIns="0" bIns="0">
            <a:noAutofit/>
          </a:bodyPr>
          <a:p>
            <a:pPr algn="just">
              <a:lnSpc>
                <a:spcPct val="100000"/>
              </a:lnSpc>
            </a:pPr>
            <a:r>
              <a:rPr b="0" lang="en-US" sz="1800" spc="-1" strike="noStrike">
                <a:solidFill>
                  <a:srgbClr val="ffffff"/>
                </a:solidFill>
                <a:latin typeface="Arial"/>
                <a:ea typeface="DejaVu Sans"/>
              </a:rPr>
              <a:t>Rather than renting a server for your application, setting up the environment, and deploying it, you upload your application to your serverless provider, which takes care of assigning servers, storage, application handling, setup, and execution. </a:t>
            </a:r>
            <a:endParaRPr b="0" lang="en-US" sz="1800" spc="-1" strike="noStrike">
              <a:latin typeface="Arial"/>
            </a:endParaRPr>
          </a:p>
          <a:p>
            <a:pPr algn="just">
              <a:lnSpc>
                <a:spcPct val="100000"/>
              </a:lnSpc>
            </a:pPr>
            <a:r>
              <a:rPr b="0" lang="en-US" sz="1800" spc="-1" strike="noStrike">
                <a:solidFill>
                  <a:srgbClr val="ffffff"/>
                </a:solidFill>
                <a:latin typeface="Arial"/>
                <a:ea typeface="DejaVu Sans"/>
              </a:rPr>
              <a:t>More precisely, the provider stores your application inside a certain container. The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container represents an isolated environment that contains everything your application needs to run.</a:t>
            </a:r>
            <a:endParaRPr b="0" lang="en-US" sz="1800" spc="-1" strike="noStrike">
              <a:latin typeface="Arial"/>
            </a:endParaRPr>
          </a:p>
          <a:p>
            <a:pPr>
              <a:lnSpc>
                <a:spcPct val="100000"/>
              </a:lnSpc>
            </a:pPr>
            <a:r>
              <a:rPr b="0" lang="en-US" sz="1800" spc="-1" strike="noStrike">
                <a:solidFill>
                  <a:srgbClr val="ffffff"/>
                </a:solidFill>
                <a:latin typeface="Arial"/>
                <a:ea typeface="DejaVu Sans"/>
              </a:rPr>
              <a:t>Finally, serverless providers offer various triggers that can run your functions. The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list of triggers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depends on the provider and implementation, but some of the most</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common triggers are HTTP</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requests, file uploads to file storage, database updates, and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Internet of Things (IoT) events. There are </a:t>
            </a:r>
            <a:endParaRPr b="0" lang="en-US" sz="1800" spc="-1" strike="noStrike">
              <a:latin typeface="Arial"/>
            </a:endParaRPr>
          </a:p>
          <a:p>
            <a:pPr>
              <a:lnSpc>
                <a:spcPct val="100000"/>
              </a:lnSpc>
            </a:pPr>
            <a:r>
              <a:rPr b="0" lang="en-US" sz="1800" spc="-1" strike="noStrike">
                <a:solidFill>
                  <a:srgbClr val="ffffff"/>
                </a:solidFill>
                <a:latin typeface="Arial"/>
                <a:ea typeface="DejaVu Sans"/>
              </a:rPr>
              <a:t>many more.</a:t>
            </a:r>
            <a:endParaRPr b="0" lang="en-US" sz="1800" spc="-1" strike="noStrike">
              <a:latin typeface="Arial"/>
            </a:endParaRPr>
          </a:p>
        </p:txBody>
      </p:sp>
      <p:sp>
        <p:nvSpPr>
          <p:cNvPr id="301" name="CustomShape 3"/>
          <p:cNvSpPr/>
          <p:nvPr/>
        </p:nvSpPr>
        <p:spPr>
          <a:xfrm>
            <a:off x="4278960" y="10157400"/>
            <a:ext cx="3278880" cy="532440"/>
          </a:xfrm>
          <a:prstGeom prst="rect">
            <a:avLst/>
          </a:prstGeom>
          <a:noFill/>
          <a:ln>
            <a:noFill/>
          </a:ln>
        </p:spPr>
        <p:style>
          <a:lnRef idx="0"/>
          <a:fillRef idx="0"/>
          <a:effectRef idx="0"/>
          <a:fontRef idx="minor"/>
        </p:style>
        <p:txBody>
          <a:bodyPr lIns="0" rIns="0" tIns="0" bIns="0" anchor="b">
            <a:noAutofit/>
          </a:bodyPr>
          <a:p>
            <a:pPr algn="r">
              <a:lnSpc>
                <a:spcPct val="100000"/>
              </a:lnSpc>
            </a:pPr>
            <a:fld id="{4931238E-D975-487A-B89D-E1B9A56D54E9}" type="slidenum">
              <a:rPr b="0" lang="en-US" sz="1400" spc="-1" strike="noStrike">
                <a:solidFill>
                  <a:srgbClr val="000000"/>
                </a:solidFill>
                <a:latin typeface="Times New Roman"/>
                <a:ea typeface="+mn-ea"/>
              </a:rPr>
              <a:t>&lt;number&gt;</a:t>
            </a:fld>
            <a:endParaRPr b="0" lang="en-US" sz="1400" spc="-1" strike="noStrike">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217440" y="812880"/>
            <a:ext cx="7124400" cy="4008240"/>
          </a:xfrm>
          <a:prstGeom prst="rect">
            <a:avLst/>
          </a:prstGeom>
        </p:spPr>
      </p:sp>
      <p:sp>
        <p:nvSpPr>
          <p:cNvPr id="303" name="PlaceHolder 2"/>
          <p:cNvSpPr>
            <a:spLocks noGrp="1"/>
          </p:cNvSpPr>
          <p:nvPr>
            <p:ph type="body"/>
          </p:nvPr>
        </p:nvSpPr>
        <p:spPr>
          <a:xfrm>
            <a:off x="756000" y="5078520"/>
            <a:ext cx="6047280" cy="4810680"/>
          </a:xfrm>
          <a:prstGeom prst="rect">
            <a:avLst/>
          </a:prstGeom>
        </p:spPr>
        <p:txBody>
          <a:bodyPr lIns="0" rIns="0" tIns="0" bIns="0">
            <a:noAutofit/>
          </a:bodyPr>
          <a:p>
            <a:pPr marL="216000" indent="-216000">
              <a:lnSpc>
                <a:spcPct val="100000"/>
              </a:lnSpc>
            </a:pPr>
            <a:r>
              <a:rPr b="0" lang="en-US" sz="1800" spc="-1" strike="noStrike">
                <a:latin typeface="Times New Roman"/>
              </a:rPr>
              <a:t>HTTP has built-in support to help clients identify when they can safely reuse pages. This support improves performance by reducing both network traffic and latency.</a:t>
            </a:r>
            <a:endParaRPr b="0" lang="en-US" sz="1800" spc="-1" strike="noStrike">
              <a:latin typeface="Arial"/>
            </a:endParaRPr>
          </a:p>
          <a:p>
            <a:pPr marL="216000" indent="-216000">
              <a:lnSpc>
                <a:spcPct val="100000"/>
              </a:lnSpc>
            </a:pPr>
            <a:r>
              <a:rPr b="0" lang="en-US" sz="1800" spc="-1" strike="noStrike">
                <a:latin typeface="Times New Roman"/>
              </a:rPr>
              <a:t>The difficult issue with HTTP caching is how to determine that a previously cached copy of a page is the same as the </a:t>
            </a:r>
            <a:endParaRPr b="0" lang="en-US" sz="1800" spc="-1" strike="noStrike">
              <a:latin typeface="Arial"/>
            </a:endParaRPr>
          </a:p>
          <a:p>
            <a:pPr marL="216000" indent="-216000">
              <a:lnSpc>
                <a:spcPct val="100000"/>
              </a:lnSpc>
            </a:pPr>
            <a:r>
              <a:rPr b="0" lang="en-US" sz="1800" spc="-1" strike="noStrike">
                <a:latin typeface="Times New Roman"/>
              </a:rPr>
              <a:t>HTTP uses two strategies to tackle this problem. They are shown in Fig. 7-40 as forms of processing between the request (step 1) and the response (step 5). The first strategy is page validation (step 2). The cache is consulted, and if it has a copy of a page for the requested URL that is known to be fresh (i.e., still valid), there is no need to fetch it anew from the server. Instead, the cached page can be returned directly. The </a:t>
            </a:r>
            <a:r>
              <a:rPr b="0" i="1" lang="en-US" sz="1800" spc="-1" strike="noStrike">
                <a:latin typeface="Times-Italic"/>
              </a:rPr>
              <a:t>Expires </a:t>
            </a:r>
            <a:r>
              <a:rPr b="0" lang="en-US" sz="1800" spc="-1" strike="noStrike">
                <a:latin typeface="Times New Roman"/>
              </a:rPr>
              <a:t>header returned when the cached page was originally fetched and the current date and time can be used to make this determination.page would be if it was fetched again.</a:t>
            </a:r>
            <a:endParaRPr b="0" lang="en-US" sz="1800" spc="-1" strike="noStrike">
              <a:latin typeface="Arial"/>
            </a:endParaRPr>
          </a:p>
          <a:p>
            <a:pPr marL="216000" indent="-216000">
              <a:lnSpc>
                <a:spcPct val="100000"/>
              </a:lnSpc>
            </a:pPr>
            <a:r>
              <a:rPr b="0" lang="en-US" sz="1800" spc="-1" strike="noStrike">
                <a:latin typeface="Times New Roman"/>
              </a:rPr>
              <a:t>In this case, the browser may use heuristics. For example, if the page has not been modified in the past year (as told by the </a:t>
            </a:r>
            <a:r>
              <a:rPr b="0" i="1" lang="en-US" sz="1800" spc="-1" strike="noStrike">
                <a:latin typeface="Times-Italic"/>
              </a:rPr>
              <a:t>Last-Modified </a:t>
            </a:r>
            <a:r>
              <a:rPr b="0" lang="en-US" sz="1800" spc="-1" strike="noStrike">
                <a:latin typeface="Times New Roman"/>
              </a:rPr>
              <a:t>header) it is a fairly safe bet that it will not change in the next hour.</a:t>
            </a:r>
            <a:endParaRPr b="0" lang="en-US" sz="1800" spc="-1" strike="noStrike">
              <a:latin typeface="Arial"/>
            </a:endParaRPr>
          </a:p>
          <a:p>
            <a:pPr marL="216000" indent="-216000">
              <a:lnSpc>
                <a:spcPct val="100000"/>
              </a:lnSpc>
            </a:pPr>
            <a:r>
              <a:rPr b="0" lang="en-US" sz="1800" spc="-1" strike="noStrike">
                <a:latin typeface="Times New Roman"/>
              </a:rPr>
              <a:t>The second strategy is used in this case. It is to ask the server if the cached copy is still valid. This request is a </a:t>
            </a:r>
            <a:r>
              <a:rPr b="1" lang="en-US" sz="1800" spc="-1" strike="noStrike">
                <a:latin typeface="Times-Bold"/>
              </a:rPr>
              <a:t>conditional GET</a:t>
            </a:r>
            <a:r>
              <a:rPr b="0" lang="en-US" sz="1800" spc="-1" strike="noStrike">
                <a:latin typeface="Times New Roman"/>
              </a:rPr>
              <a:t>, and it is shown in Fig. 7-40 as step 3. If the server knows that the cached copy is still valid, it can send a short reply to say so (step 4a). Otherwise, it must send the full response (step 4b).</a:t>
            </a:r>
            <a:endParaRPr b="0" lang="en-US" sz="1800" spc="-1" strike="noStrike">
              <a:latin typeface="Arial"/>
            </a:endParaRPr>
          </a:p>
        </p:txBody>
      </p:sp>
      <p:sp>
        <p:nvSpPr>
          <p:cNvPr id="304" name="TextShape 3"/>
          <p:cNvSpPr txBox="1"/>
          <p:nvPr/>
        </p:nvSpPr>
        <p:spPr>
          <a:xfrm>
            <a:off x="4278960" y="10157400"/>
            <a:ext cx="3280320" cy="533880"/>
          </a:xfrm>
          <a:prstGeom prst="rect">
            <a:avLst/>
          </a:prstGeom>
          <a:noFill/>
          <a:ln>
            <a:noFill/>
          </a:ln>
        </p:spPr>
        <p:txBody>
          <a:bodyPr lIns="0" rIns="0" tIns="0" bIns="0" anchor="b">
            <a:noAutofit/>
          </a:bodyPr>
          <a:p>
            <a:pPr algn="r">
              <a:lnSpc>
                <a:spcPct val="100000"/>
              </a:lnSpc>
            </a:pPr>
            <a:fld id="{2BD848B2-2849-4A45-8DF6-2E2E68C6DCD5}" type="slidenum">
              <a:rPr b="0" lang="en-US" sz="1400" spc="-1" strike="noStrike">
                <a:solidFill>
                  <a:srgbClr val="000000"/>
                </a:solidFill>
                <a:latin typeface="Times New Roman"/>
                <a:ea typeface="+mn-ea"/>
              </a:rPr>
              <a:t>&lt;number&gt;</a:t>
            </a:fld>
            <a:endParaRPr b="0" lang="en-US" sz="1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7"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49"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0"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4"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55"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6"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5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0"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3"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4"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6"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67"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69"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0"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1"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2"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74"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5"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6"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7"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8"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79"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6"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88"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3"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4"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5"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9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9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99"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1"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2"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3"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5"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6"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08"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09"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0"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1"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13"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4"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5"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6"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7"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18"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5"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2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28"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3"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4"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3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3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38"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0"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1"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2"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4"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5"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47"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49"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0"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52"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3"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4"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5"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6"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57"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5" name="PlaceHolder 2"/>
          <p:cNvSpPr>
            <a:spLocks noGrp="1"/>
          </p:cNvSpPr>
          <p:nvPr>
            <p:ph type="body"/>
          </p:nvPr>
        </p:nvSpPr>
        <p:spPr>
          <a:xfrm>
            <a:off x="609480" y="1604520"/>
            <a:ext cx="1097244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67"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68"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3" name="PlaceHolder 3"/>
          <p:cNvSpPr>
            <a:spLocks noGrp="1"/>
          </p:cNvSpPr>
          <p:nvPr>
            <p:ph type="body"/>
          </p:nvPr>
        </p:nvSpPr>
        <p:spPr>
          <a:xfrm>
            <a:off x="623196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4"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76" name="PlaceHolder 2"/>
          <p:cNvSpPr>
            <a:spLocks noGrp="1"/>
          </p:cNvSpPr>
          <p:nvPr>
            <p:ph type="body"/>
          </p:nvPr>
        </p:nvSpPr>
        <p:spPr>
          <a:xfrm>
            <a:off x="609480" y="1604520"/>
            <a:ext cx="5354280" cy="3977280"/>
          </a:xfrm>
          <a:prstGeom prst="rect">
            <a:avLst/>
          </a:prstGeom>
        </p:spPr>
        <p:txBody>
          <a:bodyPr lIns="0" rIns="0" tIns="0" bIns="0">
            <a:normAutofit/>
          </a:bodyPr>
          <a:p>
            <a:endParaRPr b="0" lang="uk-UA" sz="2800" spc="-1" strike="noStrike">
              <a:solidFill>
                <a:srgbClr val="000000"/>
              </a:solidFill>
              <a:latin typeface="Arial"/>
            </a:endParaRPr>
          </a:p>
        </p:txBody>
      </p:sp>
      <p:sp>
        <p:nvSpPr>
          <p:cNvPr id="177"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78" name="PlaceHolder 4"/>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0"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1"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2" name="PlaceHolder 4"/>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4" name="PlaceHolder 2"/>
          <p:cNvSpPr>
            <a:spLocks noGrp="1"/>
          </p:cNvSpPr>
          <p:nvPr>
            <p:ph type="body"/>
          </p:nvPr>
        </p:nvSpPr>
        <p:spPr>
          <a:xfrm>
            <a:off x="609480" y="160452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5" name="PlaceHolder 3"/>
          <p:cNvSpPr>
            <a:spLocks noGrp="1"/>
          </p:cNvSpPr>
          <p:nvPr>
            <p:ph type="body"/>
          </p:nvPr>
        </p:nvSpPr>
        <p:spPr>
          <a:xfrm>
            <a:off x="609480" y="3682080"/>
            <a:ext cx="109724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87" name="PlaceHolder 2"/>
          <p:cNvSpPr>
            <a:spLocks noGrp="1"/>
          </p:cNvSpPr>
          <p:nvPr>
            <p:ph type="body"/>
          </p:nvPr>
        </p:nvSpPr>
        <p:spPr>
          <a:xfrm>
            <a:off x="60948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8" name="PlaceHolder 3"/>
          <p:cNvSpPr>
            <a:spLocks noGrp="1"/>
          </p:cNvSpPr>
          <p:nvPr>
            <p:ph type="body"/>
          </p:nvPr>
        </p:nvSpPr>
        <p:spPr>
          <a:xfrm>
            <a:off x="6231960" y="160452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89" name="PlaceHolder 4"/>
          <p:cNvSpPr>
            <a:spLocks noGrp="1"/>
          </p:cNvSpPr>
          <p:nvPr>
            <p:ph type="body"/>
          </p:nvPr>
        </p:nvSpPr>
        <p:spPr>
          <a:xfrm>
            <a:off x="60948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0" name="PlaceHolder 5"/>
          <p:cNvSpPr>
            <a:spLocks noGrp="1"/>
          </p:cNvSpPr>
          <p:nvPr>
            <p:ph type="body"/>
          </p:nvPr>
        </p:nvSpPr>
        <p:spPr>
          <a:xfrm>
            <a:off x="6231960" y="3682080"/>
            <a:ext cx="535428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uk-UA" sz="1800" spc="-1" strike="noStrike">
              <a:solidFill>
                <a:srgbClr val="000000"/>
              </a:solidFill>
              <a:latin typeface="Arial"/>
            </a:endParaRPr>
          </a:p>
        </p:txBody>
      </p:sp>
      <p:sp>
        <p:nvSpPr>
          <p:cNvPr id="192" name="PlaceHolder 2"/>
          <p:cNvSpPr>
            <a:spLocks noGrp="1"/>
          </p:cNvSpPr>
          <p:nvPr>
            <p:ph type="body"/>
          </p:nvPr>
        </p:nvSpPr>
        <p:spPr>
          <a:xfrm>
            <a:off x="60948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3" name="PlaceHolder 3"/>
          <p:cNvSpPr>
            <a:spLocks noGrp="1"/>
          </p:cNvSpPr>
          <p:nvPr>
            <p:ph type="body"/>
          </p:nvPr>
        </p:nvSpPr>
        <p:spPr>
          <a:xfrm>
            <a:off x="431964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4" name="PlaceHolder 4"/>
          <p:cNvSpPr>
            <a:spLocks noGrp="1"/>
          </p:cNvSpPr>
          <p:nvPr>
            <p:ph type="body"/>
          </p:nvPr>
        </p:nvSpPr>
        <p:spPr>
          <a:xfrm>
            <a:off x="8029800" y="160452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5" name="PlaceHolder 5"/>
          <p:cNvSpPr>
            <a:spLocks noGrp="1"/>
          </p:cNvSpPr>
          <p:nvPr>
            <p:ph type="body"/>
          </p:nvPr>
        </p:nvSpPr>
        <p:spPr>
          <a:xfrm>
            <a:off x="60948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6" name="PlaceHolder 6"/>
          <p:cNvSpPr>
            <a:spLocks noGrp="1"/>
          </p:cNvSpPr>
          <p:nvPr>
            <p:ph type="body"/>
          </p:nvPr>
        </p:nvSpPr>
        <p:spPr>
          <a:xfrm>
            <a:off x="431964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
        <p:nvSpPr>
          <p:cNvPr id="197" name="PlaceHolder 7"/>
          <p:cNvSpPr>
            <a:spLocks noGrp="1"/>
          </p:cNvSpPr>
          <p:nvPr>
            <p:ph type="body"/>
          </p:nvPr>
        </p:nvSpPr>
        <p:spPr>
          <a:xfrm>
            <a:off x="8029800" y="3682080"/>
            <a:ext cx="3533040" cy="1896840"/>
          </a:xfrm>
          <a:prstGeom prst="rect">
            <a:avLst/>
          </a:prstGeom>
        </p:spPr>
        <p:txBody>
          <a:bodyPr lIns="0" rIns="0" tIns="0" bIns="0">
            <a:normAutofit/>
          </a:bodyPr>
          <a:p>
            <a:endParaRPr b="0" lang="uk-UA" sz="28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wmf"/><Relationship Id="rId3" Type="http://schemas.openxmlformats.org/officeDocument/2006/relationships/image" Target="../media/image4.wmf"/><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5.wmf"/><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6.wmf"/><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7.wmf"/><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0" name="Picture 8" descr=""/>
          <p:cNvPicPr/>
          <p:nvPr/>
        </p:nvPicPr>
        <p:blipFill>
          <a:blip r:embed="rId2"/>
          <a:stretch/>
        </p:blipFill>
        <p:spPr>
          <a:xfrm>
            <a:off x="9959040" y="5906880"/>
            <a:ext cx="1542960" cy="261360"/>
          </a:xfrm>
          <a:prstGeom prst="rect">
            <a:avLst/>
          </a:prstGeom>
          <a:ln>
            <a:noFill/>
          </a:ln>
        </p:spPr>
      </p:pic>
      <p:pic>
        <p:nvPicPr>
          <p:cNvPr id="1" name="Picture 7" descr=""/>
          <p:cNvPicPr/>
          <p:nvPr/>
        </p:nvPicPr>
        <p:blipFill>
          <a:blip r:embed="rId3"/>
          <a:stretch/>
        </p:blipFill>
        <p:spPr>
          <a:xfrm>
            <a:off x="9959040" y="5906880"/>
            <a:ext cx="1542960" cy="26136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40" name="Picture 8" descr=""/>
          <p:cNvPicPr/>
          <p:nvPr/>
        </p:nvPicPr>
        <p:blipFill>
          <a:blip r:embed="rId2"/>
          <a:stretch/>
        </p:blipFill>
        <p:spPr>
          <a:xfrm>
            <a:off x="9959040" y="5906880"/>
            <a:ext cx="1542960" cy="261360"/>
          </a:xfrm>
          <a:prstGeom prst="rect">
            <a:avLst/>
          </a:prstGeom>
          <a:ln>
            <a:noFill/>
          </a:ln>
        </p:spPr>
      </p:pic>
      <p:pic>
        <p:nvPicPr>
          <p:cNvPr id="41" name="Picture 7" descr=""/>
          <p:cNvPicPr/>
          <p:nvPr/>
        </p:nvPicPr>
        <p:blipFill>
          <a:blip r:embed="rId3"/>
          <a:stretch/>
        </p:blipFill>
        <p:spPr>
          <a:xfrm>
            <a:off x="9959040" y="5906880"/>
            <a:ext cx="1542960" cy="261360"/>
          </a:xfrm>
          <a:prstGeom prst="rect">
            <a:avLst/>
          </a:prstGeom>
          <a:ln>
            <a:noFill/>
          </a:ln>
        </p:spPr>
      </p:pic>
      <p:sp>
        <p:nvSpPr>
          <p:cNvPr id="42" name="PlaceHolder 1"/>
          <p:cNvSpPr>
            <a:spLocks noGrp="1"/>
          </p:cNvSpPr>
          <p:nvPr>
            <p:ph type="title"/>
          </p:nvPr>
        </p:nvSpPr>
        <p:spPr>
          <a:xfrm>
            <a:off x="609480" y="273600"/>
            <a:ext cx="10972080" cy="1144440"/>
          </a:xfrm>
          <a:prstGeom prst="rect">
            <a:avLst/>
          </a:prstGeom>
        </p:spPr>
        <p:txBody>
          <a:bodyPr lIns="0" rIns="0" tIns="0" bIns="0" anchor="ctr">
            <a:noAutofit/>
          </a:bodyPr>
          <a:p>
            <a:pPr algn="ctr"/>
            <a:r>
              <a:rPr b="0" lang="uk-UA" sz="4400" spc="-1" strike="noStrike">
                <a:solidFill>
                  <a:srgbClr val="000000"/>
                </a:solidFill>
                <a:latin typeface="Arial"/>
              </a:rPr>
              <a:t>Click to edit the title text format</a:t>
            </a:r>
            <a:endParaRPr b="0" lang="uk-UA" sz="4400" spc="-1" strike="noStrike">
              <a:solidFill>
                <a:srgbClr val="000000"/>
              </a:solidFill>
              <a:latin typeface="Arial"/>
            </a:endParaRPr>
          </a:p>
        </p:txBody>
      </p:sp>
      <p:sp>
        <p:nvSpPr>
          <p:cNvPr id="4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80" name="Picture 8" descr=""/>
          <p:cNvPicPr/>
          <p:nvPr/>
        </p:nvPicPr>
        <p:blipFill>
          <a:blip r:embed="rId2"/>
          <a:stretch/>
        </p:blipFill>
        <p:spPr>
          <a:xfrm>
            <a:off x="9959040" y="5906880"/>
            <a:ext cx="1542960" cy="261360"/>
          </a:xfrm>
          <a:prstGeom prst="rect">
            <a:avLst/>
          </a:prstGeom>
          <a:ln>
            <a:noFill/>
          </a:ln>
        </p:spPr>
      </p:pic>
      <p:sp>
        <p:nvSpPr>
          <p:cNvPr id="81"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82"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19" name="Picture 8" descr=""/>
          <p:cNvPicPr/>
          <p:nvPr/>
        </p:nvPicPr>
        <p:blipFill>
          <a:blip r:embed="rId2"/>
          <a:stretch/>
        </p:blipFill>
        <p:spPr>
          <a:xfrm>
            <a:off x="9959040" y="5906880"/>
            <a:ext cx="1542960" cy="261360"/>
          </a:xfrm>
          <a:prstGeom prst="rect">
            <a:avLst/>
          </a:prstGeom>
          <a:ln>
            <a:noFill/>
          </a:ln>
        </p:spPr>
      </p:pic>
      <p:sp>
        <p:nvSpPr>
          <p:cNvPr id="120" name="PlaceHolder 1"/>
          <p:cNvSpPr>
            <a:spLocks noGrp="1"/>
          </p:cNvSpPr>
          <p:nvPr>
            <p:ph type="title"/>
          </p:nvPr>
        </p:nvSpPr>
        <p:spPr>
          <a:xfrm>
            <a:off x="609480" y="273600"/>
            <a:ext cx="10972080" cy="1144440"/>
          </a:xfrm>
          <a:prstGeom prst="rect">
            <a:avLst/>
          </a:prstGeom>
        </p:spPr>
        <p:txBody>
          <a:bodyPr lIns="0" rIns="0" tIns="0" bIns="0" anchor="ctr">
            <a:noAutofit/>
          </a:bodyPr>
          <a:p>
            <a:pPr algn="ctr"/>
            <a:r>
              <a:rPr b="0" lang="uk-UA" sz="4400" spc="-1" strike="noStrike">
                <a:solidFill>
                  <a:srgbClr val="000000"/>
                </a:solidFill>
                <a:latin typeface="Arial"/>
              </a:rPr>
              <a:t>Click to edit the title text format</a:t>
            </a:r>
            <a:endParaRPr b="0" lang="uk-UA" sz="4400" spc="-1" strike="noStrike">
              <a:solidFill>
                <a:srgbClr val="000000"/>
              </a:solidFill>
              <a:latin typeface="Arial"/>
            </a:endParaRPr>
          </a:p>
        </p:txBody>
      </p:sp>
      <p:sp>
        <p:nvSpPr>
          <p:cNvPr id="12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58" name="Picture 8" descr=""/>
          <p:cNvPicPr/>
          <p:nvPr/>
        </p:nvPicPr>
        <p:blipFill>
          <a:blip r:embed="rId2"/>
          <a:stretch/>
        </p:blipFill>
        <p:spPr>
          <a:xfrm>
            <a:off x="9959040" y="5906880"/>
            <a:ext cx="1542960" cy="261360"/>
          </a:xfrm>
          <a:prstGeom prst="rect">
            <a:avLst/>
          </a:prstGeom>
          <a:ln>
            <a:noFill/>
          </a:ln>
        </p:spPr>
      </p:pic>
      <p:sp>
        <p:nvSpPr>
          <p:cNvPr id="159" name="CustomShape 1"/>
          <p:cNvSpPr/>
          <p:nvPr/>
        </p:nvSpPr>
        <p:spPr>
          <a:xfrm>
            <a:off x="9487080" y="236880"/>
            <a:ext cx="2117520" cy="257040"/>
          </a:xfrm>
          <a:prstGeom prst="rect">
            <a:avLst/>
          </a:prstGeom>
          <a:noFill/>
          <a:ln>
            <a:noFill/>
          </a:ln>
        </p:spPr>
        <p:style>
          <a:lnRef idx="0"/>
          <a:fillRef idx="0"/>
          <a:effectRef idx="0"/>
          <a:fontRef idx="minor"/>
        </p:style>
        <p:txBody>
          <a:bodyPr lIns="90000" rIns="90000" tIns="45000" bIns="45000">
            <a:spAutoFit/>
          </a:bodyPr>
          <a:p>
            <a:pPr algn="r">
              <a:lnSpc>
                <a:spcPct val="100000"/>
              </a:lnSpc>
            </a:pPr>
            <a:r>
              <a:rPr b="0" lang="en-US" sz="1100" spc="-1" strike="noStrike">
                <a:solidFill>
                  <a:srgbClr val="000000"/>
                </a:solidFill>
                <a:latin typeface="Open Sans Regular"/>
                <a:ea typeface="Open Sans Regular"/>
              </a:rPr>
              <a:t>SoftServe Confidential</a:t>
            </a:r>
            <a:endParaRPr b="0" lang="en-US" sz="1100" spc="-1" strike="noStrike">
              <a:latin typeface="Arial"/>
            </a:endParaRPr>
          </a:p>
        </p:txBody>
      </p:sp>
      <p:sp>
        <p:nvSpPr>
          <p:cNvPr id="160" name="PlaceHolder 2"/>
          <p:cNvSpPr>
            <a:spLocks noGrp="1"/>
          </p:cNvSpPr>
          <p:nvPr>
            <p:ph type="title"/>
          </p:nvPr>
        </p:nvSpPr>
        <p:spPr>
          <a:xfrm>
            <a:off x="609480" y="273600"/>
            <a:ext cx="10972440" cy="1144800"/>
          </a:xfrm>
          <a:prstGeom prst="rect">
            <a:avLst/>
          </a:prstGeom>
        </p:spPr>
        <p:txBody>
          <a:bodyPr lIns="0" rIns="0" tIns="0" bIns="0" anchor="ctr">
            <a:noAutofit/>
          </a:bodyPr>
          <a:p>
            <a:r>
              <a:rPr b="0" lang="uk-UA" sz="1800" spc="-1" strike="noStrike">
                <a:solidFill>
                  <a:srgbClr val="000000"/>
                </a:solidFill>
                <a:latin typeface="Arial"/>
              </a:rPr>
              <a:t>Click to edit the title text format</a:t>
            </a:r>
            <a:endParaRPr b="0" lang="uk-UA" sz="1800" spc="-1" strike="noStrike">
              <a:solidFill>
                <a:srgbClr val="000000"/>
              </a:solidFill>
              <a:latin typeface="Arial"/>
            </a:endParaRPr>
          </a:p>
        </p:txBody>
      </p:sp>
      <p:sp>
        <p:nvSpPr>
          <p:cNvPr id="161"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uk-UA" sz="2800" spc="-1" strike="noStrike">
                <a:solidFill>
                  <a:srgbClr val="000000"/>
                </a:solidFill>
                <a:latin typeface="Arial"/>
              </a:rPr>
              <a:t>Click to edit the outline text format</a:t>
            </a:r>
            <a:endParaRPr b="0" lang="uk-UA" sz="2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uk-UA" sz="2000" spc="-1" strike="noStrike">
                <a:solidFill>
                  <a:srgbClr val="000000"/>
                </a:solidFill>
                <a:latin typeface="Arial"/>
              </a:rPr>
              <a:t>Second Outline Level</a:t>
            </a:r>
            <a:endParaRPr b="0" lang="uk-UA" sz="20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uk-UA" sz="1800" spc="-1" strike="noStrike">
                <a:solidFill>
                  <a:srgbClr val="000000"/>
                </a:solidFill>
                <a:latin typeface="Arial"/>
              </a:rPr>
              <a:t>Third Outline Level</a:t>
            </a:r>
            <a:endParaRPr b="0" lang="uk-UA"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uk-UA" sz="1800" spc="-1" strike="noStrike">
                <a:solidFill>
                  <a:srgbClr val="000000"/>
                </a:solidFill>
                <a:latin typeface="Arial"/>
              </a:rPr>
              <a:t>Fourth Outline Level</a:t>
            </a:r>
            <a:endParaRPr b="0" lang="uk-UA"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uk-UA" sz="2000" spc="-1" strike="noStrike">
                <a:solidFill>
                  <a:srgbClr val="000000"/>
                </a:solidFill>
                <a:latin typeface="Arial"/>
              </a:rPr>
              <a:t>Fifth Outline Level</a:t>
            </a:r>
            <a:endParaRPr b="0" lang="uk-UA"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uk-UA" sz="2000" spc="-1" strike="noStrike">
                <a:solidFill>
                  <a:srgbClr val="000000"/>
                </a:solidFill>
                <a:latin typeface="Arial"/>
              </a:rPr>
              <a:t>Sixth Outline Level</a:t>
            </a:r>
            <a:endParaRPr b="0" lang="uk-UA"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uk-UA" sz="2000" spc="-1" strike="noStrike">
                <a:solidFill>
                  <a:srgbClr val="000000"/>
                </a:solidFill>
                <a:latin typeface="Arial"/>
              </a:rPr>
              <a:t>Seventh Outline Level</a:t>
            </a:r>
            <a:endParaRPr b="0" lang="uk-UA"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5.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5.xml"/>
</Relationships>
</file>

<file path=ppt/slides/_rels/slide19.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9.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9.xml"/>
</Relationships>
</file>

<file path=ppt/slides/_rels/slide2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CustomShape 1"/>
          <p:cNvSpPr/>
          <p:nvPr/>
        </p:nvSpPr>
        <p:spPr>
          <a:xfrm>
            <a:off x="685800" y="5915160"/>
            <a:ext cx="3463200" cy="291240"/>
          </a:xfrm>
          <a:prstGeom prst="rect">
            <a:avLst/>
          </a:prstGeom>
          <a:noFill/>
          <a:ln>
            <a:noFill/>
          </a:ln>
        </p:spPr>
        <p:style>
          <a:lnRef idx="0"/>
          <a:fillRef idx="0"/>
          <a:effectRef idx="0"/>
          <a:fontRef idx="minor"/>
        </p:style>
      </p:sp>
      <p:sp>
        <p:nvSpPr>
          <p:cNvPr id="205" name="CustomShape 2"/>
          <p:cNvSpPr/>
          <p:nvPr/>
        </p:nvSpPr>
        <p:spPr>
          <a:xfrm>
            <a:off x="199440" y="329760"/>
            <a:ext cx="12386880" cy="667908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6600" spc="-1" strike="noStrike">
                <a:solidFill>
                  <a:srgbClr val="ffffff"/>
                </a:solidFill>
                <a:latin typeface="Arial"/>
                <a:ea typeface="DejaVu Sans"/>
              </a:rPr>
              <a:t>Web Application Architecture, HTTP protocol, REST</a:t>
            </a:r>
            <a:endParaRPr b="0" lang="en-US" sz="6600" spc="-1" strike="noStrike">
              <a:latin typeface="Arial"/>
            </a:endParaRPr>
          </a:p>
        </p:txBody>
      </p:sp>
      <p:pic>
        <p:nvPicPr>
          <p:cNvPr id="206" name="Рисунок 204" descr=""/>
          <p:cNvPicPr/>
          <p:nvPr/>
        </p:nvPicPr>
        <p:blipFill>
          <a:blip r:embed="rId1"/>
          <a:stretch/>
        </p:blipFill>
        <p:spPr>
          <a:xfrm>
            <a:off x="2743200" y="2791080"/>
            <a:ext cx="6033960" cy="3608640"/>
          </a:xfrm>
          <a:prstGeom prst="rect">
            <a:avLst/>
          </a:prstGeom>
          <a:ln>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CustomShape 1"/>
          <p:cNvSpPr/>
          <p:nvPr/>
        </p:nvSpPr>
        <p:spPr>
          <a:xfrm>
            <a:off x="3995280" y="59040"/>
            <a:ext cx="4201200" cy="6177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The Client Side</a:t>
            </a:r>
            <a:endParaRPr b="0" lang="en-US" sz="4000" spc="-1" strike="noStrike">
              <a:latin typeface="Arial"/>
            </a:endParaRPr>
          </a:p>
        </p:txBody>
      </p:sp>
      <p:sp>
        <p:nvSpPr>
          <p:cNvPr id="208" name="CustomShape 2"/>
          <p:cNvSpPr/>
          <p:nvPr/>
        </p:nvSpPr>
        <p:spPr>
          <a:xfrm>
            <a:off x="907200" y="1150560"/>
            <a:ext cx="4388400" cy="3459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URL (Uniform Resource Locator)</a:t>
            </a:r>
            <a:endParaRPr b="0" lang="en-US" sz="1800" spc="-1" strike="noStrike">
              <a:latin typeface="Arial"/>
            </a:endParaRPr>
          </a:p>
        </p:txBody>
      </p:sp>
      <p:sp>
        <p:nvSpPr>
          <p:cNvPr id="209" name="CustomShape 3"/>
          <p:cNvSpPr/>
          <p:nvPr/>
        </p:nvSpPr>
        <p:spPr>
          <a:xfrm>
            <a:off x="907200" y="1811160"/>
            <a:ext cx="4290120" cy="3459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http://www.cs.washington.edu/index.html</a:t>
            </a:r>
            <a:endParaRPr b="0" lang="en-US" sz="1800" spc="-1" strike="noStrike">
              <a:latin typeface="Arial"/>
            </a:endParaRPr>
          </a:p>
        </p:txBody>
      </p:sp>
      <p:sp>
        <p:nvSpPr>
          <p:cNvPr id="210" name="CustomShape 4"/>
          <p:cNvSpPr/>
          <p:nvPr/>
        </p:nvSpPr>
        <p:spPr>
          <a:xfrm>
            <a:off x="907200" y="2452680"/>
            <a:ext cx="10508040" cy="9133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1800" spc="-1" strike="noStrike">
                <a:solidFill>
                  <a:srgbClr val="ffffff"/>
                </a:solidFill>
                <a:latin typeface="Arial"/>
                <a:ea typeface="DejaVu Sans"/>
              </a:rPr>
              <a:t>URLs have three parts: the protocol</a:t>
            </a:r>
            <a:r>
              <a:rPr b="0" lang="pl-PL" sz="1800" spc="-1" strike="noStrike">
                <a:solidFill>
                  <a:srgbClr val="ffffff"/>
                </a:solidFill>
                <a:latin typeface="Arial"/>
                <a:ea typeface="DejaVu Sans"/>
              </a:rPr>
              <a:t> </a:t>
            </a:r>
            <a:r>
              <a:rPr b="0" lang="en-US" sz="1800" spc="-1" strike="noStrike">
                <a:solidFill>
                  <a:srgbClr val="ffffff"/>
                </a:solidFill>
                <a:latin typeface="Arial"/>
                <a:ea typeface="DejaVu Sans"/>
              </a:rPr>
              <a:t>(also known as the </a:t>
            </a:r>
            <a:r>
              <a:rPr b="1" lang="en-US" sz="1800" spc="-1" strike="noStrike">
                <a:solidFill>
                  <a:srgbClr val="ffffff"/>
                </a:solidFill>
                <a:latin typeface="Arial"/>
                <a:ea typeface="DejaVu Sans"/>
              </a:rPr>
              <a:t>scheme</a:t>
            </a:r>
            <a:r>
              <a:rPr b="0" lang="en-US" sz="1800" spc="-1" strike="noStrike">
                <a:solidFill>
                  <a:srgbClr val="ffffff"/>
                </a:solidFill>
                <a:latin typeface="Arial"/>
                <a:ea typeface="DejaVu Sans"/>
              </a:rPr>
              <a:t>), the DNS name of the machine on which the page</a:t>
            </a:r>
            <a:r>
              <a:rPr b="0" lang="pl-PL" sz="1800" spc="-1" strike="noStrike">
                <a:solidFill>
                  <a:srgbClr val="ffffff"/>
                </a:solidFill>
                <a:latin typeface="Arial"/>
                <a:ea typeface="DejaVu Sans"/>
              </a:rPr>
              <a:t> </a:t>
            </a:r>
            <a:r>
              <a:rPr b="0" lang="en-US" sz="1800" spc="-1" strike="noStrike">
                <a:solidFill>
                  <a:srgbClr val="ffffff"/>
                </a:solidFill>
                <a:latin typeface="Arial"/>
                <a:ea typeface="DejaVu Sans"/>
              </a:rPr>
              <a:t>is located, and the path uniquely indicating the specific page (a file to read or program</a:t>
            </a:r>
            <a:r>
              <a:rPr b="0" lang="pl-PL" sz="1800" spc="-1" strike="noStrike">
                <a:solidFill>
                  <a:srgbClr val="ffffff"/>
                </a:solidFill>
                <a:latin typeface="Arial"/>
                <a:ea typeface="DejaVu Sans"/>
              </a:rPr>
              <a:t> </a:t>
            </a:r>
            <a:r>
              <a:rPr b="0" lang="en-US" sz="1800" spc="-1" strike="noStrike">
                <a:solidFill>
                  <a:srgbClr val="ffffff"/>
                </a:solidFill>
                <a:latin typeface="Arial"/>
                <a:ea typeface="DejaVu Sans"/>
              </a:rPr>
              <a:t>to run on the machine).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CustomShape 1"/>
          <p:cNvSpPr/>
          <p:nvPr/>
        </p:nvSpPr>
        <p:spPr>
          <a:xfrm>
            <a:off x="457200" y="384120"/>
            <a:ext cx="11277360" cy="4564800"/>
          </a:xfrm>
          <a:prstGeom prst="rect">
            <a:avLst/>
          </a:prstGeom>
          <a:noFill/>
          <a:ln>
            <a:noFill/>
          </a:ln>
        </p:spPr>
        <p:style>
          <a:lnRef idx="0"/>
          <a:fillRef idx="0"/>
          <a:effectRef idx="0"/>
          <a:fontRef idx="minor"/>
        </p:style>
        <p:txBody>
          <a:bodyPr lIns="90000" rIns="90000" tIns="45000" bIns="45000">
            <a:noAutofit/>
          </a:bodyPr>
          <a:p>
            <a:pPr algn="just">
              <a:lnSpc>
                <a:spcPct val="150000"/>
              </a:lnSpc>
            </a:pPr>
            <a:r>
              <a:rPr b="0" lang="en-US" sz="1800" spc="-1" strike="noStrike">
                <a:solidFill>
                  <a:srgbClr val="ffffff"/>
                </a:solidFill>
                <a:latin typeface="Arial"/>
                <a:ea typeface="DejaVu Sans"/>
              </a:rPr>
              <a:t>1. The browser determines the URL (by seeing what was selected).</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2. The browser asks DNS for the IP address of the server www.cs.washington.edu.</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3. DNS replies with 128.208.3.88.</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4. The browser makes a TCP connection to 128.208.3.88 on port 80, the well-known port for the HTTP protocol.</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5. It sends over an HTTP request asking for the page /index.html.</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6. The www.cs.washington.edu server sends the page as an HTTP response, for example, by sending the file /index.html.</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7. If the page includes URLs that are needed for display, the browser fetches the other URLs using the same process. In this case, the URLs include multiple embedded images also fetched from www.cs.washington.edu, an embedded video from youtube.com, and a script from google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analytics.com.</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8. The browser displays the page /index.html as it appears.</a:t>
            </a:r>
            <a:endParaRPr b="0" lang="en-US" sz="1800" spc="-1" strike="noStrike">
              <a:latin typeface="Arial"/>
            </a:endParaRPr>
          </a:p>
          <a:p>
            <a:pPr algn="just">
              <a:lnSpc>
                <a:spcPct val="150000"/>
              </a:lnSpc>
            </a:pPr>
            <a:r>
              <a:rPr b="0" lang="en-US" sz="1800" spc="-1" strike="noStrike">
                <a:solidFill>
                  <a:srgbClr val="ffffff"/>
                </a:solidFill>
                <a:latin typeface="Arial"/>
                <a:ea typeface="DejaVu Sans"/>
              </a:rPr>
              <a:t>9. The TCP connections are released if there are no other requests to</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the same servers for a short period.</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CustomShape 1"/>
          <p:cNvSpPr/>
          <p:nvPr/>
        </p:nvSpPr>
        <p:spPr>
          <a:xfrm>
            <a:off x="4375080" y="1230480"/>
            <a:ext cx="7399080" cy="327420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1" lang="en-US" sz="1800" spc="-1" strike="noStrike">
                <a:solidFill>
                  <a:srgbClr val="ffffff"/>
                </a:solidFill>
                <a:latin typeface="Arial"/>
                <a:ea typeface="DejaVu Sans"/>
              </a:rPr>
              <a:t>REST stands for Representational State Transfer, which is an architectural style rather</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than a strict protocol. REST is stateless; it has no idea of any current user state or</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history.</a:t>
            </a:r>
            <a:endParaRPr b="0" lang="en-US" sz="1800" spc="-1" strike="noStrike">
              <a:latin typeface="Arial"/>
            </a:endParaRPr>
          </a:p>
          <a:p>
            <a:pPr algn="just">
              <a:lnSpc>
                <a:spcPct val="100000"/>
              </a:lnSpc>
            </a:pPr>
            <a:endParaRPr b="0" lang="en-US" sz="1800" spc="-1" strike="noStrike">
              <a:latin typeface="Arial"/>
            </a:endParaRPr>
          </a:p>
          <a:p>
            <a:pPr marL="285840" indent="-285480" algn="just">
              <a:lnSpc>
                <a:spcPct val="100000"/>
              </a:lnSpc>
              <a:buClr>
                <a:srgbClr val="ffffff"/>
              </a:buClr>
              <a:buFont typeface="Arial"/>
              <a:buChar char="•"/>
            </a:pPr>
            <a:r>
              <a:rPr b="1" lang="en-US" sz="1800" spc="-1" strike="noStrike">
                <a:solidFill>
                  <a:srgbClr val="ffffff"/>
                </a:solidFill>
                <a:latin typeface="Arial"/>
                <a:ea typeface="DejaVu Sans"/>
              </a:rPr>
              <a:t>API is an abbreviation for application program interface, which enables applications</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to talk to one another. In the case of the web, an API is normally a set of URLs that</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respond with data when called in the correct manner with the correct information.</a:t>
            </a:r>
            <a:endParaRPr b="0" lang="en-US" sz="1800" spc="-1" strike="noStrike">
              <a:latin typeface="Arial"/>
            </a:endParaRPr>
          </a:p>
          <a:p>
            <a:pPr algn="just">
              <a:lnSpc>
                <a:spcPct val="100000"/>
              </a:lnSpc>
            </a:pPr>
            <a:endParaRPr b="0" lang="en-US" sz="1800" spc="-1" strike="noStrike">
              <a:latin typeface="Arial"/>
            </a:endParaRPr>
          </a:p>
          <a:p>
            <a:pPr marL="285840" indent="-285480" algn="just">
              <a:lnSpc>
                <a:spcPct val="100000"/>
              </a:lnSpc>
              <a:buClr>
                <a:srgbClr val="ffffff"/>
              </a:buClr>
              <a:buFont typeface="Arial"/>
              <a:buChar char="•"/>
            </a:pPr>
            <a:r>
              <a:rPr b="1" lang="en-US" sz="1800" spc="-1" strike="noStrike">
                <a:solidFill>
                  <a:srgbClr val="ffffff"/>
                </a:solidFill>
                <a:latin typeface="Arial"/>
                <a:ea typeface="DejaVu Sans"/>
              </a:rPr>
              <a:t>A REST API is a stateless interface to your application. In the case of the MEAN stack,</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the REST API is used to create a stateless interface to your database, enabling a way</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for other applications, such as an Angular SPA, to work with the data. In other words,</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you create a collection of structured URLs that return specific data when called</a:t>
            </a:r>
            <a:endParaRPr b="0" lang="en-US" sz="1800" spc="-1" strike="noStrike">
              <a:latin typeface="Arial"/>
            </a:endParaRPr>
          </a:p>
        </p:txBody>
      </p:sp>
      <p:pic>
        <p:nvPicPr>
          <p:cNvPr id="213" name="Рисунок 216" descr=""/>
          <p:cNvPicPr/>
          <p:nvPr/>
        </p:nvPicPr>
        <p:blipFill>
          <a:blip r:embed="rId1"/>
          <a:stretch/>
        </p:blipFill>
        <p:spPr>
          <a:xfrm>
            <a:off x="745560" y="1310400"/>
            <a:ext cx="3103920" cy="1789560"/>
          </a:xfrm>
          <a:prstGeom prst="rect">
            <a:avLst/>
          </a:prstGeom>
          <a:ln>
            <a:noFill/>
          </a:ln>
        </p:spPr>
      </p:pic>
      <p:sp>
        <p:nvSpPr>
          <p:cNvPr id="214" name="CustomShape 2"/>
          <p:cNvSpPr/>
          <p:nvPr/>
        </p:nvSpPr>
        <p:spPr>
          <a:xfrm>
            <a:off x="3111480" y="266040"/>
            <a:ext cx="596916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What is a REST API?</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Рисунок 210" descr=""/>
          <p:cNvPicPr/>
          <p:nvPr/>
        </p:nvPicPr>
        <p:blipFill>
          <a:blip r:embed="rId1"/>
          <a:stretch/>
        </p:blipFill>
        <p:spPr>
          <a:xfrm>
            <a:off x="856440" y="1475640"/>
            <a:ext cx="5190480" cy="2799720"/>
          </a:xfrm>
          <a:prstGeom prst="rect">
            <a:avLst/>
          </a:prstGeom>
          <a:ln>
            <a:noFill/>
          </a:ln>
        </p:spPr>
      </p:pic>
      <p:sp>
        <p:nvSpPr>
          <p:cNvPr id="216" name="CustomShape 1"/>
          <p:cNvSpPr/>
          <p:nvPr/>
        </p:nvSpPr>
        <p:spPr>
          <a:xfrm>
            <a:off x="6144840" y="1459080"/>
            <a:ext cx="5600160" cy="13582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MPA has a classical architecture, which means that each page of a website has to be completely reloaded upon the request to the server when updating data.</a:t>
            </a:r>
            <a:endParaRPr b="0" lang="en-US" sz="1800" spc="-1" strike="noStrike">
              <a:latin typeface="Arial"/>
            </a:endParaRPr>
          </a:p>
        </p:txBody>
      </p:sp>
      <p:sp>
        <p:nvSpPr>
          <p:cNvPr id="217" name="CustomShape 2"/>
          <p:cNvSpPr/>
          <p:nvPr/>
        </p:nvSpPr>
        <p:spPr>
          <a:xfrm>
            <a:off x="2635200" y="183960"/>
            <a:ext cx="6921000" cy="6645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Traditional Page Lifecycle</a:t>
            </a:r>
            <a:endParaRPr b="0" lang="en-US" sz="4000" spc="-1" strike="noStrike">
              <a:latin typeface="Arial"/>
            </a:endParaRPr>
          </a:p>
          <a:p>
            <a:pPr algn="ctr">
              <a:lnSpc>
                <a:spcPct val="100000"/>
              </a:lnSpc>
            </a:pP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8" name="Рисунок 213" descr=""/>
          <p:cNvPicPr/>
          <p:nvPr/>
        </p:nvPicPr>
        <p:blipFill>
          <a:blip r:embed="rId1"/>
          <a:stretch/>
        </p:blipFill>
        <p:spPr>
          <a:xfrm>
            <a:off x="1000440" y="1475640"/>
            <a:ext cx="5095080" cy="2751840"/>
          </a:xfrm>
          <a:prstGeom prst="rect">
            <a:avLst/>
          </a:prstGeom>
          <a:ln>
            <a:noFill/>
          </a:ln>
        </p:spPr>
      </p:pic>
      <p:sp>
        <p:nvSpPr>
          <p:cNvPr id="219" name="CustomShape 1"/>
          <p:cNvSpPr/>
          <p:nvPr/>
        </p:nvSpPr>
        <p:spPr>
          <a:xfrm>
            <a:off x="6280560" y="2519280"/>
            <a:ext cx="5747040" cy="664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SPA is created in the way to update only a portion of a content, which allows avoiding the full page reload.</a:t>
            </a:r>
            <a:endParaRPr b="0" lang="en-US" sz="1800" spc="-1" strike="noStrike">
              <a:latin typeface="Arial"/>
            </a:endParaRPr>
          </a:p>
        </p:txBody>
      </p:sp>
      <p:sp>
        <p:nvSpPr>
          <p:cNvPr id="220" name="CustomShape 2"/>
          <p:cNvSpPr/>
          <p:nvPr/>
        </p:nvSpPr>
        <p:spPr>
          <a:xfrm>
            <a:off x="3057480" y="338760"/>
            <a:ext cx="6076800" cy="6645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SPA Lifecycle</a:t>
            </a:r>
            <a:endParaRPr b="0" lang="en-US" sz="4000" spc="-1" strike="noStrike">
              <a:latin typeface="Arial"/>
            </a:endParaRPr>
          </a:p>
          <a:p>
            <a:pPr algn="ctr">
              <a:lnSpc>
                <a:spcPct val="100000"/>
              </a:lnSpc>
            </a:pP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1" name="Рисунок 217" descr=""/>
          <p:cNvPicPr/>
          <p:nvPr/>
        </p:nvPicPr>
        <p:blipFill>
          <a:blip r:embed="rId1"/>
          <a:stretch/>
        </p:blipFill>
        <p:spPr>
          <a:xfrm>
            <a:off x="1473480" y="1043640"/>
            <a:ext cx="8711280" cy="4770000"/>
          </a:xfrm>
          <a:prstGeom prst="rect">
            <a:avLst/>
          </a:prstGeom>
          <a:ln>
            <a:noFill/>
          </a:ln>
        </p:spPr>
      </p:pic>
      <p:sp>
        <p:nvSpPr>
          <p:cNvPr id="222" name="CustomShape 1"/>
          <p:cNvSpPr/>
          <p:nvPr/>
        </p:nvSpPr>
        <p:spPr>
          <a:xfrm>
            <a:off x="3057480" y="254520"/>
            <a:ext cx="6076800" cy="6645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SPA vs MPA</a:t>
            </a:r>
            <a:endParaRPr b="0" lang="en-US" sz="4000" spc="-1" strike="noStrike">
              <a:latin typeface="Arial"/>
            </a:endParaRPr>
          </a:p>
          <a:p>
            <a:pPr algn="ctr">
              <a:lnSpc>
                <a:spcPct val="100000"/>
              </a:lnSpc>
            </a:pP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3" name="Рисунок 218" descr=""/>
          <p:cNvPicPr/>
          <p:nvPr/>
        </p:nvPicPr>
        <p:blipFill>
          <a:blip r:embed="rId1"/>
          <a:stretch/>
        </p:blipFill>
        <p:spPr>
          <a:xfrm>
            <a:off x="480960" y="921600"/>
            <a:ext cx="6981120" cy="3523680"/>
          </a:xfrm>
          <a:prstGeom prst="rect">
            <a:avLst/>
          </a:prstGeom>
          <a:ln>
            <a:noFill/>
          </a:ln>
        </p:spPr>
      </p:pic>
      <p:sp>
        <p:nvSpPr>
          <p:cNvPr id="224" name="CustomShape 1"/>
          <p:cNvSpPr/>
          <p:nvPr/>
        </p:nvSpPr>
        <p:spPr>
          <a:xfrm>
            <a:off x="7663680" y="921600"/>
            <a:ext cx="4194720" cy="35236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The monolithic architecture is considered to be a traditional way of building applications. A monolithic application is built as a single and indivisible unit. Usually, such a solution comprises a client-side user interface, a server side-application, and a database. It is unified and all the functions are managed and served in one place.</a:t>
            </a:r>
            <a:endParaRPr b="0" lang="en-US" sz="1800" spc="-1" strike="noStrike">
              <a:latin typeface="Arial"/>
            </a:endParaRPr>
          </a:p>
        </p:txBody>
      </p:sp>
      <p:sp>
        <p:nvSpPr>
          <p:cNvPr id="225" name="CustomShape 2"/>
          <p:cNvSpPr/>
          <p:nvPr/>
        </p:nvSpPr>
        <p:spPr>
          <a:xfrm>
            <a:off x="678240" y="4749480"/>
            <a:ext cx="10834920" cy="118692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Normally, monolithic applications have one large code base and lack modularity. If developers want to update or change something, they access the same code base. So, they make changes in the whole stack at once.</a:t>
            </a:r>
            <a:endParaRPr b="0" lang="en-US" sz="1800" spc="-1" strike="noStrike">
              <a:latin typeface="Arial"/>
            </a:endParaRPr>
          </a:p>
        </p:txBody>
      </p:sp>
      <p:sp>
        <p:nvSpPr>
          <p:cNvPr id="226" name="CustomShape 3"/>
          <p:cNvSpPr/>
          <p:nvPr/>
        </p:nvSpPr>
        <p:spPr>
          <a:xfrm>
            <a:off x="-433440" y="256320"/>
            <a:ext cx="6076800" cy="6645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The server side</a:t>
            </a:r>
            <a:endParaRPr b="0" lang="en-US" sz="4000" spc="-1" strike="noStrike">
              <a:latin typeface="Arial"/>
            </a:endParaRPr>
          </a:p>
          <a:p>
            <a:pPr algn="ctr">
              <a:lnSpc>
                <a:spcPct val="100000"/>
              </a:lnSpc>
            </a:pP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7" name="Рисунок 221" descr=""/>
          <p:cNvPicPr/>
          <p:nvPr/>
        </p:nvPicPr>
        <p:blipFill>
          <a:blip r:embed="rId1"/>
          <a:stretch/>
        </p:blipFill>
        <p:spPr>
          <a:xfrm>
            <a:off x="606960" y="1376280"/>
            <a:ext cx="3961800" cy="4380840"/>
          </a:xfrm>
          <a:prstGeom prst="rect">
            <a:avLst/>
          </a:prstGeom>
          <a:ln>
            <a:noFill/>
          </a:ln>
        </p:spPr>
      </p:pic>
      <p:sp>
        <p:nvSpPr>
          <p:cNvPr id="228" name="CustomShape 1"/>
          <p:cNvSpPr/>
          <p:nvPr/>
        </p:nvSpPr>
        <p:spPr>
          <a:xfrm>
            <a:off x="4912560" y="1376280"/>
            <a:ext cx="6779880" cy="147924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Less cross-cutting concerns. Cross-cutting concerns are the concerns that affect the whole application such as logging, handling, caching, and performance monitoring. In a monolithic application, this area of functionality concerns only one application so it is easier to handle it.</a:t>
            </a:r>
            <a:endParaRPr b="0" lang="en-US" sz="1800" spc="-1" strike="noStrike">
              <a:latin typeface="Arial"/>
            </a:endParaRPr>
          </a:p>
        </p:txBody>
      </p:sp>
      <p:sp>
        <p:nvSpPr>
          <p:cNvPr id="229" name="CustomShape 2"/>
          <p:cNvSpPr/>
          <p:nvPr/>
        </p:nvSpPr>
        <p:spPr>
          <a:xfrm>
            <a:off x="4912560" y="2909160"/>
            <a:ext cx="6779880" cy="6573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Easier debugging and testing. In contrast to the microservices architecture, monolithic applications are much easier to debug and test. Since a monolithic app is a single indivisible unit, you can run end-to-end testing much faster.</a:t>
            </a:r>
            <a:endParaRPr b="0" lang="en-US" sz="1800" spc="-1" strike="noStrike">
              <a:latin typeface="Arial"/>
            </a:endParaRPr>
          </a:p>
        </p:txBody>
      </p:sp>
      <p:sp>
        <p:nvSpPr>
          <p:cNvPr id="230" name="CustomShape 3"/>
          <p:cNvSpPr/>
          <p:nvPr/>
        </p:nvSpPr>
        <p:spPr>
          <a:xfrm>
            <a:off x="4912560" y="4206240"/>
            <a:ext cx="6597000" cy="11710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Simple to deploy. Another advantage associated with the simplicity of monolithic apps is easier deployment. When it comes to monolithic applications, you do not have to handle many deployments – just one file or directory.</a:t>
            </a:r>
            <a:endParaRPr b="0" lang="en-US" sz="1800" spc="-1" strike="noStrike">
              <a:latin typeface="Arial"/>
            </a:endParaRPr>
          </a:p>
        </p:txBody>
      </p:sp>
      <p:sp>
        <p:nvSpPr>
          <p:cNvPr id="231" name="CustomShape 4"/>
          <p:cNvSpPr/>
          <p:nvPr/>
        </p:nvSpPr>
        <p:spPr>
          <a:xfrm>
            <a:off x="2300040" y="404280"/>
            <a:ext cx="7591320" cy="6645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1" lang="en-US" sz="4000" spc="-1" strike="noStrike">
                <a:solidFill>
                  <a:srgbClr val="ffffff"/>
                </a:solidFill>
                <a:latin typeface="Arial"/>
                <a:ea typeface="DejaVu Sans"/>
              </a:rPr>
              <a:t>The monolithic Architecture</a:t>
            </a:r>
            <a:endParaRPr b="0" lang="en-US" sz="4000" spc="-1" strike="noStrike">
              <a:latin typeface="Arial"/>
            </a:endParaRPr>
          </a:p>
          <a:p>
            <a:pPr algn="ctr">
              <a:lnSpc>
                <a:spcPct val="100000"/>
              </a:lnSpc>
            </a:pP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2" name="Рисунок 225" descr=""/>
          <p:cNvPicPr/>
          <p:nvPr/>
        </p:nvPicPr>
        <p:blipFill>
          <a:blip r:embed="rId1"/>
          <a:stretch/>
        </p:blipFill>
        <p:spPr>
          <a:xfrm>
            <a:off x="2172240" y="2205720"/>
            <a:ext cx="7019280" cy="4247280"/>
          </a:xfrm>
          <a:prstGeom prst="rect">
            <a:avLst/>
          </a:prstGeom>
          <a:ln>
            <a:noFill/>
          </a:ln>
        </p:spPr>
      </p:pic>
      <p:sp>
        <p:nvSpPr>
          <p:cNvPr id="233" name="CustomShape 1"/>
          <p:cNvSpPr/>
          <p:nvPr/>
        </p:nvSpPr>
        <p:spPr>
          <a:xfrm>
            <a:off x="690480" y="1199160"/>
            <a:ext cx="10810440" cy="100656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0" lang="en-US" sz="1800" spc="-1" strike="noStrike">
                <a:solidFill>
                  <a:srgbClr val="ffffff"/>
                </a:solidFill>
                <a:latin typeface="Arial"/>
                <a:ea typeface="DejaVu Sans"/>
              </a:rPr>
              <a:t>In short, the microservice architectural style is an approach to developing a single application as a suite of small services, each running in its own process and communicating with lightweight mechanisms, often an HTTP resource API.</a:t>
            </a:r>
            <a:endParaRPr b="0" lang="en-US" sz="1800" spc="-1" strike="noStrike">
              <a:latin typeface="Arial"/>
            </a:endParaRPr>
          </a:p>
          <a:p>
            <a:pPr algn="just">
              <a:lnSpc>
                <a:spcPct val="100000"/>
              </a:lnSpc>
            </a:pPr>
            <a:endParaRPr b="0" lang="en-US" sz="1800" spc="-1" strike="noStrike">
              <a:latin typeface="Arial"/>
            </a:endParaRPr>
          </a:p>
        </p:txBody>
      </p:sp>
      <p:sp>
        <p:nvSpPr>
          <p:cNvPr id="234" name="CustomShape 2"/>
          <p:cNvSpPr/>
          <p:nvPr/>
        </p:nvSpPr>
        <p:spPr>
          <a:xfrm>
            <a:off x="2172240" y="404640"/>
            <a:ext cx="7846560" cy="69984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4000" spc="-1" strike="noStrike">
                <a:solidFill>
                  <a:srgbClr val="ffffff"/>
                </a:solidFill>
                <a:latin typeface="Arial"/>
                <a:ea typeface="DejaVu Sans"/>
              </a:rPr>
              <a:t>Microservice Architecture</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CustomShape 1"/>
          <p:cNvSpPr/>
          <p:nvPr/>
        </p:nvSpPr>
        <p:spPr>
          <a:xfrm>
            <a:off x="685800" y="685800"/>
            <a:ext cx="10816560" cy="681840"/>
          </a:xfrm>
          <a:prstGeom prst="rect">
            <a:avLst/>
          </a:prstGeom>
          <a:noFill/>
          <a:ln>
            <a:noFill/>
          </a:ln>
        </p:spPr>
        <p:style>
          <a:lnRef idx="0"/>
          <a:fillRef idx="0"/>
          <a:effectRef idx="0"/>
          <a:fontRef idx="minor"/>
        </p:style>
      </p:sp>
      <p:sp>
        <p:nvSpPr>
          <p:cNvPr id="236" name="CustomShape 2"/>
          <p:cNvSpPr/>
          <p:nvPr/>
        </p:nvSpPr>
        <p:spPr>
          <a:xfrm>
            <a:off x="685800" y="2057400"/>
            <a:ext cx="10816560" cy="3425040"/>
          </a:xfrm>
          <a:prstGeom prst="rect">
            <a:avLst/>
          </a:prstGeom>
          <a:noFill/>
          <a:ln>
            <a:noFill/>
          </a:ln>
        </p:spPr>
        <p:style>
          <a:lnRef idx="0"/>
          <a:fillRef idx="0"/>
          <a:effectRef idx="0"/>
          <a:fontRef idx="minor"/>
        </p:style>
      </p:sp>
      <p:sp>
        <p:nvSpPr>
          <p:cNvPr id="237" name="CustomShape 3"/>
          <p:cNvSpPr/>
          <p:nvPr/>
        </p:nvSpPr>
        <p:spPr>
          <a:xfrm>
            <a:off x="779040" y="82080"/>
            <a:ext cx="10558440" cy="73980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Key Benefits</a:t>
            </a:r>
            <a:endParaRPr b="0" lang="en-US" sz="4400" spc="-1" strike="noStrike">
              <a:latin typeface="Arial"/>
            </a:endParaRPr>
          </a:p>
        </p:txBody>
      </p:sp>
      <p:sp>
        <p:nvSpPr>
          <p:cNvPr id="238" name="CustomShape 4"/>
          <p:cNvSpPr/>
          <p:nvPr/>
        </p:nvSpPr>
        <p:spPr>
          <a:xfrm>
            <a:off x="565920" y="894960"/>
            <a:ext cx="10936440" cy="116208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With a system composed of multiple, collaborating services, we can decide to use different technologies inside each one. This allows us to pick the right tool for each job, rather than having to select a more standardized, one-size-fits-all approach that often ends up being the lowest common denominator.</a:t>
            </a:r>
            <a:endParaRPr b="0" lang="en-US" sz="1800" spc="-1" strike="noStrike">
              <a:latin typeface="Arial"/>
            </a:endParaRPr>
          </a:p>
        </p:txBody>
      </p:sp>
      <p:pic>
        <p:nvPicPr>
          <p:cNvPr id="239" name="Рисунок 254" descr=""/>
          <p:cNvPicPr/>
          <p:nvPr/>
        </p:nvPicPr>
        <p:blipFill>
          <a:blip r:embed="rId1"/>
          <a:stretch/>
        </p:blipFill>
        <p:spPr>
          <a:xfrm>
            <a:off x="2572560" y="2403720"/>
            <a:ext cx="6923160" cy="273240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CustomShape 1"/>
          <p:cNvSpPr/>
          <p:nvPr/>
        </p:nvSpPr>
        <p:spPr>
          <a:xfrm>
            <a:off x="685800" y="685800"/>
            <a:ext cx="10816560" cy="681840"/>
          </a:xfrm>
          <a:prstGeom prst="rect">
            <a:avLst/>
          </a:prstGeom>
          <a:noFill/>
          <a:ln>
            <a:noFill/>
          </a:ln>
        </p:spPr>
        <p:style>
          <a:lnRef idx="0"/>
          <a:fillRef idx="0"/>
          <a:effectRef idx="0"/>
          <a:fontRef idx="minor"/>
        </p:style>
      </p:sp>
      <p:sp>
        <p:nvSpPr>
          <p:cNvPr id="241" name="CustomShape 2"/>
          <p:cNvSpPr/>
          <p:nvPr/>
        </p:nvSpPr>
        <p:spPr>
          <a:xfrm>
            <a:off x="685800" y="2057400"/>
            <a:ext cx="10816560" cy="3425040"/>
          </a:xfrm>
          <a:prstGeom prst="rect">
            <a:avLst/>
          </a:prstGeom>
          <a:noFill/>
          <a:ln>
            <a:noFill/>
          </a:ln>
        </p:spPr>
        <p:style>
          <a:lnRef idx="0"/>
          <a:fillRef idx="0"/>
          <a:effectRef idx="0"/>
          <a:fontRef idx="minor"/>
        </p:style>
      </p:sp>
      <p:sp>
        <p:nvSpPr>
          <p:cNvPr id="242" name="CustomShape 3"/>
          <p:cNvSpPr/>
          <p:nvPr/>
        </p:nvSpPr>
        <p:spPr>
          <a:xfrm>
            <a:off x="365760" y="1605240"/>
            <a:ext cx="11136600" cy="79812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If one component of a system fails, but that failure doesn’t cascade, you can isolate the problem and the rest of the system can carry on working.</a:t>
            </a:r>
            <a:endParaRPr b="0" lang="en-US" sz="1800" spc="-1" strike="noStrike">
              <a:latin typeface="Arial"/>
            </a:endParaRPr>
          </a:p>
        </p:txBody>
      </p:sp>
      <p:sp>
        <p:nvSpPr>
          <p:cNvPr id="243" name="CustomShape 4"/>
          <p:cNvSpPr/>
          <p:nvPr/>
        </p:nvSpPr>
        <p:spPr>
          <a:xfrm>
            <a:off x="5599440" y="2959200"/>
            <a:ext cx="5945760" cy="263016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With a large, monolithic service, we have to scale everything together. One small part of our overall system is constrained in performance, but if that behavior is locked up in a giant monolithic application, we have to handle scaling everything as a piece. With smaller services, we can just scale those services that need scaling, allowing us to run other parts of the system on smaller, less powerful hardware</a:t>
            </a:r>
            <a:endParaRPr b="0" lang="en-US" sz="1800" spc="-1" strike="noStrike">
              <a:latin typeface="Arial"/>
            </a:endParaRPr>
          </a:p>
        </p:txBody>
      </p:sp>
      <p:pic>
        <p:nvPicPr>
          <p:cNvPr id="244" name="Рисунок 262" descr=""/>
          <p:cNvPicPr/>
          <p:nvPr/>
        </p:nvPicPr>
        <p:blipFill>
          <a:blip r:embed="rId1"/>
          <a:stretch/>
        </p:blipFill>
        <p:spPr>
          <a:xfrm>
            <a:off x="642960" y="2912040"/>
            <a:ext cx="4913280" cy="2867760"/>
          </a:xfrm>
          <a:prstGeom prst="rect">
            <a:avLst/>
          </a:prstGeom>
          <a:ln>
            <a:noFill/>
          </a:ln>
        </p:spPr>
      </p:pic>
      <p:sp>
        <p:nvSpPr>
          <p:cNvPr id="245" name="CustomShape 5"/>
          <p:cNvSpPr/>
          <p:nvPr/>
        </p:nvSpPr>
        <p:spPr>
          <a:xfrm>
            <a:off x="651600" y="1091880"/>
            <a:ext cx="123120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800" spc="-1" strike="noStrike">
                <a:solidFill>
                  <a:srgbClr val="ffffff"/>
                </a:solidFill>
                <a:latin typeface="Arial"/>
                <a:ea typeface="DejaVu Sans"/>
              </a:rPr>
              <a:t>Resilience</a:t>
            </a:r>
            <a:endParaRPr b="0" lang="en-US" sz="1800" spc="-1" strike="noStrike">
              <a:latin typeface="Arial"/>
            </a:endParaRPr>
          </a:p>
        </p:txBody>
      </p:sp>
      <p:sp>
        <p:nvSpPr>
          <p:cNvPr id="246" name="CustomShape 6"/>
          <p:cNvSpPr/>
          <p:nvPr/>
        </p:nvSpPr>
        <p:spPr>
          <a:xfrm>
            <a:off x="629640" y="2430720"/>
            <a:ext cx="92772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800" spc="-1" strike="noStrike">
                <a:solidFill>
                  <a:srgbClr val="ffffff"/>
                </a:solidFill>
                <a:latin typeface="Arial"/>
                <a:ea typeface="DejaVu Sans"/>
              </a:rPr>
              <a:t>Scaling</a:t>
            </a:r>
            <a:endParaRPr b="0" lang="en-US" sz="1800" spc="-1" strike="noStrike">
              <a:latin typeface="Arial"/>
            </a:endParaRPr>
          </a:p>
        </p:txBody>
      </p:sp>
      <p:sp>
        <p:nvSpPr>
          <p:cNvPr id="247" name="CustomShape 7"/>
          <p:cNvSpPr/>
          <p:nvPr/>
        </p:nvSpPr>
        <p:spPr>
          <a:xfrm>
            <a:off x="815040" y="196560"/>
            <a:ext cx="10558440" cy="73980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Key Benefits</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CustomShape 1"/>
          <p:cNvSpPr/>
          <p:nvPr/>
        </p:nvSpPr>
        <p:spPr>
          <a:xfrm>
            <a:off x="685800" y="685800"/>
            <a:ext cx="10816560" cy="681840"/>
          </a:xfrm>
          <a:prstGeom prst="rect">
            <a:avLst/>
          </a:prstGeom>
          <a:noFill/>
          <a:ln>
            <a:noFill/>
          </a:ln>
        </p:spPr>
        <p:style>
          <a:lnRef idx="0"/>
          <a:fillRef idx="0"/>
          <a:effectRef idx="0"/>
          <a:fontRef idx="minor"/>
        </p:style>
      </p:sp>
      <p:sp>
        <p:nvSpPr>
          <p:cNvPr id="249" name="CustomShape 2"/>
          <p:cNvSpPr/>
          <p:nvPr/>
        </p:nvSpPr>
        <p:spPr>
          <a:xfrm>
            <a:off x="735840" y="2481120"/>
            <a:ext cx="10816560" cy="3425040"/>
          </a:xfrm>
          <a:prstGeom prst="rect">
            <a:avLst/>
          </a:prstGeom>
          <a:noFill/>
          <a:ln>
            <a:noFill/>
          </a:ln>
        </p:spPr>
        <p:style>
          <a:lnRef idx="0"/>
          <a:fillRef idx="0"/>
          <a:effectRef idx="0"/>
          <a:fontRef idx="minor"/>
        </p:style>
      </p:sp>
      <p:sp>
        <p:nvSpPr>
          <p:cNvPr id="250" name="CustomShape 3"/>
          <p:cNvSpPr/>
          <p:nvPr/>
        </p:nvSpPr>
        <p:spPr>
          <a:xfrm>
            <a:off x="731520" y="1127160"/>
            <a:ext cx="3947400" cy="36540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1" lang="en-US" sz="1800" spc="-1" strike="noStrike">
                <a:solidFill>
                  <a:srgbClr val="ffffff"/>
                </a:solidFill>
                <a:latin typeface="Arial"/>
                <a:ea typeface="DejaVu Sans"/>
              </a:rPr>
              <a:t>Ease of Deployment</a:t>
            </a:r>
            <a:endParaRPr b="0" lang="en-US" sz="1800" spc="-1" strike="noStrike">
              <a:latin typeface="Arial"/>
            </a:endParaRPr>
          </a:p>
        </p:txBody>
      </p:sp>
      <p:sp>
        <p:nvSpPr>
          <p:cNvPr id="251" name="CustomShape 4"/>
          <p:cNvSpPr/>
          <p:nvPr/>
        </p:nvSpPr>
        <p:spPr>
          <a:xfrm>
            <a:off x="731520" y="1623600"/>
            <a:ext cx="10573560" cy="60156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1800" spc="-1" strike="noStrike">
                <a:solidFill>
                  <a:srgbClr val="ffffff"/>
                </a:solidFill>
                <a:latin typeface="Arial"/>
                <a:ea typeface="DejaVu Sans"/>
              </a:rPr>
              <a:t>A one-line change to a million-line-long monolithic application requires the whole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application to be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deployed in order to release the change.</a:t>
            </a:r>
            <a:endParaRPr b="0" lang="en-US" sz="1800" spc="-1" strike="noStrike">
              <a:latin typeface="Arial"/>
            </a:endParaRPr>
          </a:p>
        </p:txBody>
      </p:sp>
      <p:sp>
        <p:nvSpPr>
          <p:cNvPr id="252" name="CustomShape 5"/>
          <p:cNvSpPr/>
          <p:nvPr/>
        </p:nvSpPr>
        <p:spPr>
          <a:xfrm>
            <a:off x="685800" y="2412360"/>
            <a:ext cx="3800520" cy="33048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1" lang="en-US" sz="1800" spc="-1" strike="noStrike">
                <a:solidFill>
                  <a:srgbClr val="ffffff"/>
                </a:solidFill>
                <a:latin typeface="Arial"/>
                <a:ea typeface="DejaVu Sans"/>
              </a:rPr>
              <a:t>Organizational Alignment</a:t>
            </a:r>
            <a:endParaRPr b="0" lang="en-US" sz="1800" spc="-1" strike="noStrike">
              <a:latin typeface="Arial"/>
            </a:endParaRPr>
          </a:p>
        </p:txBody>
      </p:sp>
      <p:sp>
        <p:nvSpPr>
          <p:cNvPr id="253" name="CustomShape 6"/>
          <p:cNvSpPr/>
          <p:nvPr/>
        </p:nvSpPr>
        <p:spPr>
          <a:xfrm>
            <a:off x="685800" y="2951640"/>
            <a:ext cx="10816560" cy="85752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0" lang="en-US" sz="1800" spc="-1" strike="noStrike">
                <a:solidFill>
                  <a:srgbClr val="ffffff"/>
                </a:solidFill>
                <a:latin typeface="Arial"/>
                <a:ea typeface="DejaVu Sans"/>
              </a:rPr>
              <a:t>Microservices allow us to better align our architecture to our organization, helping us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minimize the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number of people working on any one codebase to hit the sweet spot of team</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size and productivity.</a:t>
            </a:r>
            <a:endParaRPr b="0" lang="en-US" sz="1800" spc="-1" strike="noStrike">
              <a:latin typeface="Arial"/>
            </a:endParaRPr>
          </a:p>
        </p:txBody>
      </p:sp>
      <p:sp>
        <p:nvSpPr>
          <p:cNvPr id="254" name="CustomShape 7"/>
          <p:cNvSpPr/>
          <p:nvPr/>
        </p:nvSpPr>
        <p:spPr>
          <a:xfrm>
            <a:off x="2631960" y="256680"/>
            <a:ext cx="6090840" cy="638640"/>
          </a:xfrm>
          <a:prstGeom prst="rect">
            <a:avLst/>
          </a:prstGeom>
          <a:noFill/>
          <a:ln>
            <a:noFill/>
          </a:ln>
        </p:spPr>
        <p:style>
          <a:lnRef idx="0"/>
          <a:fillRef idx="0"/>
          <a:effectRef idx="0"/>
          <a:fontRef idx="minor"/>
        </p:style>
        <p:txBody>
          <a:bodyPr lIns="90000" rIns="90000" tIns="45000" bIns="45000">
            <a:spAutoFit/>
          </a:bodyPr>
          <a:p>
            <a:pPr algn="ctr">
              <a:lnSpc>
                <a:spcPct val="90000"/>
              </a:lnSpc>
            </a:pPr>
            <a:r>
              <a:rPr b="0" lang="en-US" sz="4000" spc="-1" strike="noStrike">
                <a:solidFill>
                  <a:srgbClr val="ffffff"/>
                </a:solidFill>
                <a:latin typeface="Proxima Nova Black"/>
                <a:ea typeface="DejaVu Sans"/>
              </a:rPr>
              <a:t>Key Benefits</a:t>
            </a:r>
            <a:endParaRPr b="0" lang="en-US" sz="4000" spc="-1" strike="noStrike">
              <a:latin typeface="Arial"/>
            </a:endParaRPr>
          </a:p>
        </p:txBody>
      </p:sp>
      <p:sp>
        <p:nvSpPr>
          <p:cNvPr id="255" name="CustomShape 8"/>
          <p:cNvSpPr/>
          <p:nvPr/>
        </p:nvSpPr>
        <p:spPr>
          <a:xfrm>
            <a:off x="685800" y="3845520"/>
            <a:ext cx="3800520" cy="44028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1" lang="en-US" sz="1800" spc="-1" strike="noStrike">
                <a:solidFill>
                  <a:srgbClr val="ffffff"/>
                </a:solidFill>
                <a:latin typeface="Arial"/>
                <a:ea typeface="DejaVu Sans"/>
              </a:rPr>
              <a:t>Optimizing for Replaceability</a:t>
            </a:r>
            <a:endParaRPr b="0" lang="en-US" sz="1800" spc="-1" strike="noStrike">
              <a:latin typeface="Arial"/>
            </a:endParaRPr>
          </a:p>
        </p:txBody>
      </p:sp>
      <p:sp>
        <p:nvSpPr>
          <p:cNvPr id="256" name="CustomShape 9"/>
          <p:cNvSpPr/>
          <p:nvPr/>
        </p:nvSpPr>
        <p:spPr>
          <a:xfrm>
            <a:off x="639360" y="4372560"/>
            <a:ext cx="11126160" cy="111348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0" lang="en-US" sz="1800" spc="-1" strike="noStrike">
                <a:solidFill>
                  <a:srgbClr val="ffffff"/>
                </a:solidFill>
                <a:latin typeface="Arial"/>
                <a:ea typeface="DejaVu Sans"/>
              </a:rPr>
              <a:t>Teams using microservice approaches are comfortable with completely rewriting services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when required,</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and just killing a service when it is no longer needed. When a codebase is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just a few hundred lines long, it is</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difficult for people to become emotionally attached to</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it, and the cost of replacing it is pretty small.</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CustomShape 1"/>
          <p:cNvSpPr/>
          <p:nvPr/>
        </p:nvSpPr>
        <p:spPr>
          <a:xfrm>
            <a:off x="685800" y="2057400"/>
            <a:ext cx="1977120" cy="681840"/>
          </a:xfrm>
          <a:prstGeom prst="rect">
            <a:avLst/>
          </a:prstGeom>
          <a:noFill/>
          <a:ln>
            <a:noFill/>
          </a:ln>
        </p:spPr>
        <p:style>
          <a:lnRef idx="0"/>
          <a:fillRef idx="0"/>
          <a:effectRef idx="0"/>
          <a:fontRef idx="minor"/>
        </p:style>
      </p:sp>
      <p:sp>
        <p:nvSpPr>
          <p:cNvPr id="258" name="CustomShape 2"/>
          <p:cNvSpPr/>
          <p:nvPr/>
        </p:nvSpPr>
        <p:spPr>
          <a:xfrm>
            <a:off x="2895480" y="2057400"/>
            <a:ext cx="1977120" cy="681840"/>
          </a:xfrm>
          <a:prstGeom prst="rect">
            <a:avLst/>
          </a:prstGeom>
          <a:noFill/>
          <a:ln>
            <a:noFill/>
          </a:ln>
        </p:spPr>
        <p:style>
          <a:lnRef idx="0"/>
          <a:fillRef idx="0"/>
          <a:effectRef idx="0"/>
          <a:fontRef idx="minor"/>
        </p:style>
      </p:sp>
      <p:sp>
        <p:nvSpPr>
          <p:cNvPr id="259" name="CustomShape 3"/>
          <p:cNvSpPr/>
          <p:nvPr/>
        </p:nvSpPr>
        <p:spPr>
          <a:xfrm>
            <a:off x="5105520" y="2057400"/>
            <a:ext cx="1977120" cy="681840"/>
          </a:xfrm>
          <a:prstGeom prst="rect">
            <a:avLst/>
          </a:prstGeom>
          <a:noFill/>
          <a:ln>
            <a:noFill/>
          </a:ln>
        </p:spPr>
        <p:style>
          <a:lnRef idx="0"/>
          <a:fillRef idx="0"/>
          <a:effectRef idx="0"/>
          <a:fontRef idx="minor"/>
        </p:style>
      </p:sp>
      <p:sp>
        <p:nvSpPr>
          <p:cNvPr id="260" name="CustomShape 4"/>
          <p:cNvSpPr/>
          <p:nvPr/>
        </p:nvSpPr>
        <p:spPr>
          <a:xfrm>
            <a:off x="7315200" y="2057400"/>
            <a:ext cx="1977120" cy="681840"/>
          </a:xfrm>
          <a:prstGeom prst="rect">
            <a:avLst/>
          </a:prstGeom>
          <a:noFill/>
          <a:ln>
            <a:noFill/>
          </a:ln>
        </p:spPr>
        <p:style>
          <a:lnRef idx="0"/>
          <a:fillRef idx="0"/>
          <a:effectRef idx="0"/>
          <a:fontRef idx="minor"/>
        </p:style>
      </p:sp>
      <p:sp>
        <p:nvSpPr>
          <p:cNvPr id="261" name="CustomShape 5"/>
          <p:cNvSpPr/>
          <p:nvPr/>
        </p:nvSpPr>
        <p:spPr>
          <a:xfrm>
            <a:off x="9524880" y="2057400"/>
            <a:ext cx="1977120" cy="681840"/>
          </a:xfrm>
          <a:prstGeom prst="rect">
            <a:avLst/>
          </a:prstGeom>
          <a:noFill/>
          <a:ln>
            <a:noFill/>
          </a:ln>
        </p:spPr>
        <p:style>
          <a:lnRef idx="0"/>
          <a:fillRef idx="0"/>
          <a:effectRef idx="0"/>
          <a:fontRef idx="minor"/>
        </p:style>
      </p:sp>
      <p:sp>
        <p:nvSpPr>
          <p:cNvPr id="262" name="CustomShape 6"/>
          <p:cNvSpPr/>
          <p:nvPr/>
        </p:nvSpPr>
        <p:spPr>
          <a:xfrm>
            <a:off x="685800" y="685800"/>
            <a:ext cx="10816560" cy="681840"/>
          </a:xfrm>
          <a:prstGeom prst="rect">
            <a:avLst/>
          </a:prstGeom>
          <a:noFill/>
          <a:ln>
            <a:noFill/>
          </a:ln>
        </p:spPr>
        <p:style>
          <a:lnRef idx="0"/>
          <a:fillRef idx="0"/>
          <a:effectRef idx="0"/>
          <a:fontRef idx="minor"/>
        </p:style>
      </p:sp>
      <p:sp>
        <p:nvSpPr>
          <p:cNvPr id="263" name="CustomShape 7"/>
          <p:cNvSpPr/>
          <p:nvPr/>
        </p:nvSpPr>
        <p:spPr>
          <a:xfrm>
            <a:off x="2141280" y="592920"/>
            <a:ext cx="7052400" cy="739800"/>
          </a:xfrm>
          <a:prstGeom prst="rect">
            <a:avLst/>
          </a:prstGeom>
          <a:noFill/>
          <a:ln>
            <a:noFill/>
          </a:ln>
        </p:spPr>
        <p:style>
          <a:lnRef idx="0"/>
          <a:fillRef idx="0"/>
          <a:effectRef idx="0"/>
          <a:fontRef idx="minor"/>
        </p:style>
      </p:sp>
      <p:sp>
        <p:nvSpPr>
          <p:cNvPr id="264" name="CustomShape 8"/>
          <p:cNvSpPr/>
          <p:nvPr/>
        </p:nvSpPr>
        <p:spPr>
          <a:xfrm>
            <a:off x="1519200" y="1744560"/>
            <a:ext cx="8296560" cy="1403640"/>
          </a:xfrm>
          <a:prstGeom prst="rect">
            <a:avLst/>
          </a:prstGeom>
          <a:noFill/>
          <a:ln>
            <a:noFill/>
          </a:ln>
        </p:spPr>
        <p:style>
          <a:lnRef idx="0"/>
          <a:fillRef idx="0"/>
          <a:effectRef idx="0"/>
          <a:fontRef idx="minor"/>
        </p:style>
      </p:sp>
      <p:sp>
        <p:nvSpPr>
          <p:cNvPr id="265" name="CustomShape 9"/>
          <p:cNvSpPr/>
          <p:nvPr/>
        </p:nvSpPr>
        <p:spPr>
          <a:xfrm>
            <a:off x="182880" y="4572000"/>
            <a:ext cx="10700280" cy="1463040"/>
          </a:xfrm>
          <a:prstGeom prst="rect">
            <a:avLst/>
          </a:prstGeom>
          <a:noFill/>
          <a:ln>
            <a:noFill/>
          </a:ln>
        </p:spPr>
        <p:style>
          <a:lnRef idx="0"/>
          <a:fillRef idx="0"/>
          <a:effectRef idx="0"/>
          <a:fontRef idx="minor"/>
        </p:style>
        <p:txBody>
          <a:bodyPr lIns="90000" rIns="90000" tIns="45000" bIns="45000">
            <a:noAutofit/>
          </a:bodyPr>
          <a:p>
            <a:pPr marL="285840" indent="-285480" algn="just">
              <a:lnSpc>
                <a:spcPct val="100000"/>
              </a:lnSpc>
              <a:buClr>
                <a:srgbClr val="ffffff"/>
              </a:buClr>
              <a:buFont typeface="Arial"/>
              <a:buChar char="•"/>
            </a:pPr>
            <a:r>
              <a:rPr b="0" lang="en-US" sz="1800" spc="-1" strike="noStrike">
                <a:solidFill>
                  <a:srgbClr val="ffffff"/>
                </a:solidFill>
                <a:latin typeface="Arial"/>
                <a:ea typeface="DejaVu Sans"/>
              </a:rPr>
              <a:t>But the main benefit of serverless is that you don’t do any server configuration,</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balancing, scaling</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basically, any kind of server management. The serverless provider</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manages all of that for you while also</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guaranteeing that if a large number of calls to</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your application occur at the same time, it will clone</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enough containers to handle all</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the calls, and each clone will be an exact copy of the first. If necessary,</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the provider will</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create thousands of clones. </a:t>
            </a:r>
            <a:endParaRPr b="0" lang="en-US" sz="1800" spc="-1" strike="noStrike">
              <a:latin typeface="Arial"/>
            </a:endParaRPr>
          </a:p>
        </p:txBody>
      </p:sp>
      <p:sp>
        <p:nvSpPr>
          <p:cNvPr id="266" name="CustomShape 10"/>
          <p:cNvSpPr/>
          <p:nvPr/>
        </p:nvSpPr>
        <p:spPr>
          <a:xfrm>
            <a:off x="248040" y="6217920"/>
            <a:ext cx="9901800" cy="601560"/>
          </a:xfrm>
          <a:prstGeom prst="rect">
            <a:avLst/>
          </a:prstGeom>
          <a:noFill/>
          <a:ln>
            <a:noFill/>
          </a:ln>
        </p:spPr>
        <p:style>
          <a:lnRef idx="0"/>
          <a:fillRef idx="0"/>
          <a:effectRef idx="0"/>
          <a:fontRef idx="minor"/>
        </p:style>
        <p:txBody>
          <a:bodyPr lIns="90000" rIns="90000" tIns="45000" bIns="45000">
            <a:noAutofit/>
          </a:bodyPr>
          <a:p>
            <a:pPr marL="285840" indent="-285480">
              <a:lnSpc>
                <a:spcPct val="100000"/>
              </a:lnSpc>
              <a:buClr>
                <a:srgbClr val="ffffff"/>
              </a:buClr>
              <a:buFont typeface="Arial"/>
              <a:buChar char="•"/>
            </a:pPr>
            <a:r>
              <a:rPr b="0" lang="en-US" sz="1800" spc="-1" strike="noStrike">
                <a:solidFill>
                  <a:srgbClr val="ffffff"/>
                </a:solidFill>
                <a:latin typeface="Arial"/>
                <a:ea typeface="DejaVu Sans"/>
              </a:rPr>
              <a:t>The compute container is event-driven, so it’s activated only when a</a:t>
            </a:r>
            <a:r>
              <a:rPr b="0" lang="uk-UA" sz="1800" spc="-1" strike="noStrike">
                <a:solidFill>
                  <a:srgbClr val="ffffff"/>
                </a:solidFill>
                <a:latin typeface="Arial"/>
                <a:ea typeface="DejaVu Sans"/>
              </a:rPr>
              <a:t> </a:t>
            </a:r>
            <a:r>
              <a:rPr b="0" lang="en-US" sz="1800" spc="-1" strike="noStrike">
                <a:solidFill>
                  <a:srgbClr val="ffffff"/>
                </a:solidFill>
                <a:latin typeface="Arial"/>
                <a:ea typeface="DejaVu Sans"/>
              </a:rPr>
              <a:t>certain event triggers.</a:t>
            </a:r>
            <a:endParaRPr b="0" lang="en-US" sz="1800" spc="-1" strike="noStrike">
              <a:latin typeface="Arial"/>
            </a:endParaRPr>
          </a:p>
        </p:txBody>
      </p:sp>
      <p:pic>
        <p:nvPicPr>
          <p:cNvPr id="267" name="" descr=""/>
          <p:cNvPicPr/>
          <p:nvPr/>
        </p:nvPicPr>
        <p:blipFill>
          <a:blip r:embed="rId1"/>
          <a:stretch/>
        </p:blipFill>
        <p:spPr>
          <a:xfrm>
            <a:off x="1371600" y="119880"/>
            <a:ext cx="8797680" cy="445212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CustomShape 1"/>
          <p:cNvSpPr/>
          <p:nvPr/>
        </p:nvSpPr>
        <p:spPr>
          <a:xfrm>
            <a:off x="1616400" y="640080"/>
            <a:ext cx="10816560" cy="681840"/>
          </a:xfrm>
          <a:prstGeom prst="rect">
            <a:avLst/>
          </a:prstGeom>
          <a:noFill/>
          <a:ln>
            <a:noFill/>
          </a:ln>
        </p:spPr>
        <p:style>
          <a:lnRef idx="0"/>
          <a:fillRef idx="0"/>
          <a:effectRef idx="0"/>
          <a:fontRef idx="minor"/>
        </p:style>
      </p:sp>
      <p:sp>
        <p:nvSpPr>
          <p:cNvPr id="269" name="CustomShape 2"/>
          <p:cNvSpPr/>
          <p:nvPr/>
        </p:nvSpPr>
        <p:spPr>
          <a:xfrm>
            <a:off x="274320" y="214560"/>
            <a:ext cx="1154052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Times-Bold"/>
                <a:ea typeface="DejaVu Sans"/>
              </a:rPr>
              <a:t>HTTP—The HyperText Transfer Protocol</a:t>
            </a:r>
            <a:endParaRPr b="0" lang="en-US" sz="4000" spc="-1" strike="noStrike">
              <a:latin typeface="Arial"/>
            </a:endParaRPr>
          </a:p>
        </p:txBody>
      </p:sp>
      <p:sp>
        <p:nvSpPr>
          <p:cNvPr id="270" name="CustomShape 3"/>
          <p:cNvSpPr/>
          <p:nvPr/>
        </p:nvSpPr>
        <p:spPr>
          <a:xfrm>
            <a:off x="951120" y="1155600"/>
            <a:ext cx="1062540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Times New Roman"/>
                <a:ea typeface="DejaVu Sans"/>
              </a:rPr>
              <a:t>HTTP is a simple request-response protocol that normally runs over TCP. It specifies what messages clients may send to servers and what responses they get back in return.</a:t>
            </a:r>
            <a:endParaRPr b="0" lang="en-US" sz="1800" spc="-1" strike="noStrike">
              <a:latin typeface="Arial"/>
            </a:endParaRPr>
          </a:p>
        </p:txBody>
      </p:sp>
      <p:sp>
        <p:nvSpPr>
          <p:cNvPr id="271" name="CustomShape 4"/>
          <p:cNvSpPr/>
          <p:nvPr/>
        </p:nvSpPr>
        <p:spPr>
          <a:xfrm>
            <a:off x="951120" y="1947960"/>
            <a:ext cx="62125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ffffff"/>
                </a:solidFill>
                <a:latin typeface="Times-Bold"/>
                <a:ea typeface="DejaVu Sans"/>
              </a:rPr>
              <a:t>Connections</a:t>
            </a:r>
            <a:endParaRPr b="0" lang="en-US" sz="1800" spc="-1" strike="noStrike">
              <a:latin typeface="Arial"/>
            </a:endParaRPr>
          </a:p>
        </p:txBody>
      </p:sp>
      <p:sp>
        <p:nvSpPr>
          <p:cNvPr id="272" name="CustomShape 5"/>
          <p:cNvSpPr/>
          <p:nvPr/>
        </p:nvSpPr>
        <p:spPr>
          <a:xfrm>
            <a:off x="951120" y="2343240"/>
            <a:ext cx="10816560" cy="14612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Times New Roman"/>
                <a:ea typeface="DejaVu Sans"/>
              </a:rPr>
              <a:t>The usual way for a browser to contact a server is to establish a TCP connection to port 80 on the server’s machine, although this procedure is not formally required. The value of using TCP is that neither browsers nor servers have to worry about how to handle long messages, reliability, or congestion control. All of these matters are handled by the TCP implementation.</a:t>
            </a:r>
            <a:endParaRPr b="0" lang="en-US" sz="1800" spc="-1" strike="noStrike">
              <a:latin typeface="Arial"/>
            </a:endParaRPr>
          </a:p>
        </p:txBody>
      </p:sp>
      <p:pic>
        <p:nvPicPr>
          <p:cNvPr id="273" name="Рисунок 2" descr=""/>
          <p:cNvPicPr/>
          <p:nvPr/>
        </p:nvPicPr>
        <p:blipFill>
          <a:blip r:embed="rId1"/>
          <a:stretch/>
        </p:blipFill>
        <p:spPr>
          <a:xfrm>
            <a:off x="3615480" y="3569760"/>
            <a:ext cx="5297040" cy="294552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CustomShape 1"/>
          <p:cNvSpPr/>
          <p:nvPr/>
        </p:nvSpPr>
        <p:spPr>
          <a:xfrm>
            <a:off x="692280" y="323280"/>
            <a:ext cx="281232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Methods</a:t>
            </a:r>
            <a:endParaRPr b="0" lang="en-US" sz="4000" spc="-1" strike="noStrike">
              <a:latin typeface="Arial"/>
            </a:endParaRPr>
          </a:p>
        </p:txBody>
      </p:sp>
      <p:sp>
        <p:nvSpPr>
          <p:cNvPr id="275" name="CustomShape 2"/>
          <p:cNvSpPr/>
          <p:nvPr/>
        </p:nvSpPr>
        <p:spPr>
          <a:xfrm>
            <a:off x="692280" y="1031400"/>
            <a:ext cx="11442240" cy="36468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1800" spc="-1" strike="noStrike">
                <a:solidFill>
                  <a:srgbClr val="ffffff"/>
                </a:solidFill>
                <a:latin typeface="Arial"/>
                <a:ea typeface="DejaVu Sans"/>
              </a:rPr>
              <a:t>HTTP defines a set of </a:t>
            </a:r>
            <a:r>
              <a:rPr b="1" lang="en-US" sz="1800" spc="-1" strike="noStrike">
                <a:solidFill>
                  <a:srgbClr val="ffffff"/>
                </a:solidFill>
                <a:latin typeface="Arial"/>
                <a:ea typeface="DejaVu Sans"/>
              </a:rPr>
              <a:t>request methods</a:t>
            </a:r>
            <a:r>
              <a:rPr b="0" lang="en-US" sz="1800" spc="-1" strike="noStrike">
                <a:solidFill>
                  <a:srgbClr val="ffffff"/>
                </a:solidFill>
                <a:latin typeface="Arial"/>
                <a:ea typeface="DejaVu Sans"/>
              </a:rPr>
              <a:t> to indicate the desired action to be performed for a given resource. </a:t>
            </a:r>
            <a:endParaRPr b="0" lang="en-US" sz="1800" spc="-1" strike="noStrike">
              <a:latin typeface="Arial"/>
            </a:endParaRPr>
          </a:p>
        </p:txBody>
      </p:sp>
      <p:sp>
        <p:nvSpPr>
          <p:cNvPr id="276" name="CustomShape 3"/>
          <p:cNvSpPr/>
          <p:nvPr/>
        </p:nvSpPr>
        <p:spPr>
          <a:xfrm>
            <a:off x="692280" y="1679040"/>
            <a:ext cx="11353320" cy="3740040"/>
          </a:xfrm>
          <a:prstGeom prst="rect">
            <a:avLst/>
          </a:prstGeom>
          <a:noFill/>
          <a:ln>
            <a:noFill/>
          </a:ln>
        </p:spPr>
        <p:style>
          <a:lnRef idx="0"/>
          <a:fillRef idx="0"/>
          <a:effectRef idx="0"/>
          <a:fontRef idx="minor"/>
        </p:style>
        <p:txBody>
          <a:bodyPr lIns="90000" rIns="90000" tIns="45000" bIns="45000">
            <a:spAutoFit/>
          </a:bodyPr>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 </a:t>
            </a:r>
            <a:r>
              <a:rPr b="1" i="1" lang="uk-UA" sz="1600" spc="-1" strike="noStrike">
                <a:solidFill>
                  <a:srgbClr val="ffffff"/>
                </a:solidFill>
                <a:latin typeface="Arial"/>
                <a:ea typeface="DejaVu Sans"/>
              </a:rPr>
              <a:t>GET</a:t>
            </a:r>
            <a:r>
              <a:rPr b="0" lang="uk-UA" sz="1600" spc="-1" strike="noStrike">
                <a:solidFill>
                  <a:srgbClr val="ffffff"/>
                </a:solidFill>
                <a:latin typeface="Arial"/>
                <a:ea typeface="DejaVu Sans"/>
              </a:rPr>
              <a:t> method requests a representation of the specified resource. Requests using GET should only retrieve data.</a:t>
            </a:r>
            <a:endParaRPr b="0" lang="en-US" sz="1600" spc="-1" strike="noStrike">
              <a:latin typeface="Arial"/>
            </a:endParaRPr>
          </a:p>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a:t>
            </a:r>
            <a:r>
              <a:rPr b="1" i="1" lang="uk-UA" sz="1600" spc="-1" strike="noStrike">
                <a:solidFill>
                  <a:srgbClr val="ffffff"/>
                </a:solidFill>
                <a:latin typeface="Arial"/>
                <a:ea typeface="DejaVu Sans"/>
              </a:rPr>
              <a:t> HEAD </a:t>
            </a:r>
            <a:r>
              <a:rPr b="0" lang="uk-UA" sz="1600" spc="-1" strike="noStrike">
                <a:solidFill>
                  <a:srgbClr val="ffffff"/>
                </a:solidFill>
                <a:latin typeface="Arial"/>
                <a:ea typeface="DejaVu Sans"/>
              </a:rPr>
              <a:t>method asks for a response identical to that of a GET request, but without the response body.</a:t>
            </a:r>
            <a:endParaRPr b="0" lang="en-US" sz="1600" spc="-1" strike="noStrike">
              <a:latin typeface="Arial"/>
            </a:endParaRPr>
          </a:p>
          <a:p>
            <a:pPr lvl="1" marL="285840" indent="-285480">
              <a:lnSpc>
                <a:spcPct val="150000"/>
              </a:lnSpc>
              <a:buClr>
                <a:srgbClr val="ffffff"/>
              </a:buClr>
              <a:buFont typeface="Arial"/>
              <a:buChar char="•"/>
            </a:pPr>
            <a:r>
              <a:rPr b="0" lang="en-US" sz="1600" spc="-1" strike="noStrike">
                <a:solidFill>
                  <a:srgbClr val="ffffff"/>
                </a:solidFill>
                <a:latin typeface="Arial"/>
                <a:ea typeface="DejaVu Sans"/>
              </a:rPr>
              <a:t>   </a:t>
            </a:r>
            <a:r>
              <a:rPr b="0" lang="uk-UA" sz="1600" spc="-1" strike="noStrike">
                <a:solidFill>
                  <a:srgbClr val="ffffff"/>
                </a:solidFill>
                <a:latin typeface="Arial"/>
                <a:ea typeface="DejaVu Sans"/>
              </a:rPr>
              <a:t>The </a:t>
            </a:r>
            <a:r>
              <a:rPr b="1" i="1" lang="uk-UA" sz="1600" spc="-1" strike="noStrike">
                <a:solidFill>
                  <a:srgbClr val="ffffff"/>
                </a:solidFill>
                <a:latin typeface="Arial"/>
                <a:ea typeface="DejaVu Sans"/>
              </a:rPr>
              <a:t>POST</a:t>
            </a:r>
            <a:r>
              <a:rPr b="0" lang="uk-UA" sz="1600" spc="-1" strike="noStrike">
                <a:solidFill>
                  <a:srgbClr val="ffffff"/>
                </a:solidFill>
                <a:latin typeface="Arial"/>
                <a:ea typeface="DejaVu Sans"/>
              </a:rPr>
              <a:t> method is used to submit an entity to the specified resource, often causing a change in state or side effects on</a:t>
            </a:r>
            <a:r>
              <a:rPr b="0" lang="en-US" sz="1600" spc="-1" strike="noStrike">
                <a:solidFill>
                  <a:srgbClr val="ffffff"/>
                </a:solidFill>
                <a:latin typeface="Arial"/>
                <a:ea typeface="DejaVu Sans"/>
              </a:rPr>
              <a:t> the server</a:t>
            </a:r>
            <a:r>
              <a:rPr b="0" lang="uk-UA" sz="1600" spc="-1" strike="noStrike">
                <a:solidFill>
                  <a:srgbClr val="ffffff"/>
                </a:solidFill>
                <a:latin typeface="Arial"/>
                <a:ea typeface="DejaVu Sans"/>
              </a:rPr>
              <a:t> </a:t>
            </a:r>
            <a:endParaRPr b="0" lang="en-US" sz="1600" spc="-1" strike="noStrike">
              <a:latin typeface="Arial"/>
            </a:endParaRPr>
          </a:p>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 </a:t>
            </a:r>
            <a:r>
              <a:rPr b="1" i="1" lang="uk-UA" sz="1600" spc="-1" strike="noStrike">
                <a:solidFill>
                  <a:srgbClr val="ffffff"/>
                </a:solidFill>
                <a:latin typeface="Arial"/>
                <a:ea typeface="DejaVu Sans"/>
              </a:rPr>
              <a:t>PUT</a:t>
            </a:r>
            <a:r>
              <a:rPr b="0" lang="uk-UA" sz="1600" spc="-1" strike="noStrike">
                <a:solidFill>
                  <a:srgbClr val="ffffff"/>
                </a:solidFill>
                <a:latin typeface="Arial"/>
                <a:ea typeface="DejaVu Sans"/>
              </a:rPr>
              <a:t> method replaces all current representations of the target resource with the request payload.</a:t>
            </a:r>
            <a:endParaRPr b="0" lang="en-US" sz="1600" spc="-1" strike="noStrike">
              <a:latin typeface="Arial"/>
            </a:endParaRPr>
          </a:p>
          <a:p>
            <a:pPr lvl="1" marL="457200" indent="-456840" algn="just">
              <a:lnSpc>
                <a:spcPct val="150000"/>
              </a:lnSpc>
              <a:buClr>
                <a:srgbClr val="ffffff"/>
              </a:buClr>
              <a:buFont typeface="Arial"/>
              <a:buChar char="•"/>
            </a:pPr>
            <a:r>
              <a:rPr b="0" lang="uk-UA" sz="1600" spc="-1" strike="noStrike">
                <a:solidFill>
                  <a:srgbClr val="ffffff"/>
                </a:solidFill>
                <a:latin typeface="Arial"/>
                <a:ea typeface="DejaVu Sans"/>
              </a:rPr>
              <a:t>The </a:t>
            </a:r>
            <a:r>
              <a:rPr b="1" i="1" lang="uk-UA" sz="1600" spc="-1" strike="noStrike">
                <a:solidFill>
                  <a:srgbClr val="ffffff"/>
                </a:solidFill>
                <a:latin typeface="Arial"/>
                <a:ea typeface="DejaVu Sans"/>
              </a:rPr>
              <a:t>DELETE</a:t>
            </a:r>
            <a:r>
              <a:rPr b="0" lang="uk-UA" sz="1600" spc="-1" strike="noStrike">
                <a:solidFill>
                  <a:srgbClr val="ffffff"/>
                </a:solidFill>
                <a:latin typeface="Arial"/>
                <a:ea typeface="DejaVu Sans"/>
              </a:rPr>
              <a:t> method deletes the specified resource.</a:t>
            </a:r>
            <a:endParaRPr b="0" lang="en-US" sz="1600" spc="-1" strike="noStrike">
              <a:latin typeface="Arial"/>
            </a:endParaRPr>
          </a:p>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 </a:t>
            </a:r>
            <a:r>
              <a:rPr b="1" i="1" lang="uk-UA" sz="1600" spc="-1" strike="noStrike">
                <a:solidFill>
                  <a:srgbClr val="ffffff"/>
                </a:solidFill>
                <a:latin typeface="Arial"/>
                <a:ea typeface="DejaVu Sans"/>
              </a:rPr>
              <a:t>CONNECT</a:t>
            </a:r>
            <a:r>
              <a:rPr b="0" lang="uk-UA" sz="1600" spc="-1" strike="noStrike">
                <a:solidFill>
                  <a:srgbClr val="ffffff"/>
                </a:solidFill>
                <a:latin typeface="Arial"/>
                <a:ea typeface="DejaVu Sans"/>
              </a:rPr>
              <a:t> method establishes a tunnel to the server identified by the target resource.</a:t>
            </a:r>
            <a:endParaRPr b="0" lang="en-US" sz="1600" spc="-1" strike="noStrike">
              <a:latin typeface="Arial"/>
            </a:endParaRPr>
          </a:p>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 </a:t>
            </a:r>
            <a:r>
              <a:rPr b="1" i="1" lang="uk-UA" sz="1600" spc="-1" strike="noStrike">
                <a:solidFill>
                  <a:srgbClr val="ffffff"/>
                </a:solidFill>
                <a:latin typeface="Arial"/>
                <a:ea typeface="DejaVu Sans"/>
              </a:rPr>
              <a:t>OPTIONS</a:t>
            </a:r>
            <a:r>
              <a:rPr b="0" lang="uk-UA" sz="1600" spc="-1" strike="noStrike">
                <a:solidFill>
                  <a:srgbClr val="ffffff"/>
                </a:solidFill>
                <a:latin typeface="Arial"/>
                <a:ea typeface="DejaVu Sans"/>
              </a:rPr>
              <a:t> method is used to describe the communication options for the target resource.</a:t>
            </a:r>
            <a:endParaRPr b="0" lang="en-US" sz="1600" spc="-1" strike="noStrike">
              <a:latin typeface="Arial"/>
            </a:endParaRPr>
          </a:p>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a:t>
            </a:r>
            <a:r>
              <a:rPr b="1" i="1" lang="uk-UA" sz="1600" spc="-1" strike="noStrike">
                <a:solidFill>
                  <a:srgbClr val="ffffff"/>
                </a:solidFill>
                <a:latin typeface="Arial"/>
                <a:ea typeface="DejaVu Sans"/>
              </a:rPr>
              <a:t> TRACE </a:t>
            </a:r>
            <a:r>
              <a:rPr b="0" lang="uk-UA" sz="1600" spc="-1" strike="noStrike">
                <a:solidFill>
                  <a:srgbClr val="ffffff"/>
                </a:solidFill>
                <a:latin typeface="Arial"/>
                <a:ea typeface="DejaVu Sans"/>
              </a:rPr>
              <a:t>method performs a message loop-back test along the path to the target resource.</a:t>
            </a:r>
            <a:endParaRPr b="0" lang="en-US" sz="1600" spc="-1" strike="noStrike">
              <a:latin typeface="Arial"/>
            </a:endParaRPr>
          </a:p>
          <a:p>
            <a:pPr lvl="1" marL="457200" indent="-456840">
              <a:lnSpc>
                <a:spcPct val="150000"/>
              </a:lnSpc>
              <a:buClr>
                <a:srgbClr val="ffffff"/>
              </a:buClr>
              <a:buFont typeface="Arial"/>
              <a:buChar char="•"/>
            </a:pPr>
            <a:r>
              <a:rPr b="0" lang="uk-UA" sz="1600" spc="-1" strike="noStrike">
                <a:solidFill>
                  <a:srgbClr val="ffffff"/>
                </a:solidFill>
                <a:latin typeface="Arial"/>
                <a:ea typeface="DejaVu Sans"/>
              </a:rPr>
              <a:t>The</a:t>
            </a:r>
            <a:r>
              <a:rPr b="1" i="1" lang="uk-UA" sz="1600" spc="-1" strike="noStrike">
                <a:solidFill>
                  <a:srgbClr val="ffffff"/>
                </a:solidFill>
                <a:latin typeface="Arial"/>
                <a:ea typeface="DejaVu Sans"/>
              </a:rPr>
              <a:t> PATCH </a:t>
            </a:r>
            <a:r>
              <a:rPr b="0" lang="uk-UA" sz="1600" spc="-1" strike="noStrike">
                <a:solidFill>
                  <a:srgbClr val="ffffff"/>
                </a:solidFill>
                <a:latin typeface="Arial"/>
                <a:ea typeface="DejaVu Sans"/>
              </a:rPr>
              <a:t>method is used to apply partial modifications to a resource</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CustomShape 1"/>
          <p:cNvSpPr/>
          <p:nvPr/>
        </p:nvSpPr>
        <p:spPr>
          <a:xfrm>
            <a:off x="0" y="217440"/>
            <a:ext cx="4188600" cy="69984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4000" spc="-1" strike="noStrike">
                <a:solidFill>
                  <a:srgbClr val="ffffff"/>
                </a:solidFill>
                <a:latin typeface="Arial"/>
                <a:ea typeface="DejaVu Sans"/>
              </a:rPr>
              <a:t>Status codes</a:t>
            </a:r>
            <a:endParaRPr b="0" lang="en-US" sz="4000" spc="-1" strike="noStrike">
              <a:latin typeface="Arial"/>
            </a:endParaRPr>
          </a:p>
        </p:txBody>
      </p:sp>
      <p:sp>
        <p:nvSpPr>
          <p:cNvPr id="278" name="CustomShape 2"/>
          <p:cNvSpPr/>
          <p:nvPr/>
        </p:nvSpPr>
        <p:spPr>
          <a:xfrm>
            <a:off x="643680" y="925560"/>
            <a:ext cx="112867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Arial"/>
                <a:ea typeface="DejaVu Sans"/>
              </a:rPr>
              <a:t>The status line contains a three-digit status code telling whether the request was satisfied and, if not, why not.</a:t>
            </a:r>
            <a:endParaRPr b="0" lang="en-US" sz="1800" spc="-1" strike="noStrike">
              <a:latin typeface="Arial"/>
            </a:endParaRPr>
          </a:p>
        </p:txBody>
      </p:sp>
      <p:pic>
        <p:nvPicPr>
          <p:cNvPr id="279" name="Рисунок 5" descr=""/>
          <p:cNvPicPr/>
          <p:nvPr/>
        </p:nvPicPr>
        <p:blipFill>
          <a:blip r:embed="rId1"/>
          <a:stretch/>
        </p:blipFill>
        <p:spPr>
          <a:xfrm>
            <a:off x="685800" y="1614960"/>
            <a:ext cx="6351120" cy="1882080"/>
          </a:xfrm>
          <a:prstGeom prst="rect">
            <a:avLst/>
          </a:prstGeom>
          <a:ln>
            <a:noFill/>
          </a:ln>
        </p:spPr>
      </p:pic>
      <p:sp>
        <p:nvSpPr>
          <p:cNvPr id="280" name="CustomShape 3"/>
          <p:cNvSpPr/>
          <p:nvPr/>
        </p:nvSpPr>
        <p:spPr>
          <a:xfrm>
            <a:off x="537120" y="3751560"/>
            <a:ext cx="11010960" cy="146196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1800" spc="-1" strike="noStrike">
                <a:solidFill>
                  <a:srgbClr val="ffffff"/>
                </a:solidFill>
                <a:latin typeface="Arial"/>
                <a:ea typeface="DejaVu Sans"/>
              </a:rPr>
              <a:t>The 1xx codes are rarely used in practice. The 2xx codes mean that the request was handled successfully and the content (if any) is being returned. The 3xx codes tell the client to look elsewhere, either using a different URL or in its own cache (discussed later). The 4xx codes mean the request failed due to a client error such an invalid request or a nonexistent page. Finally, the 5xx errors mean the server itself has an internal problem, either due to an error in its code or to a temporary overload</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1"/>
          <p:cNvSpPr/>
          <p:nvPr/>
        </p:nvSpPr>
        <p:spPr>
          <a:xfrm>
            <a:off x="478440" y="223560"/>
            <a:ext cx="609552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Message Headers</a:t>
            </a:r>
            <a:endParaRPr b="0" lang="en-US" sz="4000" spc="-1" strike="noStrike">
              <a:latin typeface="Arial"/>
            </a:endParaRPr>
          </a:p>
        </p:txBody>
      </p:sp>
      <p:pic>
        <p:nvPicPr>
          <p:cNvPr id="282" name="Рисунок 3" descr=""/>
          <p:cNvPicPr/>
          <p:nvPr/>
        </p:nvPicPr>
        <p:blipFill>
          <a:blip r:embed="rId1"/>
          <a:stretch/>
        </p:blipFill>
        <p:spPr>
          <a:xfrm>
            <a:off x="3447720" y="931320"/>
            <a:ext cx="5296320" cy="5896440"/>
          </a:xfrm>
          <a:prstGeom prst="rect">
            <a:avLst/>
          </a:prstGeom>
          <a:ln>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TextShape 1"/>
          <p:cNvSpPr txBox="1"/>
          <p:nvPr/>
        </p:nvSpPr>
        <p:spPr>
          <a:xfrm>
            <a:off x="5094360" y="346320"/>
            <a:ext cx="2002680" cy="654840"/>
          </a:xfrm>
          <a:prstGeom prst="rect">
            <a:avLst/>
          </a:prstGeom>
          <a:noFill/>
          <a:ln>
            <a:noFill/>
          </a:ln>
        </p:spPr>
        <p:txBody>
          <a:bodyPr lIns="0" rIns="0" tIns="0" bIns="0" anchor="ctr">
            <a:noAutofit/>
          </a:bodyPr>
          <a:p>
            <a:pPr>
              <a:lnSpc>
                <a:spcPct val="90000"/>
              </a:lnSpc>
            </a:pPr>
            <a:r>
              <a:rPr b="0" lang="en-US" sz="4000" spc="-1" strike="noStrike">
                <a:solidFill>
                  <a:srgbClr val="ffffff"/>
                </a:solidFill>
                <a:latin typeface="Arial"/>
                <a:ea typeface="DejaVu Sans"/>
              </a:rPr>
              <a:t>Caching</a:t>
            </a:r>
            <a:endParaRPr b="0" lang="uk-UA" sz="4000" spc="-1" strike="noStrike">
              <a:solidFill>
                <a:srgbClr val="000000"/>
              </a:solidFill>
              <a:latin typeface="Arial"/>
            </a:endParaRPr>
          </a:p>
        </p:txBody>
      </p:sp>
      <p:pic>
        <p:nvPicPr>
          <p:cNvPr id="284" name="Рисунок 4" descr=""/>
          <p:cNvPicPr/>
          <p:nvPr/>
        </p:nvPicPr>
        <p:blipFill>
          <a:blip r:embed="rId1"/>
          <a:stretch/>
        </p:blipFill>
        <p:spPr>
          <a:xfrm>
            <a:off x="2884680" y="1533960"/>
            <a:ext cx="6422040" cy="168804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TextShape 1"/>
          <p:cNvSpPr txBox="1"/>
          <p:nvPr/>
        </p:nvSpPr>
        <p:spPr>
          <a:xfrm>
            <a:off x="609840" y="2025360"/>
            <a:ext cx="10972080" cy="1646280"/>
          </a:xfrm>
          <a:prstGeom prst="rect">
            <a:avLst/>
          </a:prstGeom>
          <a:noFill/>
          <a:ln>
            <a:noFill/>
          </a:ln>
        </p:spPr>
        <p:txBody>
          <a:bodyPr lIns="0" rIns="0" tIns="0" bIns="0" anchor="ctr">
            <a:noAutofit/>
          </a:bodyPr>
          <a:p>
            <a:pPr marL="285840" indent="-285480" algn="just">
              <a:lnSpc>
                <a:spcPct val="90000"/>
              </a:lnSpc>
              <a:buClr>
                <a:srgbClr val="ffffff"/>
              </a:buClr>
              <a:buFont typeface="Arial"/>
              <a:buChar char="•"/>
            </a:pPr>
            <a:r>
              <a:rPr b="1" lang="en-US" sz="1800" spc="-1" strike="noStrike">
                <a:solidFill>
                  <a:srgbClr val="ffffff"/>
                </a:solidFill>
                <a:latin typeface="Arial"/>
                <a:ea typeface="DejaVu Sans"/>
              </a:rPr>
              <a:t>Hypertext Transfer Protocol </a:t>
            </a:r>
            <a:r>
              <a:rPr b="0" lang="en-US" sz="1800" spc="-1" strike="noStrike">
                <a:solidFill>
                  <a:srgbClr val="ffffff"/>
                </a:solidFill>
                <a:latin typeface="Arial"/>
                <a:ea typeface="DejaVu Sans"/>
              </a:rPr>
              <a:t>communication </a:t>
            </a:r>
            <a:r>
              <a:rPr b="1" lang="en-US" sz="1800" spc="-1" strike="noStrike">
                <a:solidFill>
                  <a:srgbClr val="ffffff"/>
                </a:solidFill>
                <a:latin typeface="Arial"/>
                <a:ea typeface="DejaVu Sans"/>
              </a:rPr>
              <a:t>Secure</a:t>
            </a:r>
            <a:r>
              <a:rPr b="0" lang="en-US" sz="1800" spc="-1" strike="noStrike">
                <a:solidFill>
                  <a:srgbClr val="ffffff"/>
                </a:solidFill>
                <a:latin typeface="Arial"/>
                <a:ea typeface="DejaVu Sans"/>
              </a:rPr>
              <a:t> (</a:t>
            </a:r>
            <a:r>
              <a:rPr b="1" lang="en-US" sz="1800" spc="-1" strike="noStrike">
                <a:solidFill>
                  <a:srgbClr val="ffffff"/>
                </a:solidFill>
                <a:latin typeface="Arial"/>
                <a:ea typeface="DejaVu Sans"/>
              </a:rPr>
              <a:t>HTTPS</a:t>
            </a:r>
            <a:r>
              <a:rPr b="0" lang="en-US" sz="1800" spc="-1" strike="noStrike">
                <a:solidFill>
                  <a:srgbClr val="ffffff"/>
                </a:solidFill>
                <a:latin typeface="Arial"/>
                <a:ea typeface="DejaVu Sans"/>
              </a:rPr>
              <a:t>) is an extension of the Hypertext Transfer Protocol (HTTP). It is used for secure over a computer network, and is widely used on the Internet. In HTTPS, the communication protocol is encrypted using Transport Layer Security (TLS) or, formerly, its predecessor, Secure Sockets Layer (SSL). The protocol is therefore also often referred to as HTTP over TLS, or HTTP over SSL.</a:t>
            </a:r>
            <a:endParaRPr b="0" lang="uk-UA" sz="1800" spc="-1" strike="noStrike">
              <a:solidFill>
                <a:srgbClr val="000000"/>
              </a:solidFill>
              <a:latin typeface="Arial"/>
            </a:endParaRPr>
          </a:p>
        </p:txBody>
      </p:sp>
      <p:sp>
        <p:nvSpPr>
          <p:cNvPr id="286" name="CustomShape 2"/>
          <p:cNvSpPr/>
          <p:nvPr/>
        </p:nvSpPr>
        <p:spPr>
          <a:xfrm>
            <a:off x="856440" y="475560"/>
            <a:ext cx="11015640" cy="6998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4000" spc="-1" strike="noStrike">
                <a:solidFill>
                  <a:srgbClr val="ffffff"/>
                </a:solidFill>
                <a:latin typeface="Arial"/>
                <a:ea typeface="DejaVu Sans"/>
              </a:rPr>
              <a:t>Hypertext Transfer Protocol Secure</a:t>
            </a:r>
            <a:r>
              <a:rPr b="0" lang="en-US" sz="4000" spc="-1" strike="noStrike">
                <a:solidFill>
                  <a:srgbClr val="ffffff"/>
                </a:solidFill>
                <a:latin typeface="Arial"/>
                <a:ea typeface="DejaVu Sans"/>
              </a:rPr>
              <a:t> (</a:t>
            </a:r>
            <a:r>
              <a:rPr b="1" lang="en-US" sz="4000" spc="-1" strike="noStrike">
                <a:solidFill>
                  <a:srgbClr val="ffffff"/>
                </a:solidFill>
                <a:latin typeface="Arial"/>
                <a:ea typeface="DejaVu Sans"/>
              </a:rPr>
              <a:t>HTTPS</a:t>
            </a:r>
            <a:r>
              <a:rPr b="0" lang="en-US" sz="4000" spc="-1" strike="noStrike">
                <a:solidFill>
                  <a:srgbClr val="ffffff"/>
                </a:solidFill>
                <a:latin typeface="Arial"/>
                <a:ea typeface="DejaVu Sans"/>
              </a:rPr>
              <a:t>) </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7" name="pasted-image.png" descr=""/>
          <p:cNvPicPr/>
          <p:nvPr/>
        </p:nvPicPr>
        <p:blipFill>
          <a:blip r:embed="rId1"/>
          <a:stretch/>
        </p:blipFill>
        <p:spPr>
          <a:xfrm>
            <a:off x="0" y="0"/>
            <a:ext cx="12188160" cy="6854040"/>
          </a:xfrm>
          <a:prstGeom prst="rect">
            <a:avLst/>
          </a:prstGeom>
          <a:ln w="126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1687</TotalTime>
  <Application>LibreOffice/6.4.3.2$Linux_X86_64 LibreOffice_project/85aa6f776c6af63185291a519637a4f7af4e8a3b</Application>
  <Words>2447</Words>
  <Paragraphs>97</Paragraphs>
  <Company>Verint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2018-11-02T13:55:27Z</dcterms:created>
  <dc:creator>Strutynska, Viktoriya</dc:creator>
  <dc:description/>
  <dc:language>en-US</dc:language>
  <cp:lastModifiedBy/>
  <dcterms:modified xsi:type="dcterms:W3CDTF">2020-04-27T09:48:20Z</dcterms:modified>
  <cp:revision>59</cp:revision>
  <dc:subject/>
  <dc:title>508/WCAG SERVICE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0</vt:i4>
  </property>
  <property fmtid="{D5CDD505-2E9C-101B-9397-08002B2CF9AE}" pid="9" name="Notes">
    <vt:i4>6</vt:i4>
  </property>
  <property fmtid="{D5CDD505-2E9C-101B-9397-08002B2CF9AE}" pid="10" name="PresentationFormat">
    <vt:lpwstr>Широкоэкранный</vt:lpwstr>
  </property>
  <property fmtid="{D5CDD505-2E9C-101B-9397-08002B2CF9AE}" pid="11" name="ScaleCrop">
    <vt:bool>0</vt:bool>
  </property>
  <property fmtid="{D5CDD505-2E9C-101B-9397-08002B2CF9AE}" pid="12" name="ShareDoc">
    <vt:bool>0</vt:bool>
  </property>
  <property fmtid="{D5CDD505-2E9C-101B-9397-08002B2CF9AE}" pid="13" name="Slides">
    <vt:i4>21</vt:i4>
  </property>
</Properties>
</file>