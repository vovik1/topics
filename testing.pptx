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_rels/slideLayout57.xml.rels" ContentType="application/vnd.openxmlformats-package.relationships+xml"/>
  <Override PartName="/ppt/slideLayouts/_rels/slideLayout56.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8.xml.rels" ContentType="application/vnd.openxmlformats-package.relationships+xml"/>
  <Override PartName="/ppt/slideLayouts/_rels/slideLayout32.xml.rels" ContentType="application/vnd.openxmlformats-package.relationships+xml"/>
  <Override PartName="/ppt/slideLayouts/_rels/slideLayout60.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31.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4.xml.rels" ContentType="application/vnd.openxmlformats-package.relationships+xml"/>
  <Override PartName="/ppt/slideLayouts/_rels/slideLayout55.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9.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53.xml.rels" ContentType="application/vnd.openxmlformats-package.relationships+xml"/>
  <Override PartName="/ppt/slideLayouts/_rels/slideLayout33.xml.rels" ContentType="application/vnd.openxmlformats-package.relationships+xml"/>
  <Override PartName="/ppt/slideLayouts/_rels/slideLayout8.xml.rels" ContentType="application/vnd.openxmlformats-package.relationships+xml"/>
  <Override PartName="/ppt/slideLayouts/_rels/slideLayout52.xml.rels" ContentType="application/vnd.openxmlformats-package.relationships+xml"/>
  <Override PartName="/ppt/slideLayouts/_rels/slideLayout51.xml.rels" ContentType="application/vnd.openxmlformats-package.relationships+xml"/>
  <Override PartName="/ppt/slideLayouts/_rels/slideLayout36.xml.rels" ContentType="application/vnd.openxmlformats-package.relationships+xml"/>
  <Override PartName="/ppt/slideLayouts/_rels/slideLayout42.xml.rels" ContentType="application/vnd.openxmlformats-package.relationships+xml"/>
  <Override PartName="/ppt/slideLayouts/_rels/slideLayout45.xml.rels" ContentType="application/vnd.openxmlformats-package.relationships+xml"/>
  <Override PartName="/ppt/slideLayouts/_rels/slideLayout44.xml.rels" ContentType="application/vnd.openxmlformats-package.relationships+xml"/>
  <Override PartName="/ppt/slideLayouts/_rels/slideLayout38.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40.xml.rels" ContentType="application/vnd.openxmlformats-package.relationships+xml"/>
  <Override PartName="/ppt/slideLayouts/_rels/slideLayout6.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7.xml.rels" ContentType="application/vnd.openxmlformats-package.relationships+xml"/>
  <Override PartName="/ppt/slideLayouts/_rels/slideLayout43.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59.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54.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54.xml" ContentType="application/vnd.openxmlformats-officedocument.presentationml.slideLayout+xml"/>
  <Override PartName="/ppt/slideLayouts/slideLayout13.xml" ContentType="application/vnd.openxmlformats-officedocument.presentationml.slideLayout+xml"/>
  <Override PartName="/ppt/slideLayouts/slideLayout38.xml" ContentType="application/vnd.openxmlformats-officedocument.presentationml.slideLayout+xml"/>
  <Override PartName="/ppt/slideLayouts/slideLayout52.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60.xml" ContentType="application/vnd.openxmlformats-officedocument.presentationml.slideLayout+xml"/>
  <Override PartName="/ppt/slideLayouts/slideLayout53.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slideLayouts/slideLayout56.xml" ContentType="application/vnd.openxmlformats-officedocument.presentationml.slideLayout+xml"/>
  <Override PartName="/ppt/slideLayouts/slideLayout31.xml" ContentType="application/vnd.openxmlformats-officedocument.presentationml.slideLayout+xml"/>
  <Override PartName="/ppt/slideLayouts/slideLayout57.xml" ContentType="application/vnd.openxmlformats-officedocument.presentationml.slideLayout+xml"/>
  <Override PartName="/ppt/slideLayouts/slideLayout32.xml" ContentType="application/vnd.openxmlformats-officedocument.presentationml.slideLayout+xml"/>
  <Override PartName="/ppt/media/image2.wmf" ContentType="image/x-wmf"/>
  <Override PartName="/ppt/media/image1.wmf" ContentType="image/x-wmf"/>
  <Override PartName="/ppt/media/image3.wmf" ContentType="image/x-wmf"/>
  <Override PartName="/ppt/media/image4.wmf" ContentType="image/x-wmf"/>
  <Override PartName="/ppt/media/image6.wmf" ContentType="image/x-wmf"/>
  <Override PartName="/ppt/media/image5.wmf" ContentType="image/x-wmf"/>
  <Override PartName="/ppt/media/image7.png" ContentType="image/png"/>
  <Override PartName="/ppt/media/image8.png" ContentType="image/png"/>
  <Override PartName="/ppt/media/image9.png" ContentType="image/png"/>
  <Override PartName="/ppt/media/image12.png" ContentType="image/png"/>
  <Override PartName="/ppt/media/image11.png" ContentType="image/png"/>
  <Override PartName="/ppt/media/image10.png" ContentType="image/png"/>
  <Override PartName="/ppt/media/image14.png" ContentType="image/png"/>
  <Override PartName="/ppt/media/image20.png" ContentType="image/png"/>
  <Override PartName="/ppt/media/image13.png" ContentType="image/png"/>
  <Override PartName="/ppt/media/image15.png" ContentType="image/png"/>
  <Override PartName="/ppt/media/image16.png" ContentType="image/png"/>
  <Override PartName="/ppt/media/image18.png" ContentType="image/png"/>
  <Override PartName="/ppt/media/image17.png" ContentType="image/png"/>
  <Override PartName="/ppt/media/image19.png" ContentType="image/png"/>
  <Override PartName="/ppt/notesSlides/_rels/notesSlide2.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4.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9.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uk-UA" sz="1800" spc="-1" strike="noStrike">
                <a:solidFill>
                  <a:srgbClr val="000000"/>
                </a:solidFill>
                <a:latin typeface="Arial"/>
              </a:rPr>
              <a:t>Click to move the slide</a:t>
            </a:r>
            <a:endParaRPr b="0" lang="uk-UA" sz="1800" spc="-1" strike="noStrike">
              <a:solidFill>
                <a:srgbClr val="000000"/>
              </a:solidFill>
              <a:latin typeface="Arial"/>
            </a:endParaRPr>
          </a:p>
        </p:txBody>
      </p:sp>
      <p:sp>
        <p:nvSpPr>
          <p:cNvPr id="198"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199"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200"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201"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02"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AD3A0647-5B3F-4748-84FC-C80A27EC70F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4600" cy="3084120"/>
          </a:xfrm>
          <a:prstGeom prst="rect">
            <a:avLst/>
          </a:prstGeom>
        </p:spPr>
      </p:sp>
      <p:sp>
        <p:nvSpPr>
          <p:cNvPr id="287" name="PlaceHolder 2"/>
          <p:cNvSpPr>
            <a:spLocks noGrp="1"/>
          </p:cNvSpPr>
          <p:nvPr>
            <p:ph type="body"/>
          </p:nvPr>
        </p:nvSpPr>
        <p:spPr>
          <a:xfrm>
            <a:off x="685800" y="4400640"/>
            <a:ext cx="5483880" cy="3597840"/>
          </a:xfrm>
          <a:prstGeom prst="rect">
            <a:avLst/>
          </a:prstGeom>
        </p:spPr>
        <p:txBody>
          <a:bodyPr lIns="0" rIns="0" tIns="0" bIns="0">
            <a:noAutofit/>
          </a:bodyPr>
          <a:p>
            <a:endParaRPr b="0" lang="en-US" sz="2000" spc="-1" strike="noStrike">
              <a:latin typeface="Arial"/>
            </a:endParaRPr>
          </a:p>
        </p:txBody>
      </p:sp>
      <p:sp>
        <p:nvSpPr>
          <p:cNvPr id="28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1F3B8B7-F341-4C26-B9B6-7FDF7CEB8CAD}" type="slidenum">
              <a:rPr b="0" lang="en-GB"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217440" y="812880"/>
            <a:ext cx="7124400" cy="4008240"/>
          </a:xfrm>
          <a:prstGeom prst="rect">
            <a:avLst/>
          </a:prstGeom>
        </p:spPr>
      </p:sp>
      <p:sp>
        <p:nvSpPr>
          <p:cNvPr id="290" name="PlaceHolder 2"/>
          <p:cNvSpPr>
            <a:spLocks noGrp="1"/>
          </p:cNvSpPr>
          <p:nvPr>
            <p:ph type="body"/>
          </p:nvPr>
        </p:nvSpPr>
        <p:spPr>
          <a:xfrm>
            <a:off x="756000" y="5078520"/>
            <a:ext cx="6047280" cy="4810680"/>
          </a:xfrm>
          <a:prstGeom prst="rect">
            <a:avLst/>
          </a:prstGeom>
        </p:spPr>
        <p:txBody>
          <a:bodyPr lIns="0" rIns="0" tIns="0" bIns="0">
            <a:noAutofit/>
          </a:bodyPr>
          <a:p>
            <a:endParaRPr b="0" lang="en-US" sz="2000" spc="-1" strike="noStrike">
              <a:latin typeface="Arial"/>
            </a:endParaRPr>
          </a:p>
        </p:txBody>
      </p:sp>
      <p:sp>
        <p:nvSpPr>
          <p:cNvPr id="291" name="TextShape 3"/>
          <p:cNvSpPr txBox="1"/>
          <p:nvPr/>
        </p:nvSpPr>
        <p:spPr>
          <a:xfrm>
            <a:off x="4278960" y="10157400"/>
            <a:ext cx="3280320" cy="533880"/>
          </a:xfrm>
          <a:prstGeom prst="rect">
            <a:avLst/>
          </a:prstGeom>
          <a:noFill/>
          <a:ln>
            <a:noFill/>
          </a:ln>
        </p:spPr>
        <p:txBody>
          <a:bodyPr lIns="0" rIns="0" tIns="0" bIns="0" anchor="b">
            <a:noAutofit/>
          </a:bodyPr>
          <a:p>
            <a:pPr algn="r">
              <a:lnSpc>
                <a:spcPct val="100000"/>
              </a:lnSpc>
            </a:pPr>
            <a:fld id="{BF336D35-6B10-499C-B9EB-32B717F15B61}" type="slidenum">
              <a:rPr b="0" lang="en-US" sz="1400" spc="-1" strike="noStrike">
                <a:solidFill>
                  <a:srgbClr val="000000"/>
                </a:solidFill>
                <a:latin typeface="Times New Roman"/>
                <a:ea typeface="+mn-ea"/>
              </a:rPr>
              <a:t>&lt;number&gt;</a:t>
            </a:fld>
            <a:endParaRPr b="0" lang="en-US" sz="1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8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1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4"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2"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3"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5"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6"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7"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1"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3"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4"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6"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8"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9"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51"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2"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3"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4"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5"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6"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4"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7"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2"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3"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5"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6"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7"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1"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3"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4"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6"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8"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9"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91"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2"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3"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4"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5"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6"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5.wmf"/><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6.wmf"/><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9959040" y="5906880"/>
            <a:ext cx="1544400" cy="262800"/>
          </a:xfrm>
          <a:prstGeom prst="rect">
            <a:avLst/>
          </a:prstGeom>
          <a:ln>
            <a:noFill/>
          </a:ln>
        </p:spPr>
      </p:pic>
      <p:pic>
        <p:nvPicPr>
          <p:cNvPr id="1" name="Picture 7" descr=""/>
          <p:cNvPicPr/>
          <p:nvPr/>
        </p:nvPicPr>
        <p:blipFill>
          <a:blip r:embed="rId3"/>
          <a:stretch/>
        </p:blipFill>
        <p:spPr>
          <a:xfrm>
            <a:off x="9959040" y="5906880"/>
            <a:ext cx="1544400" cy="26280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40" name="Picture 8" descr=""/>
          <p:cNvPicPr/>
          <p:nvPr/>
        </p:nvPicPr>
        <p:blipFill>
          <a:blip r:embed="rId2"/>
          <a:stretch/>
        </p:blipFill>
        <p:spPr>
          <a:xfrm>
            <a:off x="9959040" y="5906880"/>
            <a:ext cx="1544400" cy="262800"/>
          </a:xfrm>
          <a:prstGeom prst="rect">
            <a:avLst/>
          </a:prstGeom>
          <a:ln>
            <a:noFill/>
          </a:ln>
        </p:spPr>
      </p:pic>
      <p:sp>
        <p:nvSpPr>
          <p:cNvPr id="41"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4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79" name="Picture 8" descr=""/>
          <p:cNvPicPr/>
          <p:nvPr/>
        </p:nvPicPr>
        <p:blipFill>
          <a:blip r:embed="rId2"/>
          <a:stretch/>
        </p:blipFill>
        <p:spPr>
          <a:xfrm>
            <a:off x="9959040" y="5906880"/>
            <a:ext cx="1544400" cy="262800"/>
          </a:xfrm>
          <a:prstGeom prst="rect">
            <a:avLst/>
          </a:prstGeom>
          <a:ln>
            <a:noFill/>
          </a:ln>
        </p:spPr>
      </p:pic>
      <p:sp>
        <p:nvSpPr>
          <p:cNvPr id="80"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18" name="Picture 8" descr=""/>
          <p:cNvPicPr/>
          <p:nvPr/>
        </p:nvPicPr>
        <p:blipFill>
          <a:blip r:embed="rId2"/>
          <a:stretch/>
        </p:blipFill>
        <p:spPr>
          <a:xfrm>
            <a:off x="9959040" y="5906880"/>
            <a:ext cx="1544400" cy="262800"/>
          </a:xfrm>
          <a:prstGeom prst="rect">
            <a:avLst/>
          </a:prstGeom>
          <a:ln>
            <a:noFill/>
          </a:ln>
        </p:spPr>
      </p:pic>
      <p:sp>
        <p:nvSpPr>
          <p:cNvPr id="119"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uk-UA" sz="4400" spc="-1" strike="noStrike">
                <a:solidFill>
                  <a:srgbClr val="000000"/>
                </a:solidFill>
                <a:latin typeface="Arial"/>
              </a:rPr>
              <a:t>Click to edit the title text format</a:t>
            </a:r>
            <a:endParaRPr b="0" lang="uk-UA" sz="4400" spc="-1" strike="noStrike">
              <a:solidFill>
                <a:srgbClr val="000000"/>
              </a:solidFill>
              <a:latin typeface="Arial"/>
            </a:endParaRPr>
          </a:p>
        </p:txBody>
      </p:sp>
      <p:sp>
        <p:nvSpPr>
          <p:cNvPr id="120"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7" name="Picture 8" descr=""/>
          <p:cNvPicPr/>
          <p:nvPr/>
        </p:nvPicPr>
        <p:blipFill>
          <a:blip r:embed="rId2"/>
          <a:stretch/>
        </p:blipFill>
        <p:spPr>
          <a:xfrm>
            <a:off x="9959040" y="5906880"/>
            <a:ext cx="1544400" cy="262800"/>
          </a:xfrm>
          <a:prstGeom prst="rect">
            <a:avLst/>
          </a:prstGeom>
          <a:ln>
            <a:noFill/>
          </a:ln>
        </p:spPr>
      </p:pic>
      <p:sp>
        <p:nvSpPr>
          <p:cNvPr id="158" name="CustomShape 1"/>
          <p:cNvSpPr/>
          <p:nvPr/>
        </p:nvSpPr>
        <p:spPr>
          <a:xfrm>
            <a:off x="9487080" y="236880"/>
            <a:ext cx="2118960" cy="257040"/>
          </a:xfrm>
          <a:prstGeom prst="rect">
            <a:avLst/>
          </a:prstGeom>
          <a:noFill/>
          <a:ln>
            <a:noFill/>
          </a:ln>
        </p:spPr>
        <p:style>
          <a:lnRef idx="0"/>
          <a:fillRef idx="0"/>
          <a:effectRef idx="0"/>
          <a:fontRef idx="minor"/>
        </p:style>
        <p:txBody>
          <a:bodyPr lIns="90000" rIns="90000" tIns="45000" bIns="45000">
            <a:spAutoFit/>
          </a:bodyPr>
          <a:p>
            <a:pPr algn="r">
              <a:lnSpc>
                <a:spcPct val="100000"/>
              </a:lnSpc>
            </a:pPr>
            <a:r>
              <a:rPr b="0" lang="en-US" sz="1100" spc="-1" strike="noStrike">
                <a:solidFill>
                  <a:srgbClr val="000000"/>
                </a:solidFill>
                <a:latin typeface="Open Sans Regular"/>
                <a:ea typeface="Open Sans Regular"/>
              </a:rPr>
              <a:t>SoftServe Confidential</a:t>
            </a:r>
            <a:endParaRPr b="0" lang="en-US" sz="1100" spc="-1" strike="noStrike">
              <a:latin typeface="Arial"/>
            </a:endParaRPr>
          </a:p>
        </p:txBody>
      </p:sp>
      <p:sp>
        <p:nvSpPr>
          <p:cNvPr id="159" name="PlaceHolder 2"/>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60"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hyperlink" Target="https://jestjs.io/docs/en/expect#expectextendmatchers" TargetMode="External"/><Relationship Id="rId2" Type="http://schemas.openxmlformats.org/officeDocument/2006/relationships/hyperlink" Target="https://www.chaijs.com/guide/plugins/" TargetMode="Externa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hyperlink" Target="https://github.com/goldbergyoni/javascript-testing-best-practices/" TargetMode="External"/><Relationship Id="rId2" Type="http://schemas.openxmlformats.org/officeDocument/2006/relationships/hyperlink" Target="https://martinfowler.com/articles/practical-test-pyramid.html" TargetMode="External"/><Relationship Id="rId3" Type="http://schemas.openxmlformats.org/officeDocument/2006/relationships/slideLayout" Target="../slideLayouts/slideLayout39.xml"/>
</Relationships>
</file>

<file path=ppt/slides/_rels/slide1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CustomShape 1"/>
          <p:cNvSpPr/>
          <p:nvPr/>
        </p:nvSpPr>
        <p:spPr>
          <a:xfrm>
            <a:off x="685800" y="5915160"/>
            <a:ext cx="3464640" cy="292680"/>
          </a:xfrm>
          <a:prstGeom prst="rect">
            <a:avLst/>
          </a:prstGeom>
          <a:noFill/>
          <a:ln>
            <a:noFill/>
          </a:ln>
        </p:spPr>
        <p:style>
          <a:lnRef idx="0"/>
          <a:fillRef idx="0"/>
          <a:effectRef idx="0"/>
          <a:fontRef idx="minor"/>
        </p:style>
      </p:sp>
      <p:sp>
        <p:nvSpPr>
          <p:cNvPr id="204" name="CustomShape 2"/>
          <p:cNvSpPr/>
          <p:nvPr/>
        </p:nvSpPr>
        <p:spPr>
          <a:xfrm>
            <a:off x="199440" y="329760"/>
            <a:ext cx="12388320" cy="6680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6600" spc="-1" strike="noStrike">
                <a:solidFill>
                  <a:srgbClr val="ffffff"/>
                </a:solidFill>
                <a:latin typeface="Arial"/>
                <a:ea typeface="DejaVu Sans"/>
              </a:rPr>
              <a:t>Node.js Testing. </a:t>
            </a:r>
            <a:endParaRPr b="0" lang="en-US" sz="6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CustomShape 1"/>
          <p:cNvSpPr/>
          <p:nvPr/>
        </p:nvSpPr>
        <p:spPr>
          <a:xfrm>
            <a:off x="685800" y="2057400"/>
            <a:ext cx="1978560" cy="683280"/>
          </a:xfrm>
          <a:prstGeom prst="rect">
            <a:avLst/>
          </a:prstGeom>
          <a:noFill/>
          <a:ln>
            <a:noFill/>
          </a:ln>
        </p:spPr>
        <p:style>
          <a:lnRef idx="0"/>
          <a:fillRef idx="0"/>
          <a:effectRef idx="0"/>
          <a:fontRef idx="minor"/>
        </p:style>
      </p:sp>
      <p:sp>
        <p:nvSpPr>
          <p:cNvPr id="206" name="CustomShape 2"/>
          <p:cNvSpPr/>
          <p:nvPr/>
        </p:nvSpPr>
        <p:spPr>
          <a:xfrm>
            <a:off x="2895480" y="2057400"/>
            <a:ext cx="1978560" cy="683280"/>
          </a:xfrm>
          <a:prstGeom prst="rect">
            <a:avLst/>
          </a:prstGeom>
          <a:noFill/>
          <a:ln>
            <a:noFill/>
          </a:ln>
        </p:spPr>
        <p:style>
          <a:lnRef idx="0"/>
          <a:fillRef idx="0"/>
          <a:effectRef idx="0"/>
          <a:fontRef idx="minor"/>
        </p:style>
      </p:sp>
      <p:sp>
        <p:nvSpPr>
          <p:cNvPr id="207" name="CustomShape 3"/>
          <p:cNvSpPr/>
          <p:nvPr/>
        </p:nvSpPr>
        <p:spPr>
          <a:xfrm>
            <a:off x="5105520" y="2057400"/>
            <a:ext cx="1978560" cy="683280"/>
          </a:xfrm>
          <a:prstGeom prst="rect">
            <a:avLst/>
          </a:prstGeom>
          <a:noFill/>
          <a:ln>
            <a:noFill/>
          </a:ln>
        </p:spPr>
        <p:style>
          <a:lnRef idx="0"/>
          <a:fillRef idx="0"/>
          <a:effectRef idx="0"/>
          <a:fontRef idx="minor"/>
        </p:style>
      </p:sp>
      <p:sp>
        <p:nvSpPr>
          <p:cNvPr id="208" name="CustomShape 4"/>
          <p:cNvSpPr/>
          <p:nvPr/>
        </p:nvSpPr>
        <p:spPr>
          <a:xfrm>
            <a:off x="7315200" y="2057400"/>
            <a:ext cx="1978560" cy="683280"/>
          </a:xfrm>
          <a:prstGeom prst="rect">
            <a:avLst/>
          </a:prstGeom>
          <a:noFill/>
          <a:ln>
            <a:noFill/>
          </a:ln>
        </p:spPr>
        <p:style>
          <a:lnRef idx="0"/>
          <a:fillRef idx="0"/>
          <a:effectRef idx="0"/>
          <a:fontRef idx="minor"/>
        </p:style>
      </p:sp>
      <p:sp>
        <p:nvSpPr>
          <p:cNvPr id="209" name="CustomShape 5"/>
          <p:cNvSpPr/>
          <p:nvPr/>
        </p:nvSpPr>
        <p:spPr>
          <a:xfrm>
            <a:off x="9524880" y="2057400"/>
            <a:ext cx="1978560" cy="683280"/>
          </a:xfrm>
          <a:prstGeom prst="rect">
            <a:avLst/>
          </a:prstGeom>
          <a:noFill/>
          <a:ln>
            <a:noFill/>
          </a:ln>
        </p:spPr>
        <p:style>
          <a:lnRef idx="0"/>
          <a:fillRef idx="0"/>
          <a:effectRef idx="0"/>
          <a:fontRef idx="minor"/>
        </p:style>
      </p:sp>
      <p:sp>
        <p:nvSpPr>
          <p:cNvPr id="210" name="CustomShape 6"/>
          <p:cNvSpPr/>
          <p:nvPr/>
        </p:nvSpPr>
        <p:spPr>
          <a:xfrm>
            <a:off x="685800" y="685800"/>
            <a:ext cx="10818000" cy="683280"/>
          </a:xfrm>
          <a:prstGeom prst="rect">
            <a:avLst/>
          </a:prstGeom>
          <a:noFill/>
          <a:ln>
            <a:noFill/>
          </a:ln>
        </p:spPr>
        <p:style>
          <a:lnRef idx="0"/>
          <a:fillRef idx="0"/>
          <a:effectRef idx="0"/>
          <a:fontRef idx="minor"/>
        </p:style>
      </p:sp>
      <p:sp>
        <p:nvSpPr>
          <p:cNvPr id="211" name="CustomShape 7"/>
          <p:cNvSpPr/>
          <p:nvPr/>
        </p:nvSpPr>
        <p:spPr>
          <a:xfrm>
            <a:off x="2141280" y="592920"/>
            <a:ext cx="7053840" cy="7412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What is Testing?</a:t>
            </a:r>
            <a:endParaRPr b="0" lang="en-US" sz="4400" spc="-1" strike="noStrike">
              <a:latin typeface="Arial"/>
            </a:endParaRPr>
          </a:p>
        </p:txBody>
      </p:sp>
      <p:sp>
        <p:nvSpPr>
          <p:cNvPr id="212" name="CustomShape 8"/>
          <p:cNvSpPr/>
          <p:nvPr/>
        </p:nvSpPr>
        <p:spPr>
          <a:xfrm>
            <a:off x="1519200" y="1744560"/>
            <a:ext cx="8298000" cy="1405080"/>
          </a:xfrm>
          <a:prstGeom prst="rect">
            <a:avLst/>
          </a:prstGeom>
          <a:noFill/>
          <a:ln>
            <a:noFill/>
          </a:ln>
        </p:spPr>
        <p:style>
          <a:lnRef idx="0"/>
          <a:fillRef idx="0"/>
          <a:effectRef idx="0"/>
          <a:fontRef idx="minor"/>
        </p:style>
      </p:sp>
      <p:sp>
        <p:nvSpPr>
          <p:cNvPr id="213" name="CustomShape 9"/>
          <p:cNvSpPr/>
          <p:nvPr/>
        </p:nvSpPr>
        <p:spPr>
          <a:xfrm>
            <a:off x="1258920" y="1463400"/>
            <a:ext cx="10627920" cy="4113360"/>
          </a:xfrm>
          <a:prstGeom prst="rect">
            <a:avLst/>
          </a:prstGeom>
          <a:noFill/>
          <a:ln>
            <a:noFill/>
          </a:ln>
        </p:spPr>
        <p:style>
          <a:lnRef idx="0"/>
          <a:fillRef idx="0"/>
          <a:effectRef idx="0"/>
          <a:fontRef idx="minor"/>
        </p:style>
        <p:txBody>
          <a:bodyPr lIns="90000" rIns="90000" tIns="45000" bIns="45000">
            <a:spAutoFit/>
          </a:bodyPr>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Automated testing lets you codify (literally!) how you want your software to behave and lets you say, “My code works!” with much more confidence. It lets you refactor code</a:t>
            </a:r>
            <a:r>
              <a:rPr b="0" lang="pl-PL" sz="2400" spc="-1" strike="noStrike">
                <a:solidFill>
                  <a:srgbClr val="ffffff"/>
                </a:solidFill>
                <a:latin typeface="Arial"/>
                <a:ea typeface="DejaVu Sans"/>
              </a:rPr>
              <a:t>.</a:t>
            </a:r>
            <a:endParaRPr b="0" lang="en-US" sz="2400" spc="-1" strike="noStrike">
              <a:latin typeface="Arial"/>
            </a:endParaRPr>
          </a:p>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Without tests, you’ll have to manually verify that your old code behaves like the new code. With good automated tests, you can be confident that this refactoring doesn’t break anything.</a:t>
            </a:r>
            <a:endParaRPr b="0" lang="en-US" sz="2400" spc="-1" strike="noStrike">
              <a:latin typeface="Arial"/>
            </a:endParaRPr>
          </a:p>
          <a:p>
            <a:pPr>
              <a:lnSpc>
                <a:spcPct val="100000"/>
              </a:lnSpc>
            </a:pPr>
            <a:endParaRPr b="0" lang="en-US" sz="2400" spc="-1" strike="noStrike">
              <a:latin typeface="Arial"/>
            </a:endParaRPr>
          </a:p>
          <a:p>
            <a:pPr>
              <a:lnSpc>
                <a:spcPct val="100000"/>
              </a:lnSpc>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CustomShape 1"/>
          <p:cNvSpPr/>
          <p:nvPr/>
        </p:nvSpPr>
        <p:spPr>
          <a:xfrm>
            <a:off x="1616400" y="640080"/>
            <a:ext cx="10818000" cy="683280"/>
          </a:xfrm>
          <a:prstGeom prst="rect">
            <a:avLst/>
          </a:prstGeom>
          <a:noFill/>
          <a:ln>
            <a:noFill/>
          </a:ln>
        </p:spPr>
        <p:style>
          <a:lnRef idx="0"/>
          <a:fillRef idx="0"/>
          <a:effectRef idx="0"/>
          <a:fontRef idx="minor"/>
        </p:style>
      </p:sp>
      <p:sp>
        <p:nvSpPr>
          <p:cNvPr id="215" name="CustomShape 2"/>
          <p:cNvSpPr/>
          <p:nvPr/>
        </p:nvSpPr>
        <p:spPr>
          <a:xfrm>
            <a:off x="1471680" y="32760"/>
            <a:ext cx="9248400" cy="7412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Test-driven development</a:t>
            </a:r>
            <a:endParaRPr b="0" lang="en-US" sz="4400" spc="-1" strike="noStrike">
              <a:latin typeface="Arial"/>
            </a:endParaRPr>
          </a:p>
        </p:txBody>
      </p:sp>
      <p:sp>
        <p:nvSpPr>
          <p:cNvPr id="216" name="CustomShape 3"/>
          <p:cNvSpPr/>
          <p:nvPr/>
        </p:nvSpPr>
        <p:spPr>
          <a:xfrm>
            <a:off x="4316760" y="982080"/>
            <a:ext cx="6491880" cy="3295080"/>
          </a:xfrm>
          <a:prstGeom prst="rect">
            <a:avLst/>
          </a:prstGeom>
          <a:noFill/>
          <a:ln>
            <a:noFill/>
          </a:ln>
        </p:spPr>
        <p:style>
          <a:lnRef idx="0"/>
          <a:fillRef idx="0"/>
          <a:effectRef idx="0"/>
          <a:fontRef idx="minor"/>
        </p:style>
        <p:txBody>
          <a:bodyPr lIns="90000" rIns="90000" tIns="45000" bIns="45000">
            <a:noAutofit/>
          </a:bodyPr>
          <a:p>
            <a:pPr marL="343080" indent="-342720" algn="just">
              <a:lnSpc>
                <a:spcPct val="100000"/>
              </a:lnSpc>
              <a:buClr>
                <a:srgbClr val="ffffff"/>
              </a:buClr>
              <a:buFont typeface="Arial"/>
              <a:buChar char="•"/>
            </a:pPr>
            <a:r>
              <a:rPr b="0" lang="en-US" sz="2000" spc="-1" strike="noStrike">
                <a:solidFill>
                  <a:srgbClr val="ffffff"/>
                </a:solidFill>
                <a:latin typeface="Arial"/>
                <a:ea typeface="DejaVu Sans"/>
              </a:rPr>
              <a:t>The red step. Because it’s TDD , you write your tests first. When you write these tests before you write any of the real code, none of your tests green refactor will pass. During the red step, you write all of your tests and run them to watch them all fail.</a:t>
            </a:r>
            <a:endParaRPr b="0" lang="en-US" sz="2000" spc="-1" strike="noStrike">
              <a:latin typeface="Arial"/>
            </a:endParaRPr>
          </a:p>
          <a:p>
            <a:pPr algn="just">
              <a:lnSpc>
                <a:spcPct val="100000"/>
              </a:lnSpc>
            </a:pPr>
            <a:endParaRPr b="0" lang="en-US" sz="2000" spc="-1" strike="noStrike">
              <a:latin typeface="Arial"/>
            </a:endParaRPr>
          </a:p>
          <a:p>
            <a:pPr marL="343080" indent="-342720" algn="just">
              <a:lnSpc>
                <a:spcPct val="100000"/>
              </a:lnSpc>
              <a:buClr>
                <a:srgbClr val="ffffff"/>
              </a:buClr>
              <a:buFont typeface="Arial"/>
              <a:buChar char="•"/>
            </a:pPr>
            <a:r>
              <a:rPr b="0" lang="en-US" sz="2000" spc="-1" strike="noStrike">
                <a:solidFill>
                  <a:srgbClr val="ffffff"/>
                </a:solidFill>
                <a:latin typeface="Arial"/>
                <a:ea typeface="DejaVu Sans"/>
              </a:rPr>
              <a:t>The green step. Now that you’ve written all of your tests, you begin to fill in the real code to satisfy all the tests. As you make progress, your tests will slowly go from red (failing) to green (passing).</a:t>
            </a:r>
            <a:endParaRPr b="0" lang="en-US" sz="2000" spc="-1" strike="noStrike">
              <a:latin typeface="Arial"/>
            </a:endParaRPr>
          </a:p>
          <a:p>
            <a:pPr algn="just">
              <a:lnSpc>
                <a:spcPct val="100000"/>
              </a:lnSpc>
            </a:pPr>
            <a:endParaRPr b="0" lang="en-US" sz="2000" spc="-1" strike="noStrike">
              <a:latin typeface="Arial"/>
            </a:endParaRPr>
          </a:p>
        </p:txBody>
      </p:sp>
      <p:pic>
        <p:nvPicPr>
          <p:cNvPr id="217" name="Рисунок 264" descr=""/>
          <p:cNvPicPr/>
          <p:nvPr/>
        </p:nvPicPr>
        <p:blipFill>
          <a:blip r:embed="rId1"/>
          <a:stretch/>
        </p:blipFill>
        <p:spPr>
          <a:xfrm>
            <a:off x="1178280" y="982080"/>
            <a:ext cx="3138120" cy="2742480"/>
          </a:xfrm>
          <a:prstGeom prst="rect">
            <a:avLst/>
          </a:prstGeom>
          <a:ln>
            <a:noFill/>
          </a:ln>
        </p:spPr>
      </p:pic>
      <p:sp>
        <p:nvSpPr>
          <p:cNvPr id="218" name="CustomShape 4"/>
          <p:cNvSpPr/>
          <p:nvPr/>
        </p:nvSpPr>
        <p:spPr>
          <a:xfrm>
            <a:off x="476280" y="4262040"/>
            <a:ext cx="10332360" cy="1944720"/>
          </a:xfrm>
          <a:prstGeom prst="rect">
            <a:avLst/>
          </a:prstGeom>
          <a:noFill/>
          <a:ln>
            <a:noFill/>
          </a:ln>
        </p:spPr>
        <p:style>
          <a:lnRef idx="0"/>
          <a:fillRef idx="0"/>
          <a:effectRef idx="0"/>
          <a:fontRef idx="minor"/>
        </p:style>
        <p:txBody>
          <a:bodyPr lIns="90000" rIns="90000" tIns="45000" bIns="45000">
            <a:noAutofit/>
          </a:bodyPr>
          <a:p>
            <a:pPr marL="343080" indent="-342720" algn="just">
              <a:lnSpc>
                <a:spcPct val="100000"/>
              </a:lnSpc>
              <a:buClr>
                <a:srgbClr val="ffffff"/>
              </a:buClr>
              <a:buFont typeface="Arial"/>
              <a:buChar char="•"/>
            </a:pPr>
            <a:r>
              <a:rPr b="0" lang="en-US" sz="2000" spc="-1" strike="noStrike">
                <a:solidFill>
                  <a:srgbClr val="ffffff"/>
                </a:solidFill>
                <a:latin typeface="Arial"/>
                <a:ea typeface="DejaVu Sans"/>
              </a:rPr>
              <a:t>The refactor step. If all of your tests are green, that means all of your code works,</a:t>
            </a:r>
            <a:r>
              <a:rPr b="0" lang="en-US" sz="2000" spc="-1" strike="noStrike">
                <a:solidFill>
                  <a:srgbClr val="000000"/>
                </a:solidFill>
                <a:latin typeface="Arial"/>
                <a:ea typeface="DejaVu Sans"/>
              </a:rPr>
              <a:t> </a:t>
            </a:r>
            <a:r>
              <a:rPr b="0" lang="en-US" sz="2000" spc="-1" strike="noStrike">
                <a:solidFill>
                  <a:srgbClr val="ffffff"/>
                </a:solidFill>
                <a:latin typeface="Arial"/>
                <a:ea typeface="DejaVu Sans"/>
              </a:rPr>
              <a:t>but it might not be perfect. Perhaps one of your functions is slow or you’ve chosen bad variable names. Because you have all of your tests, you can refactor without worrying that you’re breaking some unforeseen part of your code.</a:t>
            </a:r>
            <a:endParaRPr b="0" lang="en-US" sz="2000" spc="-1" strike="noStrike">
              <a:latin typeface="Arial"/>
            </a:endParaRPr>
          </a:p>
          <a:p>
            <a:pPr>
              <a:lnSpc>
                <a:spcPct val="100000"/>
              </a:lnSpc>
            </a:pPr>
            <a:endParaRPr b="0" lang="en-US" sz="2000" spc="-1" strike="noStrike">
              <a:latin typeface="Arial"/>
            </a:endParaRPr>
          </a:p>
          <a:p>
            <a:pPr marL="343080" indent="-342720">
              <a:lnSpc>
                <a:spcPct val="100000"/>
              </a:lnSpc>
              <a:buClr>
                <a:srgbClr val="ffffff"/>
              </a:buClr>
              <a:buFont typeface="Arial"/>
              <a:buChar char="•"/>
            </a:pPr>
            <a:r>
              <a:rPr b="0" lang="en-US" sz="2000" spc="-1" strike="noStrike">
                <a:solidFill>
                  <a:srgbClr val="ffffff"/>
                </a:solidFill>
                <a:latin typeface="Arial"/>
                <a:ea typeface="DejaVu Sans"/>
              </a:rPr>
              <a:t>Repeat the process.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CustomShape 1"/>
          <p:cNvSpPr/>
          <p:nvPr/>
        </p:nvSpPr>
        <p:spPr>
          <a:xfrm>
            <a:off x="610560" y="731520"/>
            <a:ext cx="10818000" cy="683280"/>
          </a:xfrm>
          <a:prstGeom prst="rect">
            <a:avLst/>
          </a:prstGeom>
          <a:noFill/>
          <a:ln>
            <a:noFill/>
          </a:ln>
        </p:spPr>
        <p:style>
          <a:lnRef idx="0"/>
          <a:fillRef idx="0"/>
          <a:effectRef idx="0"/>
          <a:fontRef idx="minor"/>
        </p:style>
      </p:sp>
      <p:sp>
        <p:nvSpPr>
          <p:cNvPr id="220" name="CustomShape 2"/>
          <p:cNvSpPr/>
          <p:nvPr/>
        </p:nvSpPr>
        <p:spPr>
          <a:xfrm>
            <a:off x="685800" y="2574360"/>
            <a:ext cx="10818000" cy="2909520"/>
          </a:xfrm>
          <a:prstGeom prst="rect">
            <a:avLst/>
          </a:prstGeom>
          <a:noFill/>
          <a:ln>
            <a:noFill/>
          </a:ln>
        </p:spPr>
        <p:style>
          <a:lnRef idx="0"/>
          <a:fillRef idx="0"/>
          <a:effectRef idx="0"/>
          <a:fontRef idx="minor"/>
        </p:style>
      </p:sp>
      <p:sp>
        <p:nvSpPr>
          <p:cNvPr id="221" name="CustomShape 3"/>
          <p:cNvSpPr/>
          <p:nvPr/>
        </p:nvSpPr>
        <p:spPr>
          <a:xfrm>
            <a:off x="1494000" y="656280"/>
            <a:ext cx="9051120" cy="8337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Code coverage</a:t>
            </a:r>
            <a:endParaRPr b="0" lang="en-US" sz="4400" spc="-1" strike="noStrike">
              <a:latin typeface="Arial"/>
            </a:endParaRPr>
          </a:p>
        </p:txBody>
      </p:sp>
      <p:sp>
        <p:nvSpPr>
          <p:cNvPr id="222" name="CustomShape 4"/>
          <p:cNvSpPr/>
          <p:nvPr/>
        </p:nvSpPr>
        <p:spPr>
          <a:xfrm>
            <a:off x="1364400" y="1855080"/>
            <a:ext cx="9902160" cy="3411360"/>
          </a:xfrm>
          <a:prstGeom prst="rect">
            <a:avLst/>
          </a:prstGeom>
          <a:noFill/>
          <a:ln>
            <a:noFill/>
          </a:ln>
        </p:spPr>
        <p:style>
          <a:lnRef idx="0"/>
          <a:fillRef idx="0"/>
          <a:effectRef idx="0"/>
          <a:fontRef idx="minor"/>
        </p:style>
        <p:txBody>
          <a:bodyPr lIns="90000" rIns="90000" tIns="45000" bIns="45000">
            <a:noAutofit/>
          </a:bodyPr>
          <a:p>
            <a:pPr marL="343080" indent="-342720" algn="just">
              <a:lnSpc>
                <a:spcPct val="150000"/>
              </a:lnSpc>
              <a:buClr>
                <a:srgbClr val="ffffff"/>
              </a:buClr>
              <a:buFont typeface="Arial"/>
              <a:buChar char="•"/>
            </a:pPr>
            <a:r>
              <a:rPr b="0" lang="en-US" sz="2000" spc="-1" strike="noStrike">
                <a:solidFill>
                  <a:srgbClr val="ffffff"/>
                </a:solidFill>
                <a:latin typeface="Arial"/>
                <a:ea typeface="DejaVu Sans"/>
              </a:rPr>
              <a:t>Code coverage tools see how much of your code is covered by your tests. You could imagine writing 10 passing tests for your code but completely ignoring one of your</a:t>
            </a:r>
            <a:r>
              <a:rPr b="0" lang="en-US" sz="2000" spc="-1" strike="noStrike">
                <a:solidFill>
                  <a:srgbClr val="000000"/>
                </a:solidFill>
                <a:latin typeface="Arial"/>
                <a:ea typeface="DejaVu Sans"/>
              </a:rPr>
              <a:t> </a:t>
            </a:r>
            <a:r>
              <a:rPr b="0" lang="en-US" sz="2000" spc="-1" strike="noStrike">
                <a:solidFill>
                  <a:srgbClr val="ffffff"/>
                </a:solidFill>
                <a:latin typeface="Arial"/>
                <a:ea typeface="DejaVu Sans"/>
              </a:rPr>
              <a:t>functions, which is totally broken! Code coverage tools tell you what parts of your</a:t>
            </a:r>
            <a:r>
              <a:rPr b="0" lang="en-US" sz="2000" spc="-1" strike="noStrike">
                <a:solidFill>
                  <a:srgbClr val="000000"/>
                </a:solidFill>
                <a:latin typeface="Arial"/>
                <a:ea typeface="DejaVu Sans"/>
              </a:rPr>
              <a:t> </a:t>
            </a:r>
            <a:r>
              <a:rPr b="0" lang="en-US" sz="2000" spc="-1" strike="noStrike">
                <a:solidFill>
                  <a:srgbClr val="ffffff"/>
                </a:solidFill>
                <a:latin typeface="Arial"/>
                <a:ea typeface="DejaVu Sans"/>
              </a:rPr>
              <a:t>code are untouched by tests and therefore untested. In the Node world, the prevailing</a:t>
            </a:r>
            <a:r>
              <a:rPr b="0" lang="en-US" sz="2000" spc="-1" strike="noStrike">
                <a:solidFill>
                  <a:srgbClr val="000000"/>
                </a:solidFill>
                <a:latin typeface="Arial"/>
                <a:ea typeface="DejaVu Sans"/>
              </a:rPr>
              <a:t> </a:t>
            </a:r>
            <a:r>
              <a:rPr b="0" lang="en-US" sz="2000" spc="-1" strike="noStrike">
                <a:solidFill>
                  <a:srgbClr val="ffffff"/>
                </a:solidFill>
                <a:latin typeface="Arial"/>
                <a:ea typeface="DejaVu Sans"/>
              </a:rPr>
              <a:t>code coverage tool seems to be Istanbul (https://istanbul.js.org/).</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CustomShape 1"/>
          <p:cNvSpPr/>
          <p:nvPr/>
        </p:nvSpPr>
        <p:spPr>
          <a:xfrm>
            <a:off x="1890720" y="640080"/>
            <a:ext cx="10818000" cy="683280"/>
          </a:xfrm>
          <a:prstGeom prst="rect">
            <a:avLst/>
          </a:prstGeom>
          <a:noFill/>
          <a:ln>
            <a:noFill/>
          </a:ln>
        </p:spPr>
        <p:style>
          <a:lnRef idx="0"/>
          <a:fillRef idx="0"/>
          <a:effectRef idx="0"/>
          <a:fontRef idx="minor"/>
        </p:style>
      </p:sp>
      <p:sp>
        <p:nvSpPr>
          <p:cNvPr id="224" name="CustomShape 2"/>
          <p:cNvSpPr/>
          <p:nvPr/>
        </p:nvSpPr>
        <p:spPr>
          <a:xfrm>
            <a:off x="683280" y="1382760"/>
            <a:ext cx="10818000" cy="3426480"/>
          </a:xfrm>
          <a:prstGeom prst="rect">
            <a:avLst/>
          </a:prstGeom>
          <a:noFill/>
          <a:ln>
            <a:noFill/>
          </a:ln>
        </p:spPr>
        <p:style>
          <a:lnRef idx="0"/>
          <a:fillRef idx="0"/>
          <a:effectRef idx="0"/>
          <a:fontRef idx="minor"/>
        </p:style>
      </p:sp>
      <p:sp>
        <p:nvSpPr>
          <p:cNvPr id="225" name="CustomShape 3"/>
          <p:cNvSpPr/>
          <p:nvPr/>
        </p:nvSpPr>
        <p:spPr>
          <a:xfrm>
            <a:off x="881640" y="582120"/>
            <a:ext cx="10762200" cy="7412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Introducing the Mocha testing framework</a:t>
            </a:r>
            <a:endParaRPr b="0" lang="en-US" sz="4400" spc="-1" strike="noStrike">
              <a:latin typeface="Arial"/>
            </a:endParaRPr>
          </a:p>
        </p:txBody>
      </p:sp>
      <p:sp>
        <p:nvSpPr>
          <p:cNvPr id="226" name="CustomShape 4"/>
          <p:cNvSpPr/>
          <p:nvPr/>
        </p:nvSpPr>
        <p:spPr>
          <a:xfrm>
            <a:off x="1219320" y="2079000"/>
            <a:ext cx="9746280" cy="245880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Mocha (https://mochajs.org/) is a testing framework which gives you a nice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syntax for</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organizing your tests and has several other features like asynchronous test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support and easy</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to-read output. It’s not specifically tied to Express, so you can use it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to test Express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applications, JavaScript functions, database models, and anything else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that runs inside the Node runtime.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CustomShape 1"/>
          <p:cNvSpPr/>
          <p:nvPr/>
        </p:nvSpPr>
        <p:spPr>
          <a:xfrm>
            <a:off x="685800" y="685800"/>
            <a:ext cx="10818000" cy="683280"/>
          </a:xfrm>
          <a:prstGeom prst="rect">
            <a:avLst/>
          </a:prstGeom>
          <a:noFill/>
          <a:ln>
            <a:noFill/>
          </a:ln>
        </p:spPr>
        <p:style>
          <a:lnRef idx="0"/>
          <a:fillRef idx="0"/>
          <a:effectRef idx="0"/>
          <a:fontRef idx="minor"/>
        </p:style>
      </p:sp>
      <p:sp>
        <p:nvSpPr>
          <p:cNvPr id="228" name="CustomShape 2"/>
          <p:cNvSpPr/>
          <p:nvPr/>
        </p:nvSpPr>
        <p:spPr>
          <a:xfrm>
            <a:off x="685800" y="2057400"/>
            <a:ext cx="10818000" cy="3426480"/>
          </a:xfrm>
          <a:prstGeom prst="rect">
            <a:avLst/>
          </a:prstGeom>
          <a:noFill/>
          <a:ln>
            <a:noFill/>
          </a:ln>
        </p:spPr>
        <p:style>
          <a:lnRef idx="0"/>
          <a:fillRef idx="0"/>
          <a:effectRef idx="0"/>
          <a:fontRef idx="minor"/>
        </p:style>
      </p:sp>
      <p:sp>
        <p:nvSpPr>
          <p:cNvPr id="229" name="CustomShape 3"/>
          <p:cNvSpPr/>
          <p:nvPr/>
        </p:nvSpPr>
        <p:spPr>
          <a:xfrm>
            <a:off x="866520" y="595080"/>
            <a:ext cx="10559880" cy="74124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How does Node.js testing work?</a:t>
            </a:r>
            <a:endParaRPr b="0" lang="en-US" sz="4400" spc="-1" strike="noStrike">
              <a:latin typeface="Arial"/>
            </a:endParaRPr>
          </a:p>
        </p:txBody>
      </p:sp>
      <p:sp>
        <p:nvSpPr>
          <p:cNvPr id="230" name="CustomShape 4"/>
          <p:cNvSpPr/>
          <p:nvPr/>
        </p:nvSpPr>
        <p:spPr>
          <a:xfrm>
            <a:off x="1076760" y="1717200"/>
            <a:ext cx="10036080" cy="31618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The real code is whatever you want to test. This might be a function, or a database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model, or an</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Express server. In a Node.js context, this is anything that assigns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something to module.exports .</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 test code tests your real code. This will require whatever you want to test and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then start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asking questions about it. Does the function return what it should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return? Do your objects behave as they should?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 test runner is an executable that runs on your computer. It looks at your test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code and runs it. Test runners commonly print out things like “These tests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succeeded, these tests failed, and here’s how” or “The tests took 100 milliseconds to run.”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CustomShape 1"/>
          <p:cNvSpPr/>
          <p:nvPr/>
        </p:nvSpPr>
        <p:spPr>
          <a:xfrm>
            <a:off x="685800" y="685800"/>
            <a:ext cx="10818000" cy="683280"/>
          </a:xfrm>
          <a:prstGeom prst="rect">
            <a:avLst/>
          </a:prstGeom>
          <a:noFill/>
          <a:ln>
            <a:noFill/>
          </a:ln>
        </p:spPr>
        <p:style>
          <a:lnRef idx="0"/>
          <a:fillRef idx="0"/>
          <a:effectRef idx="0"/>
          <a:fontRef idx="minor"/>
        </p:style>
      </p:sp>
      <p:sp>
        <p:nvSpPr>
          <p:cNvPr id="232" name="CustomShape 2"/>
          <p:cNvSpPr/>
          <p:nvPr/>
        </p:nvSpPr>
        <p:spPr>
          <a:xfrm>
            <a:off x="685800" y="2057400"/>
            <a:ext cx="10818000" cy="3426480"/>
          </a:xfrm>
          <a:prstGeom prst="rect">
            <a:avLst/>
          </a:prstGeom>
          <a:noFill/>
          <a:ln>
            <a:noFill/>
          </a:ln>
        </p:spPr>
        <p:style>
          <a:lnRef idx="0"/>
          <a:fillRef idx="0"/>
          <a:effectRef idx="0"/>
          <a:fontRef idx="minor"/>
        </p:style>
      </p:sp>
      <p:pic>
        <p:nvPicPr>
          <p:cNvPr id="233" name="Рисунок 281" descr=""/>
          <p:cNvPicPr/>
          <p:nvPr/>
        </p:nvPicPr>
        <p:blipFill>
          <a:blip r:embed="rId1"/>
          <a:stretch/>
        </p:blipFill>
        <p:spPr>
          <a:xfrm>
            <a:off x="914400" y="4297680"/>
            <a:ext cx="4112280" cy="1914840"/>
          </a:xfrm>
          <a:prstGeom prst="rect">
            <a:avLst/>
          </a:prstGeom>
          <a:ln>
            <a:noFill/>
          </a:ln>
        </p:spPr>
      </p:pic>
      <p:pic>
        <p:nvPicPr>
          <p:cNvPr id="234" name="Рисунок 282" descr=""/>
          <p:cNvPicPr/>
          <p:nvPr/>
        </p:nvPicPr>
        <p:blipFill>
          <a:blip r:embed="rId2"/>
          <a:stretch/>
        </p:blipFill>
        <p:spPr>
          <a:xfrm>
            <a:off x="944640" y="1943640"/>
            <a:ext cx="4176000" cy="2079720"/>
          </a:xfrm>
          <a:prstGeom prst="rect">
            <a:avLst/>
          </a:prstGeom>
          <a:ln>
            <a:noFill/>
          </a:ln>
        </p:spPr>
      </p:pic>
      <p:sp>
        <p:nvSpPr>
          <p:cNvPr id="235" name="CustomShape 3"/>
          <p:cNvSpPr/>
          <p:nvPr/>
        </p:nvSpPr>
        <p:spPr>
          <a:xfrm>
            <a:off x="5511600" y="1743120"/>
            <a:ext cx="5035680" cy="3377520"/>
          </a:xfrm>
          <a:prstGeom prst="rect">
            <a:avLst/>
          </a:prstGeom>
          <a:noFill/>
          <a:ln>
            <a:noFill/>
          </a:ln>
        </p:spPr>
        <p:style>
          <a:lnRef idx="0"/>
          <a:fillRef idx="0"/>
          <a:effectRef idx="0"/>
          <a:fontRef idx="minor"/>
        </p:style>
        <p:txBody>
          <a:bodyPr lIns="90000" rIns="90000" tIns="45000" bIns="45000">
            <a:noAutofit/>
          </a:bodyPr>
          <a:p>
            <a:pPr algn="just">
              <a:lnSpc>
                <a:spcPct val="150000"/>
              </a:lnSpc>
            </a:pPr>
            <a:r>
              <a:rPr b="0" lang="en-US" sz="1800" spc="-1" strike="noStrike">
                <a:solidFill>
                  <a:srgbClr val="ffffff"/>
                </a:solidFill>
                <a:latin typeface="Arial"/>
                <a:ea typeface="DejaVu Sans"/>
              </a:rPr>
              <a:t>Mocha waits for an assertion library to throw an error. If no error is thrown, the test passes. If an error is thrown, the test fails. That’s why you use Chai—it’s a nice way to throw errors when your tests fail.</a:t>
            </a:r>
            <a:endParaRPr b="0" lang="en-US" sz="1800" spc="-1" strike="noStrike">
              <a:latin typeface="Arial"/>
            </a:endParaRPr>
          </a:p>
        </p:txBody>
      </p:sp>
      <p:sp>
        <p:nvSpPr>
          <p:cNvPr id="236" name="CustomShape 4"/>
          <p:cNvSpPr/>
          <p:nvPr/>
        </p:nvSpPr>
        <p:spPr>
          <a:xfrm>
            <a:off x="-84600" y="290160"/>
            <a:ext cx="12360960" cy="21006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4400" spc="-1" strike="noStrike">
                <a:solidFill>
                  <a:srgbClr val="ffffff"/>
                </a:solidFill>
                <a:latin typeface="Proxima Nova Black"/>
                <a:ea typeface="DejaVu Sans"/>
              </a:rPr>
              <a:t>Setting up Mocha and the Chai assertion library</a:t>
            </a:r>
            <a:endParaRPr b="0" lang="en-US" sz="4400" spc="-1" strike="noStrike">
              <a:latin typeface="Arial"/>
            </a:endParaRPr>
          </a:p>
          <a:p>
            <a:pPr algn="ctr">
              <a:lnSpc>
                <a:spcPct val="100000"/>
              </a:lnSpc>
            </a:pP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CustomShape 1"/>
          <p:cNvSpPr/>
          <p:nvPr/>
        </p:nvSpPr>
        <p:spPr>
          <a:xfrm>
            <a:off x="685800" y="685800"/>
            <a:ext cx="10818000" cy="683280"/>
          </a:xfrm>
          <a:prstGeom prst="rect">
            <a:avLst/>
          </a:prstGeom>
          <a:noFill/>
          <a:ln>
            <a:noFill/>
          </a:ln>
        </p:spPr>
        <p:style>
          <a:lnRef idx="0"/>
          <a:fillRef idx="0"/>
          <a:effectRef idx="0"/>
          <a:fontRef idx="minor"/>
        </p:style>
      </p:sp>
      <p:sp>
        <p:nvSpPr>
          <p:cNvPr id="238" name="CustomShape 2"/>
          <p:cNvSpPr/>
          <p:nvPr/>
        </p:nvSpPr>
        <p:spPr>
          <a:xfrm>
            <a:off x="731520" y="2057400"/>
            <a:ext cx="10818000" cy="3426480"/>
          </a:xfrm>
          <a:prstGeom prst="rect">
            <a:avLst/>
          </a:prstGeom>
          <a:noFill/>
          <a:ln>
            <a:noFill/>
          </a:ln>
        </p:spPr>
        <p:style>
          <a:lnRef idx="0"/>
          <a:fillRef idx="0"/>
          <a:effectRef idx="0"/>
          <a:fontRef idx="minor"/>
        </p:style>
      </p:sp>
      <p:sp>
        <p:nvSpPr>
          <p:cNvPr id="239" name="CustomShape 3"/>
          <p:cNvSpPr/>
          <p:nvPr/>
        </p:nvSpPr>
        <p:spPr>
          <a:xfrm>
            <a:off x="914040" y="718920"/>
            <a:ext cx="10361520" cy="8211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What happens when you run your tests</a:t>
            </a:r>
            <a:endParaRPr b="0" lang="en-US" sz="4400" spc="-1" strike="noStrike">
              <a:latin typeface="Arial"/>
            </a:endParaRPr>
          </a:p>
        </p:txBody>
      </p:sp>
      <p:pic>
        <p:nvPicPr>
          <p:cNvPr id="240" name="Рисунок 287" descr=""/>
          <p:cNvPicPr/>
          <p:nvPr/>
        </p:nvPicPr>
        <p:blipFill>
          <a:blip r:embed="rId1"/>
          <a:stretch/>
        </p:blipFill>
        <p:spPr>
          <a:xfrm>
            <a:off x="3187800" y="2377440"/>
            <a:ext cx="6047640" cy="342648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CustomShape 1"/>
          <p:cNvSpPr/>
          <p:nvPr/>
        </p:nvSpPr>
        <p:spPr>
          <a:xfrm>
            <a:off x="685800" y="685800"/>
            <a:ext cx="10818000" cy="683280"/>
          </a:xfrm>
          <a:prstGeom prst="rect">
            <a:avLst/>
          </a:prstGeom>
          <a:noFill/>
          <a:ln>
            <a:noFill/>
          </a:ln>
        </p:spPr>
        <p:style>
          <a:lnRef idx="0"/>
          <a:fillRef idx="0"/>
          <a:effectRef idx="0"/>
          <a:fontRef idx="minor"/>
        </p:style>
      </p:sp>
      <p:sp>
        <p:nvSpPr>
          <p:cNvPr id="242" name="CustomShape 2"/>
          <p:cNvSpPr/>
          <p:nvPr/>
        </p:nvSpPr>
        <p:spPr>
          <a:xfrm>
            <a:off x="731520" y="2057400"/>
            <a:ext cx="10818000" cy="3426480"/>
          </a:xfrm>
          <a:prstGeom prst="rect">
            <a:avLst/>
          </a:prstGeom>
          <a:noFill/>
          <a:ln>
            <a:noFill/>
          </a:ln>
        </p:spPr>
        <p:style>
          <a:lnRef idx="0"/>
          <a:fillRef idx="0"/>
          <a:effectRef idx="0"/>
          <a:fontRef idx="minor"/>
        </p:style>
      </p:sp>
      <p:sp>
        <p:nvSpPr>
          <p:cNvPr id="243" name="CustomShape 3"/>
          <p:cNvSpPr/>
          <p:nvPr/>
        </p:nvSpPr>
        <p:spPr>
          <a:xfrm>
            <a:off x="1005840" y="457200"/>
            <a:ext cx="10361520" cy="821160"/>
          </a:xfrm>
          <a:prstGeom prst="rect">
            <a:avLst/>
          </a:prstGeom>
          <a:noFill/>
          <a:ln>
            <a:noFill/>
          </a:ln>
        </p:spPr>
        <p:style>
          <a:lnRef idx="0"/>
          <a:fillRef idx="0"/>
          <a:effectRef idx="0"/>
          <a:fontRef idx="minor"/>
        </p:style>
      </p:sp>
      <p:sp>
        <p:nvSpPr>
          <p:cNvPr id="244" name="CustomShape 4"/>
          <p:cNvSpPr/>
          <p:nvPr/>
        </p:nvSpPr>
        <p:spPr>
          <a:xfrm>
            <a:off x="959760" y="385560"/>
            <a:ext cx="10361520" cy="8211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More features of Mocha and Chai</a:t>
            </a:r>
            <a:endParaRPr b="0" lang="en-US" sz="4400" spc="-1" strike="noStrike">
              <a:latin typeface="Arial"/>
            </a:endParaRPr>
          </a:p>
        </p:txBody>
      </p:sp>
      <p:sp>
        <p:nvSpPr>
          <p:cNvPr id="245" name="CustomShape 5"/>
          <p:cNvSpPr/>
          <p:nvPr/>
        </p:nvSpPr>
        <p:spPr>
          <a:xfrm>
            <a:off x="537480" y="1473480"/>
            <a:ext cx="4380480" cy="3463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RUNNING CODE BEFORE EACH TEST</a:t>
            </a:r>
            <a:endParaRPr b="0" lang="en-US" sz="1800" spc="-1" strike="noStrike">
              <a:latin typeface="Arial"/>
            </a:endParaRPr>
          </a:p>
        </p:txBody>
      </p:sp>
      <p:pic>
        <p:nvPicPr>
          <p:cNvPr id="246" name="Рисунок 293" descr=""/>
          <p:cNvPicPr/>
          <p:nvPr/>
        </p:nvPicPr>
        <p:blipFill>
          <a:blip r:embed="rId1"/>
          <a:stretch/>
        </p:blipFill>
        <p:spPr>
          <a:xfrm>
            <a:off x="537480" y="1923840"/>
            <a:ext cx="4918680" cy="3911400"/>
          </a:xfrm>
          <a:prstGeom prst="rect">
            <a:avLst/>
          </a:prstGeom>
          <a:ln>
            <a:noFill/>
          </a:ln>
        </p:spPr>
      </p:pic>
      <p:sp>
        <p:nvSpPr>
          <p:cNvPr id="247" name="CustomShape 6"/>
          <p:cNvSpPr/>
          <p:nvPr/>
        </p:nvSpPr>
        <p:spPr>
          <a:xfrm>
            <a:off x="5664600" y="1496520"/>
            <a:ext cx="2819880" cy="3463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TESTING FOR ERRORS</a:t>
            </a:r>
            <a:endParaRPr b="0" lang="en-US" sz="1800" spc="-1" strike="noStrike">
              <a:latin typeface="Arial"/>
            </a:endParaRPr>
          </a:p>
        </p:txBody>
      </p:sp>
      <p:pic>
        <p:nvPicPr>
          <p:cNvPr id="248" name="Рисунок 295" descr=""/>
          <p:cNvPicPr/>
          <p:nvPr/>
        </p:nvPicPr>
        <p:blipFill>
          <a:blip r:embed="rId2"/>
          <a:stretch/>
        </p:blipFill>
        <p:spPr>
          <a:xfrm>
            <a:off x="5693760" y="1949040"/>
            <a:ext cx="5581800" cy="875880"/>
          </a:xfrm>
          <a:prstGeom prst="rect">
            <a:avLst/>
          </a:prstGeom>
          <a:ln>
            <a:noFill/>
          </a:ln>
        </p:spPr>
      </p:pic>
      <p:sp>
        <p:nvSpPr>
          <p:cNvPr id="249" name="CustomShape 7"/>
          <p:cNvSpPr/>
          <p:nvPr/>
        </p:nvSpPr>
        <p:spPr>
          <a:xfrm>
            <a:off x="5650560" y="3527280"/>
            <a:ext cx="2387160" cy="3463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REVERSING TESTS</a:t>
            </a:r>
            <a:endParaRPr b="0" lang="en-US" sz="1800" spc="-1" strike="noStrike">
              <a:latin typeface="Arial"/>
            </a:endParaRPr>
          </a:p>
        </p:txBody>
      </p:sp>
      <p:pic>
        <p:nvPicPr>
          <p:cNvPr id="250" name="Рисунок 297" descr=""/>
          <p:cNvPicPr/>
          <p:nvPr/>
        </p:nvPicPr>
        <p:blipFill>
          <a:blip r:embed="rId3"/>
          <a:stretch/>
        </p:blipFill>
        <p:spPr>
          <a:xfrm>
            <a:off x="5664600" y="4033080"/>
            <a:ext cx="5581800" cy="87588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CustomShape 1"/>
          <p:cNvSpPr/>
          <p:nvPr/>
        </p:nvSpPr>
        <p:spPr>
          <a:xfrm>
            <a:off x="685800" y="685800"/>
            <a:ext cx="10818000" cy="683280"/>
          </a:xfrm>
          <a:prstGeom prst="rect">
            <a:avLst/>
          </a:prstGeom>
          <a:noFill/>
          <a:ln>
            <a:noFill/>
          </a:ln>
        </p:spPr>
        <p:style>
          <a:lnRef idx="0"/>
          <a:fillRef idx="0"/>
          <a:effectRef idx="0"/>
          <a:fontRef idx="minor"/>
        </p:style>
      </p:sp>
      <p:sp>
        <p:nvSpPr>
          <p:cNvPr id="252" name="CustomShape 2"/>
          <p:cNvSpPr/>
          <p:nvPr/>
        </p:nvSpPr>
        <p:spPr>
          <a:xfrm>
            <a:off x="731520" y="2057400"/>
            <a:ext cx="10818000" cy="3426480"/>
          </a:xfrm>
          <a:prstGeom prst="rect">
            <a:avLst/>
          </a:prstGeom>
          <a:noFill/>
          <a:ln>
            <a:noFill/>
          </a:ln>
        </p:spPr>
        <p:style>
          <a:lnRef idx="0"/>
          <a:fillRef idx="0"/>
          <a:effectRef idx="0"/>
          <a:fontRef idx="minor"/>
        </p:style>
      </p:sp>
      <p:sp>
        <p:nvSpPr>
          <p:cNvPr id="253" name="CustomShape 3"/>
          <p:cNvSpPr/>
          <p:nvPr/>
        </p:nvSpPr>
        <p:spPr>
          <a:xfrm>
            <a:off x="1005840" y="457200"/>
            <a:ext cx="10361520" cy="821160"/>
          </a:xfrm>
          <a:prstGeom prst="rect">
            <a:avLst/>
          </a:prstGeom>
          <a:noFill/>
          <a:ln>
            <a:noFill/>
          </a:ln>
        </p:spPr>
        <p:style>
          <a:lnRef idx="0"/>
          <a:fillRef idx="0"/>
          <a:effectRef idx="0"/>
          <a:fontRef idx="minor"/>
        </p:style>
      </p:sp>
      <p:sp>
        <p:nvSpPr>
          <p:cNvPr id="254" name="CustomShape 4"/>
          <p:cNvSpPr/>
          <p:nvPr/>
        </p:nvSpPr>
        <p:spPr>
          <a:xfrm>
            <a:off x="914040" y="109440"/>
            <a:ext cx="10361520" cy="8211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Testing a simple API</a:t>
            </a:r>
            <a:endParaRPr b="0" lang="en-US" sz="4400" spc="-1" strike="noStrike">
              <a:latin typeface="Arial"/>
            </a:endParaRPr>
          </a:p>
        </p:txBody>
      </p:sp>
      <p:pic>
        <p:nvPicPr>
          <p:cNvPr id="255" name="Рисунок 302" descr=""/>
          <p:cNvPicPr/>
          <p:nvPr/>
        </p:nvPicPr>
        <p:blipFill>
          <a:blip r:embed="rId1"/>
          <a:stretch/>
        </p:blipFill>
        <p:spPr>
          <a:xfrm>
            <a:off x="3693600" y="867960"/>
            <a:ext cx="4985640" cy="524376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CustomShape 1"/>
          <p:cNvSpPr/>
          <p:nvPr/>
        </p:nvSpPr>
        <p:spPr>
          <a:xfrm>
            <a:off x="685800" y="685800"/>
            <a:ext cx="10818000" cy="683280"/>
          </a:xfrm>
          <a:prstGeom prst="rect">
            <a:avLst/>
          </a:prstGeom>
          <a:noFill/>
          <a:ln>
            <a:noFill/>
          </a:ln>
        </p:spPr>
        <p:style>
          <a:lnRef idx="0"/>
          <a:fillRef idx="0"/>
          <a:effectRef idx="0"/>
          <a:fontRef idx="minor"/>
        </p:style>
      </p:sp>
      <p:sp>
        <p:nvSpPr>
          <p:cNvPr id="257" name="CustomShape 2"/>
          <p:cNvSpPr/>
          <p:nvPr/>
        </p:nvSpPr>
        <p:spPr>
          <a:xfrm>
            <a:off x="731520" y="2057400"/>
            <a:ext cx="10818000" cy="3426480"/>
          </a:xfrm>
          <a:prstGeom prst="rect">
            <a:avLst/>
          </a:prstGeom>
          <a:noFill/>
          <a:ln>
            <a:noFill/>
          </a:ln>
        </p:spPr>
        <p:style>
          <a:lnRef idx="0"/>
          <a:fillRef idx="0"/>
          <a:effectRef idx="0"/>
          <a:fontRef idx="minor"/>
        </p:style>
      </p:sp>
      <p:sp>
        <p:nvSpPr>
          <p:cNvPr id="258" name="CustomShape 3"/>
          <p:cNvSpPr/>
          <p:nvPr/>
        </p:nvSpPr>
        <p:spPr>
          <a:xfrm>
            <a:off x="478440" y="332280"/>
            <a:ext cx="11147040" cy="6004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Node.js Testing Best Practices</a:t>
            </a:r>
            <a:endParaRPr b="0" lang="en-US" sz="4400" spc="-1" strike="noStrike">
              <a:latin typeface="Arial"/>
            </a:endParaRPr>
          </a:p>
        </p:txBody>
      </p:sp>
      <p:sp>
        <p:nvSpPr>
          <p:cNvPr id="259" name="CustomShape 4"/>
          <p:cNvSpPr/>
          <p:nvPr/>
        </p:nvSpPr>
        <p:spPr>
          <a:xfrm>
            <a:off x="478440" y="1272240"/>
            <a:ext cx="10980000" cy="600480"/>
          </a:xfrm>
          <a:prstGeom prst="rect">
            <a:avLst/>
          </a:prstGeom>
          <a:noFill/>
          <a:ln>
            <a:noFill/>
          </a:ln>
        </p:spPr>
        <p:style>
          <a:lnRef idx="0"/>
          <a:fillRef idx="0"/>
          <a:effectRef idx="0"/>
          <a:fontRef idx="minor"/>
        </p:style>
      </p:sp>
      <p:sp>
        <p:nvSpPr>
          <p:cNvPr id="260" name="CustomShape 5"/>
          <p:cNvSpPr/>
          <p:nvPr/>
        </p:nvSpPr>
        <p:spPr>
          <a:xfrm>
            <a:off x="576360" y="2458440"/>
            <a:ext cx="10980000" cy="363960"/>
          </a:xfrm>
          <a:prstGeom prst="rect">
            <a:avLst/>
          </a:prstGeom>
          <a:noFill/>
          <a:ln>
            <a:noFill/>
          </a:ln>
        </p:spPr>
        <p:style>
          <a:lnRef idx="0"/>
          <a:fillRef idx="0"/>
          <a:effectRef idx="0"/>
          <a:fontRef idx="minor"/>
        </p:style>
      </p:sp>
      <p:sp>
        <p:nvSpPr>
          <p:cNvPr id="261" name="CustomShape 6"/>
          <p:cNvSpPr/>
          <p:nvPr/>
        </p:nvSpPr>
        <p:spPr>
          <a:xfrm>
            <a:off x="576360" y="4008240"/>
            <a:ext cx="10818000" cy="413640"/>
          </a:xfrm>
          <a:prstGeom prst="rect">
            <a:avLst/>
          </a:prstGeom>
          <a:noFill/>
          <a:ln>
            <a:noFill/>
          </a:ln>
        </p:spPr>
        <p:style>
          <a:lnRef idx="0"/>
          <a:fillRef idx="0"/>
          <a:effectRef idx="0"/>
          <a:fontRef idx="minor"/>
        </p:style>
      </p:sp>
      <p:sp>
        <p:nvSpPr>
          <p:cNvPr id="262" name="CustomShape 7"/>
          <p:cNvSpPr/>
          <p:nvPr/>
        </p:nvSpPr>
        <p:spPr>
          <a:xfrm>
            <a:off x="640080" y="1528200"/>
            <a:ext cx="6278040" cy="4834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1600" spc="-1" strike="noStrike">
                <a:solidFill>
                  <a:srgbClr val="ffffff"/>
                </a:solidFill>
                <a:latin typeface="Arial"/>
                <a:ea typeface="DejaVu Sans"/>
              </a:rPr>
              <a:t>Include 3 parts in each test name</a:t>
            </a:r>
            <a:endParaRPr b="0" lang="en-US" sz="1600" spc="-1" strike="noStrike">
              <a:latin typeface="Arial"/>
            </a:endParaRPr>
          </a:p>
          <a:p>
            <a:pPr>
              <a:lnSpc>
                <a:spcPct val="100000"/>
              </a:lnSpc>
            </a:pPr>
            <a:endParaRPr b="0" lang="en-US" sz="1600" spc="-1" strike="noStrike">
              <a:latin typeface="Arial"/>
            </a:endParaRPr>
          </a:p>
        </p:txBody>
      </p:sp>
      <p:sp>
        <p:nvSpPr>
          <p:cNvPr id="263" name="CustomShape 8"/>
          <p:cNvSpPr/>
          <p:nvPr/>
        </p:nvSpPr>
        <p:spPr>
          <a:xfrm>
            <a:off x="624960" y="2026080"/>
            <a:ext cx="8519040" cy="1265760"/>
          </a:xfrm>
          <a:prstGeom prst="rect">
            <a:avLst/>
          </a:prstGeom>
          <a:noFill/>
          <a:ln>
            <a:noFill/>
          </a:ln>
        </p:spPr>
        <p:style>
          <a:lnRef idx="0"/>
          <a:fillRef idx="0"/>
          <a:effectRef idx="0"/>
          <a:fontRef idx="minor"/>
        </p:style>
        <p:txBody>
          <a:bodyPr lIns="90000" rIns="90000" tIns="45000" bIns="45000">
            <a:noAutofit/>
          </a:bodyPr>
          <a:p>
            <a:pPr algn="just">
              <a:lnSpc>
                <a:spcPct val="150000"/>
              </a:lnSpc>
            </a:pPr>
            <a:r>
              <a:rPr b="0" lang="en-US" sz="1600" spc="-1" strike="noStrike">
                <a:solidFill>
                  <a:srgbClr val="ffffff"/>
                </a:solidFill>
                <a:latin typeface="Arial"/>
                <a:ea typeface="DejaVu Sans"/>
              </a:rPr>
              <a:t>(1) What is being tested? For example, the ProductsService.addNewProduct method</a:t>
            </a:r>
            <a:endParaRPr b="0" lang="en-US" sz="1600" spc="-1" strike="noStrike">
              <a:latin typeface="Arial"/>
            </a:endParaRPr>
          </a:p>
          <a:p>
            <a:pPr algn="just">
              <a:lnSpc>
                <a:spcPct val="150000"/>
              </a:lnSpc>
            </a:pPr>
            <a:r>
              <a:rPr b="0" lang="en-US" sz="1600" spc="-1" strike="noStrike">
                <a:solidFill>
                  <a:srgbClr val="ffffff"/>
                </a:solidFill>
                <a:latin typeface="Arial"/>
                <a:ea typeface="DejaVu Sans"/>
              </a:rPr>
              <a:t>(2) Under what circumstances and scenario? For example, no price is passed to the method</a:t>
            </a:r>
            <a:endParaRPr b="0" lang="en-US" sz="1600" spc="-1" strike="noStrike">
              <a:latin typeface="Arial"/>
            </a:endParaRPr>
          </a:p>
          <a:p>
            <a:pPr algn="just">
              <a:lnSpc>
                <a:spcPct val="150000"/>
              </a:lnSpc>
            </a:pPr>
            <a:r>
              <a:rPr b="0" lang="en-US" sz="1600" spc="-1" strike="noStrike">
                <a:solidFill>
                  <a:srgbClr val="ffffff"/>
                </a:solidFill>
                <a:latin typeface="Arial"/>
                <a:ea typeface="DejaVu Sans"/>
              </a:rPr>
              <a:t>(3) What is the expected result? For example, the new product is not approved</a:t>
            </a:r>
            <a:endParaRPr b="0" lang="en-US" sz="1600" spc="-1" strike="noStrike">
              <a:latin typeface="Arial"/>
            </a:endParaRPr>
          </a:p>
          <a:p>
            <a:pPr>
              <a:lnSpc>
                <a:spcPct val="100000"/>
              </a:lnSpc>
            </a:pPr>
            <a:endParaRPr b="0" lang="en-US" sz="1600" spc="-1" strike="noStrike">
              <a:latin typeface="Arial"/>
            </a:endParaRPr>
          </a:p>
        </p:txBody>
      </p:sp>
      <p:pic>
        <p:nvPicPr>
          <p:cNvPr id="264" name="Рисунок 311" descr=""/>
          <p:cNvPicPr/>
          <p:nvPr/>
        </p:nvPicPr>
        <p:blipFill>
          <a:blip r:embed="rId1"/>
          <a:stretch/>
        </p:blipFill>
        <p:spPr>
          <a:xfrm>
            <a:off x="740880" y="3566160"/>
            <a:ext cx="7124040" cy="205668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CustomShape 1"/>
          <p:cNvSpPr/>
          <p:nvPr/>
        </p:nvSpPr>
        <p:spPr>
          <a:xfrm>
            <a:off x="685800" y="685800"/>
            <a:ext cx="10818000" cy="683280"/>
          </a:xfrm>
          <a:prstGeom prst="rect">
            <a:avLst/>
          </a:prstGeom>
          <a:noFill/>
          <a:ln>
            <a:noFill/>
          </a:ln>
        </p:spPr>
        <p:style>
          <a:lnRef idx="0"/>
          <a:fillRef idx="0"/>
          <a:effectRef idx="0"/>
          <a:fontRef idx="minor"/>
        </p:style>
      </p:sp>
      <p:sp>
        <p:nvSpPr>
          <p:cNvPr id="266" name="CustomShape 2"/>
          <p:cNvSpPr/>
          <p:nvPr/>
        </p:nvSpPr>
        <p:spPr>
          <a:xfrm>
            <a:off x="731520" y="2057400"/>
            <a:ext cx="10818000" cy="3426480"/>
          </a:xfrm>
          <a:prstGeom prst="rect">
            <a:avLst/>
          </a:prstGeom>
          <a:noFill/>
          <a:ln>
            <a:noFill/>
          </a:ln>
        </p:spPr>
        <p:style>
          <a:lnRef idx="0"/>
          <a:fillRef idx="0"/>
          <a:effectRef idx="0"/>
          <a:fontRef idx="minor"/>
        </p:style>
      </p:sp>
      <p:sp>
        <p:nvSpPr>
          <p:cNvPr id="267" name="CustomShape 3"/>
          <p:cNvSpPr/>
          <p:nvPr/>
        </p:nvSpPr>
        <p:spPr>
          <a:xfrm>
            <a:off x="858240" y="1607760"/>
            <a:ext cx="10855800" cy="1866960"/>
          </a:xfrm>
          <a:prstGeom prst="rect">
            <a:avLst/>
          </a:prstGeom>
          <a:noFill/>
          <a:ln>
            <a:noFill/>
          </a:ln>
        </p:spPr>
        <p:style>
          <a:lnRef idx="0"/>
          <a:fillRef idx="0"/>
          <a:effectRef idx="0"/>
          <a:fontRef idx="minor"/>
        </p:style>
        <p:txBody>
          <a:bodyPr lIns="90000" rIns="90000" tIns="45000" bIns="45000">
            <a:noAutofit/>
          </a:bodyPr>
          <a:p>
            <a:pPr>
              <a:lnSpc>
                <a:spcPct val="150000"/>
              </a:lnSpc>
            </a:pPr>
            <a:r>
              <a:rPr b="0" lang="en-US" sz="1600" spc="-1" strike="noStrike">
                <a:solidFill>
                  <a:srgbClr val="ffffff"/>
                </a:solidFill>
                <a:latin typeface="Arial"/>
                <a:ea typeface="DejaVu Sans"/>
              </a:rPr>
              <a:t>1st A - Arrange: All the setup code to bring the system to the scenario the test aims to simulate. This might include instantiating the unit under test constructor, adding DB records, mocking/stubbing on objects and any other preparation code</a:t>
            </a:r>
            <a:endParaRPr b="0" lang="en-US" sz="1600" spc="-1" strike="noStrike">
              <a:latin typeface="Arial"/>
            </a:endParaRPr>
          </a:p>
          <a:p>
            <a:pPr>
              <a:lnSpc>
                <a:spcPct val="150000"/>
              </a:lnSpc>
            </a:pPr>
            <a:r>
              <a:rPr b="0" lang="en-US" sz="1600" spc="-1" strike="noStrike">
                <a:solidFill>
                  <a:srgbClr val="ffffff"/>
                </a:solidFill>
                <a:latin typeface="Arial"/>
                <a:ea typeface="DejaVu Sans"/>
              </a:rPr>
              <a:t>2nd A - Act: Execute the unit under test. Usually 1 line of code</a:t>
            </a:r>
            <a:endParaRPr b="0" lang="en-US" sz="1600" spc="-1" strike="noStrike">
              <a:latin typeface="Arial"/>
            </a:endParaRPr>
          </a:p>
          <a:p>
            <a:pPr>
              <a:lnSpc>
                <a:spcPct val="150000"/>
              </a:lnSpc>
            </a:pPr>
            <a:r>
              <a:rPr b="0" lang="en-US" sz="1600" spc="-1" strike="noStrike">
                <a:solidFill>
                  <a:srgbClr val="ffffff"/>
                </a:solidFill>
                <a:latin typeface="Arial"/>
                <a:ea typeface="DejaVu Sans"/>
              </a:rPr>
              <a:t>3rd A - Assert: Ensure that the received value satisfies the expectation. Usually 1 line of code</a:t>
            </a:r>
            <a:endParaRPr b="0" lang="en-US" sz="1600" spc="-1" strike="noStrike">
              <a:latin typeface="Arial"/>
            </a:endParaRPr>
          </a:p>
          <a:p>
            <a:pPr>
              <a:lnSpc>
                <a:spcPct val="100000"/>
              </a:lnSpc>
            </a:pPr>
            <a:endParaRPr b="0" lang="en-US" sz="1600" spc="-1" strike="noStrike">
              <a:latin typeface="Arial"/>
            </a:endParaRPr>
          </a:p>
        </p:txBody>
      </p:sp>
      <p:sp>
        <p:nvSpPr>
          <p:cNvPr id="268" name="CustomShape 4"/>
          <p:cNvSpPr/>
          <p:nvPr/>
        </p:nvSpPr>
        <p:spPr>
          <a:xfrm>
            <a:off x="858240" y="1264680"/>
            <a:ext cx="5974920" cy="34308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1600" spc="-1" strike="noStrike">
                <a:solidFill>
                  <a:srgbClr val="ffffff"/>
                </a:solidFill>
                <a:latin typeface="Arial"/>
                <a:ea typeface="DejaVu Sans"/>
              </a:rPr>
              <a:t>Structure tests by the AAA pattern</a:t>
            </a:r>
            <a:endParaRPr b="0" lang="en-US" sz="1600" spc="-1" strike="noStrike">
              <a:latin typeface="Arial"/>
            </a:endParaRPr>
          </a:p>
          <a:p>
            <a:pPr>
              <a:lnSpc>
                <a:spcPct val="100000"/>
              </a:lnSpc>
            </a:pPr>
            <a:endParaRPr b="0" lang="en-US" sz="1600" spc="-1" strike="noStrike">
              <a:latin typeface="Arial"/>
            </a:endParaRPr>
          </a:p>
        </p:txBody>
      </p:sp>
      <p:pic>
        <p:nvPicPr>
          <p:cNvPr id="269" name="Рисунок 316" descr=""/>
          <p:cNvPicPr/>
          <p:nvPr/>
        </p:nvPicPr>
        <p:blipFill>
          <a:blip r:embed="rId1"/>
          <a:stretch/>
        </p:blipFill>
        <p:spPr>
          <a:xfrm>
            <a:off x="1330560" y="3749040"/>
            <a:ext cx="7904880" cy="2380680"/>
          </a:xfrm>
          <a:prstGeom prst="rect">
            <a:avLst/>
          </a:prstGeom>
          <a:ln>
            <a:noFill/>
          </a:ln>
        </p:spPr>
      </p:pic>
      <p:sp>
        <p:nvSpPr>
          <p:cNvPr id="270" name="CustomShape 5"/>
          <p:cNvSpPr/>
          <p:nvPr/>
        </p:nvSpPr>
        <p:spPr>
          <a:xfrm>
            <a:off x="567000" y="306000"/>
            <a:ext cx="11147040" cy="6004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Node.js Testing Best Practices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CustomShape 1"/>
          <p:cNvSpPr/>
          <p:nvPr/>
        </p:nvSpPr>
        <p:spPr>
          <a:xfrm>
            <a:off x="-1280160" y="688320"/>
            <a:ext cx="14538960" cy="683280"/>
          </a:xfrm>
          <a:prstGeom prst="rect">
            <a:avLst/>
          </a:prstGeom>
          <a:noFill/>
          <a:ln>
            <a:noFill/>
          </a:ln>
        </p:spPr>
        <p:style>
          <a:lnRef idx="0"/>
          <a:fillRef idx="0"/>
          <a:effectRef idx="0"/>
          <a:fontRef idx="minor"/>
        </p:style>
      </p:sp>
      <p:sp>
        <p:nvSpPr>
          <p:cNvPr id="272" name="CustomShape 2"/>
          <p:cNvSpPr/>
          <p:nvPr/>
        </p:nvSpPr>
        <p:spPr>
          <a:xfrm>
            <a:off x="336240" y="1371600"/>
            <a:ext cx="7344720" cy="39852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1" lang="en-US" sz="1600" spc="-1" strike="noStrike">
                <a:solidFill>
                  <a:srgbClr val="ffffff"/>
                </a:solidFill>
                <a:latin typeface="Arial"/>
                <a:ea typeface="DejaVu Sans"/>
              </a:rPr>
              <a:t>Describe expectations in a product language: use BDD-style assertions</a:t>
            </a:r>
            <a:endParaRPr b="0" lang="en-US" sz="1600" spc="-1" strike="noStrike">
              <a:latin typeface="Arial"/>
            </a:endParaRPr>
          </a:p>
        </p:txBody>
      </p:sp>
      <p:sp>
        <p:nvSpPr>
          <p:cNvPr id="273" name="CustomShape 3"/>
          <p:cNvSpPr/>
          <p:nvPr/>
        </p:nvSpPr>
        <p:spPr>
          <a:xfrm>
            <a:off x="1097280" y="1043280"/>
            <a:ext cx="10672200" cy="1377360"/>
          </a:xfrm>
          <a:prstGeom prst="rect">
            <a:avLst/>
          </a:prstGeom>
          <a:noFill/>
          <a:ln>
            <a:noFill/>
          </a:ln>
        </p:spPr>
        <p:style>
          <a:lnRef idx="0"/>
          <a:fillRef idx="0"/>
          <a:effectRef idx="0"/>
          <a:fontRef idx="minor"/>
        </p:style>
        <p:txBody>
          <a:bodyPr lIns="90000" rIns="90000" tIns="45000" bIns="45000">
            <a:noAutofit/>
          </a:bodyPr>
          <a:p>
            <a:pPr algn="just">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74" name="CustomShape 4"/>
          <p:cNvSpPr/>
          <p:nvPr/>
        </p:nvSpPr>
        <p:spPr>
          <a:xfrm>
            <a:off x="407160" y="1722960"/>
            <a:ext cx="11362320" cy="12945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50000"/>
              </a:lnSpc>
              <a:buClr>
                <a:srgbClr val="ffffff"/>
              </a:buClr>
              <a:buFont typeface="Arial"/>
              <a:buChar char="•"/>
            </a:pPr>
            <a:r>
              <a:rPr b="0" lang="en-US" sz="1400" spc="-1" strike="noStrike">
                <a:solidFill>
                  <a:srgbClr val="ffffff"/>
                </a:solidFill>
                <a:latin typeface="Arial"/>
                <a:ea typeface="DejaVu Sans"/>
              </a:rPr>
              <a:t> </a:t>
            </a:r>
            <a:r>
              <a:rPr b="0" lang="en-US" sz="1400" spc="-1" strike="noStrike">
                <a:solidFill>
                  <a:srgbClr val="ffffff"/>
                </a:solidFill>
                <a:latin typeface="Arial"/>
                <a:ea typeface="DejaVu Sans"/>
              </a:rPr>
              <a:t>When you write imperative code that is packed with conditional logic, the reader is forced to exert more brain-CPU cycles. In that case, code the expectation in a human-like language, declarative BDD style using expect or should and not using custom code. If Chai &amp; Jest doesn't include the desired assertion and it’s highly repeatable, consider </a:t>
            </a:r>
            <a:r>
              <a:rPr b="0" lang="en-US" sz="1400" spc="-1" strike="noStrike" u="sng">
                <a:solidFill>
                  <a:srgbClr val="00a6ce"/>
                </a:solidFill>
                <a:uFillTx/>
                <a:latin typeface="Arial"/>
                <a:ea typeface="DejaVu Sans"/>
                <a:hlinkClick r:id="rId1"/>
              </a:rPr>
              <a:t>extending Jest matcher (Jest)</a:t>
            </a:r>
            <a:r>
              <a:rPr b="0" lang="en-US" sz="1400" spc="-1" strike="noStrike">
                <a:solidFill>
                  <a:srgbClr val="ffffff"/>
                </a:solidFill>
                <a:latin typeface="Arial"/>
                <a:ea typeface="DejaVu Sans"/>
              </a:rPr>
              <a:t> or writing a </a:t>
            </a:r>
            <a:r>
              <a:rPr b="0" lang="en-US" sz="1400" spc="-1" strike="noStrike" u="sng">
                <a:solidFill>
                  <a:srgbClr val="00a6ce"/>
                </a:solidFill>
                <a:uFillTx/>
                <a:latin typeface="Arial"/>
                <a:ea typeface="DejaVu Sans"/>
                <a:hlinkClick r:id="rId2"/>
              </a:rPr>
              <a:t>custom Chai plugin</a:t>
            </a:r>
            <a:endParaRPr b="0" lang="en-US" sz="1400" spc="-1" strike="noStrike">
              <a:latin typeface="Arial"/>
            </a:endParaRPr>
          </a:p>
        </p:txBody>
      </p:sp>
      <p:pic>
        <p:nvPicPr>
          <p:cNvPr id="275" name="Рисунок 322" descr=""/>
          <p:cNvPicPr/>
          <p:nvPr/>
        </p:nvPicPr>
        <p:blipFill>
          <a:blip r:embed="rId3"/>
          <a:stretch/>
        </p:blipFill>
        <p:spPr>
          <a:xfrm>
            <a:off x="407160" y="3073320"/>
            <a:ext cx="5201640" cy="3053160"/>
          </a:xfrm>
          <a:prstGeom prst="rect">
            <a:avLst/>
          </a:prstGeom>
          <a:ln>
            <a:noFill/>
          </a:ln>
        </p:spPr>
      </p:pic>
      <p:pic>
        <p:nvPicPr>
          <p:cNvPr id="276" name="Рисунок 323" descr=""/>
          <p:cNvPicPr/>
          <p:nvPr/>
        </p:nvPicPr>
        <p:blipFill>
          <a:blip r:embed="rId4"/>
          <a:stretch/>
        </p:blipFill>
        <p:spPr>
          <a:xfrm>
            <a:off x="5696640" y="3657600"/>
            <a:ext cx="6190560" cy="1618560"/>
          </a:xfrm>
          <a:prstGeom prst="rect">
            <a:avLst/>
          </a:prstGeom>
          <a:ln>
            <a:noFill/>
          </a:ln>
        </p:spPr>
      </p:pic>
      <p:sp>
        <p:nvSpPr>
          <p:cNvPr id="277" name="CustomShape 5"/>
          <p:cNvSpPr/>
          <p:nvPr/>
        </p:nvSpPr>
        <p:spPr>
          <a:xfrm>
            <a:off x="622440" y="201240"/>
            <a:ext cx="11147040" cy="6004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Node.js Testing Best Practices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CustomShape 1"/>
          <p:cNvSpPr/>
          <p:nvPr/>
        </p:nvSpPr>
        <p:spPr>
          <a:xfrm>
            <a:off x="685800" y="685800"/>
            <a:ext cx="10818000" cy="683280"/>
          </a:xfrm>
          <a:prstGeom prst="rect">
            <a:avLst/>
          </a:prstGeom>
          <a:noFill/>
          <a:ln>
            <a:noFill/>
          </a:ln>
        </p:spPr>
        <p:style>
          <a:lnRef idx="0"/>
          <a:fillRef idx="0"/>
          <a:effectRef idx="0"/>
          <a:fontRef idx="minor"/>
        </p:style>
      </p:sp>
      <p:sp>
        <p:nvSpPr>
          <p:cNvPr id="279" name="CustomShape 2"/>
          <p:cNvSpPr/>
          <p:nvPr/>
        </p:nvSpPr>
        <p:spPr>
          <a:xfrm>
            <a:off x="685800" y="2057400"/>
            <a:ext cx="3464640" cy="3426480"/>
          </a:xfrm>
          <a:prstGeom prst="rect">
            <a:avLst/>
          </a:prstGeom>
          <a:noFill/>
          <a:ln>
            <a:noFill/>
          </a:ln>
        </p:spPr>
        <p:style>
          <a:lnRef idx="0"/>
          <a:fillRef idx="0"/>
          <a:effectRef idx="0"/>
          <a:fontRef idx="minor"/>
        </p:style>
      </p:sp>
      <p:sp>
        <p:nvSpPr>
          <p:cNvPr id="280" name="CustomShape 3"/>
          <p:cNvSpPr/>
          <p:nvPr/>
        </p:nvSpPr>
        <p:spPr>
          <a:xfrm>
            <a:off x="914040" y="481320"/>
            <a:ext cx="10361520" cy="8211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The Test Pyramid</a:t>
            </a:r>
            <a:endParaRPr b="0" lang="en-US" sz="4400" spc="-1" strike="noStrike">
              <a:latin typeface="Arial"/>
            </a:endParaRPr>
          </a:p>
        </p:txBody>
      </p:sp>
      <p:pic>
        <p:nvPicPr>
          <p:cNvPr id="281" name="Рисунок 327" descr=""/>
          <p:cNvPicPr/>
          <p:nvPr/>
        </p:nvPicPr>
        <p:blipFill>
          <a:blip r:embed="rId1"/>
          <a:stretch/>
        </p:blipFill>
        <p:spPr>
          <a:xfrm>
            <a:off x="3073680" y="1507320"/>
            <a:ext cx="5877720" cy="324432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CustomShape 1"/>
          <p:cNvSpPr/>
          <p:nvPr/>
        </p:nvSpPr>
        <p:spPr>
          <a:xfrm>
            <a:off x="914040" y="481320"/>
            <a:ext cx="10361520" cy="8211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Useful links</a:t>
            </a:r>
            <a:endParaRPr b="0" lang="en-US" sz="4400" spc="-1" strike="noStrike">
              <a:latin typeface="Arial"/>
            </a:endParaRPr>
          </a:p>
        </p:txBody>
      </p:sp>
      <p:sp>
        <p:nvSpPr>
          <p:cNvPr id="283" name="CustomShape 2"/>
          <p:cNvSpPr/>
          <p:nvPr/>
        </p:nvSpPr>
        <p:spPr>
          <a:xfrm>
            <a:off x="1088640" y="1556280"/>
            <a:ext cx="68068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u="sng">
                <a:solidFill>
                  <a:srgbClr val="00a6ce"/>
                </a:solidFill>
                <a:uFillTx/>
                <a:latin typeface="Arial"/>
                <a:ea typeface="DejaVu Sans"/>
                <a:hlinkClick r:id="rId1"/>
              </a:rPr>
              <a:t>https://github.com/goldbergyoni/javascript-testing-best-practices/</a:t>
            </a:r>
            <a:endParaRPr b="0" lang="en-US" sz="1800" spc="-1" strike="noStrike">
              <a:latin typeface="Arial"/>
            </a:endParaRPr>
          </a:p>
        </p:txBody>
      </p:sp>
      <p:sp>
        <p:nvSpPr>
          <p:cNvPr id="284" name="CustomShape 3"/>
          <p:cNvSpPr/>
          <p:nvPr/>
        </p:nvSpPr>
        <p:spPr>
          <a:xfrm>
            <a:off x="1088640" y="2179440"/>
            <a:ext cx="70534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u="sng">
                <a:solidFill>
                  <a:srgbClr val="00a6ce"/>
                </a:solidFill>
                <a:uFillTx/>
                <a:latin typeface="Arial"/>
                <a:ea typeface="DejaVu Sans"/>
                <a:hlinkClick r:id="rId2"/>
              </a:rPr>
              <a:t>https://martinfowler.com/articles/practical-test-pyramid.html</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5" name="pasted-image.png" descr=""/>
          <p:cNvPicPr/>
          <p:nvPr/>
        </p:nvPicPr>
        <p:blipFill>
          <a:blip r:embed="rId1"/>
          <a:stretch/>
        </p:blipFill>
        <p:spPr>
          <a:xfrm>
            <a:off x="0" y="0"/>
            <a:ext cx="12189600" cy="6855480"/>
          </a:xfrm>
          <a:prstGeom prst="rect">
            <a:avLst/>
          </a:prstGeom>
          <a:ln w="126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1288</TotalTime>
  <Application>LibreOffice/6.4.3.2$Linux_X86_64 LibreOffice_project/85aa6f776c6af63185291a519637a4f7af4e8a3b</Application>
  <Words>921</Words>
  <Paragraphs>44</Paragraphs>
  <Company>Verint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2018-11-02T13:55:27Z</dcterms:created>
  <dc:creator>Strutynska, Viktoriya</dc:creator>
  <dc:description/>
  <dc:language>en-US</dc:language>
  <cp:lastModifiedBy/>
  <dcterms:modified xsi:type="dcterms:W3CDTF">2020-04-22T13:27:05Z</dcterms:modified>
  <cp:revision>38</cp:revision>
  <dc:subject/>
  <dc:title>508/WCAG SERVICE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2</vt:i4>
  </property>
  <property fmtid="{D5CDD505-2E9C-101B-9397-08002B2CF9AE}" pid="10" name="PresentationFormat">
    <vt:lpwstr>Широкоэкранный</vt:lpwstr>
  </property>
  <property fmtid="{D5CDD505-2E9C-101B-9397-08002B2CF9AE}" pid="11" name="ScaleCrop">
    <vt:bool>0</vt:bool>
  </property>
  <property fmtid="{D5CDD505-2E9C-101B-9397-08002B2CF9AE}" pid="12" name="ShareDoc">
    <vt:bool>0</vt:bool>
  </property>
  <property fmtid="{D5CDD505-2E9C-101B-9397-08002B2CF9AE}" pid="13" name="Slides">
    <vt:i4>16</vt:i4>
  </property>
</Properties>
</file>