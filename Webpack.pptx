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Lst>
  <p:notesMasterIdLst>
    <p:notesMasterId r:id="rId27"/>
  </p:notesMasterIdLst>
  <p:sldIdLst>
    <p:sldId id="256" r:id="rId6"/>
    <p:sldId id="257" r:id="rId7"/>
    <p:sldId id="258" r:id="rId8"/>
    <p:sldId id="259" r:id="rId9"/>
    <p:sldId id="260" r:id="rId10"/>
    <p:sldId id="262" r:id="rId11"/>
    <p:sldId id="263" r:id="rId12"/>
    <p:sldId id="264" r:id="rId13"/>
    <p:sldId id="266" r:id="rId14"/>
    <p:sldId id="267" r:id="rId15"/>
    <p:sldId id="268" r:id="rId16"/>
    <p:sldId id="277" r:id="rId17"/>
    <p:sldId id="278" r:id="rId18"/>
    <p:sldId id="270" r:id="rId19"/>
    <p:sldId id="271" r:id="rId20"/>
    <p:sldId id="272" r:id="rId21"/>
    <p:sldId id="273" r:id="rId22"/>
    <p:sldId id="274" r:id="rId23"/>
    <p:sldId id="275" r:id="rId24"/>
    <p:sldId id="279" r:id="rId25"/>
    <p:sldId id="276" r:id="rId26"/>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91" autoAdjust="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199"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Arial"/>
              </a:rPr>
              <a:t>Click to edit the notes format</a:t>
            </a:r>
          </a:p>
        </p:txBody>
      </p:sp>
      <p:sp>
        <p:nvSpPr>
          <p:cNvPr id="200"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&lt;header&gt;</a:t>
            </a:r>
          </a:p>
        </p:txBody>
      </p:sp>
      <p:sp>
        <p:nvSpPr>
          <p:cNvPr id="201"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&lt;date/time&gt;</a:t>
            </a:r>
          </a:p>
        </p:txBody>
      </p:sp>
      <p:sp>
        <p:nvSpPr>
          <p:cNvPr id="202"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&lt;footer&gt;</a:t>
            </a:r>
          </a:p>
        </p:txBody>
      </p:sp>
      <p:sp>
        <p:nvSpPr>
          <p:cNvPr id="203"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4D33B5C-64F7-4D9A-A7F8-061FE288032C}"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ebpack.js.org/concepts/entry-point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ebpack.js.org/concepts/output"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PlaceHolder 1"/>
          <p:cNvSpPr>
            <a:spLocks noGrp="1" noRot="1" noChangeAspect="1"/>
          </p:cNvSpPr>
          <p:nvPr>
            <p:ph type="sldImg"/>
          </p:nvPr>
        </p:nvSpPr>
        <p:spPr>
          <a:xfrm>
            <a:off x="685800" y="1143000"/>
            <a:ext cx="5482800" cy="3082320"/>
          </a:xfrm>
          <a:prstGeom prst="rect">
            <a:avLst/>
          </a:prstGeom>
        </p:spPr>
      </p:sp>
      <p:sp>
        <p:nvSpPr>
          <p:cNvPr id="288" name="PlaceHolder 2"/>
          <p:cNvSpPr>
            <a:spLocks noGrp="1"/>
          </p:cNvSpPr>
          <p:nvPr>
            <p:ph type="body"/>
          </p:nvPr>
        </p:nvSpPr>
        <p:spPr>
          <a:xfrm>
            <a:off x="685800" y="4400640"/>
            <a:ext cx="5482080" cy="3596040"/>
          </a:xfrm>
          <a:prstGeom prst="rect">
            <a:avLst/>
          </a:prstGeom>
        </p:spPr>
        <p:txBody>
          <a:bodyPr lIns="0" tIns="0" rIns="0" bIns="0">
            <a:noAutofit/>
          </a:bodyPr>
          <a:lstStyle/>
          <a:p>
            <a:endParaRPr lang="en-US" sz="2000" b="0" strike="noStrike" spc="-1">
              <a:latin typeface="Arial"/>
            </a:endParaRPr>
          </a:p>
        </p:txBody>
      </p:sp>
      <p:sp>
        <p:nvSpPr>
          <p:cNvPr id="289" name="CustomShape 3"/>
          <p:cNvSpPr/>
          <p:nvPr/>
        </p:nvSpPr>
        <p:spPr>
          <a:xfrm>
            <a:off x="3884760" y="8685360"/>
            <a:ext cx="2967480" cy="454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2BA8F0CE-7B34-4E7C-8F66-28B82AD7F215}" type="slidenum">
              <a:rPr lang="en-GB" sz="1200" b="0" strike="noStrike" spc="-1">
                <a:solidFill>
                  <a:srgbClr val="000000"/>
                </a:solidFill>
                <a:latin typeface="+mn-lt"/>
                <a:ea typeface="+mn-ea"/>
              </a:rPr>
              <a:t>1</a:t>
            </a:fld>
            <a:endParaRPr lang="en-U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217488" y="812800"/>
            <a:ext cx="7124700" cy="4008438"/>
          </a:xfrm>
        </p:spPr>
      </p:sp>
      <p:sp>
        <p:nvSpPr>
          <p:cNvPr id="3" name="Заметки 2"/>
          <p:cNvSpPr>
            <a:spLocks noGrp="1"/>
          </p:cNvSpPr>
          <p:nvPr>
            <p:ph type="body" idx="1"/>
          </p:nvPr>
        </p:nvSpPr>
        <p:spPr/>
        <p:txBody>
          <a:bodyPr/>
          <a:lstStyle/>
          <a:p>
            <a:r>
              <a:rPr lang="en-US" sz="1200" b="0" strike="noStrike" spc="-1" dirty="0">
                <a:latin typeface="Arial"/>
              </a:rPr>
              <a:t>n this example, there are implicit dependencies between the &lt;script&gt; tags. Our index.js file depends on </a:t>
            </a:r>
            <a:r>
              <a:rPr lang="en-US" sz="1200" b="0" strike="noStrike" spc="-1" dirty="0" err="1">
                <a:latin typeface="Arial"/>
              </a:rPr>
              <a:t>lodash</a:t>
            </a:r>
            <a:r>
              <a:rPr lang="en-US" sz="1200" b="0" strike="noStrike" spc="-1" dirty="0">
                <a:latin typeface="Arial"/>
              </a:rPr>
              <a:t> being included in the page before it runs. This is because index.js never explicitly declared a need for </a:t>
            </a:r>
            <a:r>
              <a:rPr lang="en-US" sz="1200" b="0" strike="noStrike" spc="-1" dirty="0" err="1">
                <a:latin typeface="Arial"/>
              </a:rPr>
              <a:t>lodash</a:t>
            </a:r>
            <a:r>
              <a:rPr lang="en-US" sz="1200" b="0" strike="noStrike" spc="-1" dirty="0">
                <a:latin typeface="Arial"/>
              </a:rPr>
              <a:t>; it just assumes that the global variable _ exists.</a:t>
            </a:r>
          </a:p>
          <a:p>
            <a:r>
              <a:rPr lang="en-US" sz="1200" b="0" strike="noStrike" spc="-1" dirty="0">
                <a:latin typeface="Arial"/>
              </a:rPr>
              <a:t>There are problems with managing JavaScript projects this way:</a:t>
            </a:r>
          </a:p>
          <a:p>
            <a:r>
              <a:rPr lang="en-US" sz="1200" b="0" strike="noStrike" spc="-1" dirty="0">
                <a:latin typeface="Arial"/>
              </a:rPr>
              <a:t>It is not immediately apparent that the script depends on an external library.</a:t>
            </a:r>
          </a:p>
          <a:p>
            <a:r>
              <a:rPr lang="en-US" sz="1200" b="0" strike="noStrike" spc="-1" dirty="0">
                <a:latin typeface="Arial"/>
              </a:rPr>
              <a:t>If a dependency is missing, or included in the wrong order, the application will not function properly.</a:t>
            </a:r>
          </a:p>
          <a:p>
            <a:r>
              <a:rPr lang="en-US" sz="1200" b="0" strike="noStrike" spc="-1" dirty="0">
                <a:latin typeface="Arial"/>
              </a:rPr>
              <a:t>If a dependency is included but not used, the browser will be forced to download unnecessary code.</a:t>
            </a:r>
          </a:p>
          <a:p>
            <a:r>
              <a:rPr lang="en-US" sz="1200" b="0" strike="noStrike" spc="-1" dirty="0">
                <a:latin typeface="Arial"/>
              </a:rPr>
              <a:t>Let's use webpack to manage these scripts instead.</a:t>
            </a:r>
          </a:p>
          <a:p>
            <a:endParaRPr lang="uk-UA" dirty="0"/>
          </a:p>
        </p:txBody>
      </p:sp>
      <p:sp>
        <p:nvSpPr>
          <p:cNvPr id="4" name="Номер слайда 3"/>
          <p:cNvSpPr>
            <a:spLocks noGrp="1"/>
          </p:cNvSpPr>
          <p:nvPr>
            <p:ph type="sldNum"/>
          </p:nvPr>
        </p:nvSpPr>
        <p:spPr/>
        <p:txBody>
          <a:bodyPr/>
          <a:lstStyle/>
          <a:p>
            <a:pPr algn="r"/>
            <a:fld id="{34D33B5C-64F7-4D9A-A7F8-061FE288032C}"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142446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PlaceHolder 1"/>
          <p:cNvSpPr>
            <a:spLocks noGrp="1" noRot="1" noChangeAspect="1"/>
          </p:cNvSpPr>
          <p:nvPr>
            <p:ph type="sldImg"/>
          </p:nvPr>
        </p:nvSpPr>
        <p:spPr>
          <a:xfrm>
            <a:off x="381000" y="695325"/>
            <a:ext cx="6092825" cy="3427413"/>
          </a:xfrm>
          <a:prstGeom prst="rect">
            <a:avLst/>
          </a:prstGeom>
        </p:spPr>
      </p:sp>
      <p:sp>
        <p:nvSpPr>
          <p:cNvPr id="294" name="PlaceHolder 2"/>
          <p:cNvSpPr>
            <a:spLocks noGrp="1"/>
          </p:cNvSpPr>
          <p:nvPr>
            <p:ph type="body"/>
          </p:nvPr>
        </p:nvSpPr>
        <p:spPr>
          <a:xfrm>
            <a:off x="685800" y="4343400"/>
            <a:ext cx="5484600" cy="5098680"/>
          </a:xfrm>
          <a:prstGeom prst="rect">
            <a:avLst/>
          </a:prstGeom>
        </p:spPr>
        <p:txBody>
          <a:bodyPr lIns="0" tIns="0" rIns="0" bIns="0">
            <a:noAutofit/>
          </a:bodyPr>
          <a:lstStyle/>
          <a:p>
            <a:pPr marL="216000" indent="-214920">
              <a:lnSpc>
                <a:spcPct val="100000"/>
              </a:lnSpc>
            </a:pPr>
            <a:endParaRPr lang="en-US" sz="2000" b="0" strike="noStrike" spc="-1" dirty="0">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217488" y="812800"/>
            <a:ext cx="7124700" cy="4008438"/>
          </a:xfrm>
        </p:spPr>
      </p:sp>
      <p:sp>
        <p:nvSpPr>
          <p:cNvPr id="3" name="Заметки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spc="-1" dirty="0">
                <a:solidFill>
                  <a:schemeClr val="bg1"/>
                </a:solidFill>
                <a:latin typeface="Calibri" panose="020F0502020204030204" pitchFamily="34" charset="0"/>
                <a:cs typeface="Calibri" panose="020F0502020204030204" pitchFamily="34" charset="0"/>
              </a:rPr>
              <a:t>With that said, let's run </a:t>
            </a:r>
            <a:r>
              <a:rPr lang="en-US" b="0" strike="noStrike" spc="-1" dirty="0" err="1">
                <a:solidFill>
                  <a:schemeClr val="bg1"/>
                </a:solidFill>
                <a:latin typeface="Calibri" panose="020F0502020204030204" pitchFamily="34" charset="0"/>
                <a:cs typeface="Calibri" panose="020F0502020204030204" pitchFamily="34" charset="0"/>
              </a:rPr>
              <a:t>npx</a:t>
            </a:r>
            <a:r>
              <a:rPr lang="en-US" b="0" strike="noStrike" spc="-1" dirty="0">
                <a:solidFill>
                  <a:schemeClr val="bg1"/>
                </a:solidFill>
                <a:latin typeface="Calibri" panose="020F0502020204030204" pitchFamily="34" charset="0"/>
                <a:cs typeface="Calibri" panose="020F0502020204030204" pitchFamily="34" charset="0"/>
              </a:rPr>
              <a:t> webpack, which will take our script at </a:t>
            </a:r>
            <a:r>
              <a:rPr lang="en-US" b="0" strike="noStrike" spc="-1" dirty="0" err="1">
                <a:solidFill>
                  <a:schemeClr val="bg1"/>
                </a:solidFill>
                <a:latin typeface="Calibri" panose="020F0502020204030204" pitchFamily="34" charset="0"/>
                <a:cs typeface="Calibri" panose="020F0502020204030204" pitchFamily="34" charset="0"/>
              </a:rPr>
              <a:t>src</a:t>
            </a:r>
            <a:r>
              <a:rPr lang="en-US" b="0" strike="noStrike" spc="-1" dirty="0">
                <a:solidFill>
                  <a:schemeClr val="bg1"/>
                </a:solidFill>
                <a:latin typeface="Calibri" panose="020F0502020204030204" pitchFamily="34" charset="0"/>
                <a:cs typeface="Calibri" panose="020F0502020204030204" pitchFamily="34" charset="0"/>
              </a:rPr>
              <a:t>/index.js as the </a:t>
            </a:r>
            <a:r>
              <a:rPr lang="en-US" b="0" strike="noStrike" spc="-1" dirty="0">
                <a:solidFill>
                  <a:schemeClr val="bg1"/>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entry point</a:t>
            </a:r>
            <a:r>
              <a:rPr lang="en-US" b="0" strike="noStrike" spc="-1" dirty="0">
                <a:solidFill>
                  <a:schemeClr val="bg1"/>
                </a:solidFill>
                <a:latin typeface="Calibri" panose="020F0502020204030204" pitchFamily="34" charset="0"/>
                <a:cs typeface="Calibri" panose="020F0502020204030204" pitchFamily="34" charset="0"/>
              </a:rPr>
              <a:t>, and will generate </a:t>
            </a:r>
            <a:r>
              <a:rPr lang="en-US" b="0" strike="noStrike" spc="-1" dirty="0" err="1">
                <a:solidFill>
                  <a:schemeClr val="bg1"/>
                </a:solidFill>
                <a:latin typeface="Calibri" panose="020F0502020204030204" pitchFamily="34" charset="0"/>
                <a:cs typeface="Calibri" panose="020F0502020204030204" pitchFamily="34" charset="0"/>
              </a:rPr>
              <a:t>dist</a:t>
            </a:r>
            <a:r>
              <a:rPr lang="en-US" b="0" strike="noStrike" spc="-1" dirty="0">
                <a:solidFill>
                  <a:schemeClr val="bg1"/>
                </a:solidFill>
                <a:latin typeface="Calibri" panose="020F0502020204030204" pitchFamily="34" charset="0"/>
                <a:cs typeface="Calibri" panose="020F0502020204030204" pitchFamily="34" charset="0"/>
              </a:rPr>
              <a:t>/main.js as the </a:t>
            </a:r>
            <a:r>
              <a:rPr lang="en-US" b="0" strike="noStrike" spc="-1" dirty="0">
                <a:solidFill>
                  <a:schemeClr val="bg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output</a:t>
            </a:r>
            <a:r>
              <a:rPr lang="en-US" b="0" strike="noStrike" spc="-1" dirty="0">
                <a:solidFill>
                  <a:schemeClr val="bg1"/>
                </a:solidFill>
                <a:latin typeface="Calibri" panose="020F0502020204030204" pitchFamily="34" charset="0"/>
                <a:cs typeface="Calibri" panose="020F0502020204030204" pitchFamily="34" charset="0"/>
              </a:rPr>
              <a:t>. The </a:t>
            </a:r>
            <a:r>
              <a:rPr lang="en-US" b="0" strike="noStrike" spc="-1" dirty="0" err="1">
                <a:solidFill>
                  <a:schemeClr val="bg1"/>
                </a:solidFill>
                <a:latin typeface="Calibri" panose="020F0502020204030204" pitchFamily="34" charset="0"/>
                <a:cs typeface="Calibri" panose="020F0502020204030204" pitchFamily="34" charset="0"/>
              </a:rPr>
              <a:t>npx</a:t>
            </a:r>
            <a:r>
              <a:rPr lang="en-US" b="0" strike="noStrike" spc="-1" dirty="0">
                <a:solidFill>
                  <a:schemeClr val="bg1"/>
                </a:solidFill>
                <a:latin typeface="Calibri" panose="020F0502020204030204" pitchFamily="34" charset="0"/>
                <a:cs typeface="Calibri" panose="020F0502020204030204" pitchFamily="34" charset="0"/>
              </a:rPr>
              <a:t> command, which ships with Node 8.2/</a:t>
            </a:r>
            <a:r>
              <a:rPr lang="en-US" b="0" strike="noStrike" spc="-1" dirty="0" err="1">
                <a:solidFill>
                  <a:schemeClr val="bg1"/>
                </a:solidFill>
                <a:latin typeface="Calibri" panose="020F0502020204030204" pitchFamily="34" charset="0"/>
                <a:cs typeface="Calibri" panose="020F0502020204030204" pitchFamily="34" charset="0"/>
              </a:rPr>
              <a:t>npm</a:t>
            </a:r>
            <a:r>
              <a:rPr lang="en-US" b="0" strike="noStrike" spc="-1" dirty="0">
                <a:solidFill>
                  <a:schemeClr val="bg1"/>
                </a:solidFill>
                <a:latin typeface="Calibri" panose="020F0502020204030204" pitchFamily="34" charset="0"/>
                <a:cs typeface="Calibri" panose="020F0502020204030204" pitchFamily="34" charset="0"/>
              </a:rPr>
              <a:t> 5.2.0 or higher, runs the webpack binary (./</a:t>
            </a:r>
            <a:r>
              <a:rPr lang="en-US" b="0" strike="noStrike" spc="-1" dirty="0" err="1">
                <a:solidFill>
                  <a:schemeClr val="bg1"/>
                </a:solidFill>
                <a:latin typeface="Calibri" panose="020F0502020204030204" pitchFamily="34" charset="0"/>
                <a:cs typeface="Calibri" panose="020F0502020204030204" pitchFamily="34" charset="0"/>
              </a:rPr>
              <a:t>node_modules</a:t>
            </a:r>
            <a:r>
              <a:rPr lang="en-US" b="0" strike="noStrike" spc="-1" dirty="0">
                <a:solidFill>
                  <a:schemeClr val="bg1"/>
                </a:solidFill>
                <a:latin typeface="Calibri" panose="020F0502020204030204" pitchFamily="34" charset="0"/>
                <a:cs typeface="Calibri" panose="020F0502020204030204" pitchFamily="34" charset="0"/>
              </a:rPr>
              <a:t>/.bin/webpack) of the webpack package we installed in the beginning:</a:t>
            </a:r>
          </a:p>
          <a:p>
            <a:endParaRPr lang="uk-UA" dirty="0"/>
          </a:p>
        </p:txBody>
      </p:sp>
      <p:sp>
        <p:nvSpPr>
          <p:cNvPr id="4" name="Номер слайда 3"/>
          <p:cNvSpPr>
            <a:spLocks noGrp="1"/>
          </p:cNvSpPr>
          <p:nvPr>
            <p:ph type="sldNum"/>
          </p:nvPr>
        </p:nvSpPr>
        <p:spPr/>
        <p:txBody>
          <a:bodyPr/>
          <a:lstStyle/>
          <a:p>
            <a:pPr algn="r"/>
            <a:fld id="{34D33B5C-64F7-4D9A-A7F8-061FE288032C}" type="slidenum">
              <a:rPr lang="en-US" sz="1400" b="0" strike="noStrike" spc="-1" smtClean="0">
                <a:latin typeface="Times New Roman"/>
              </a:rPr>
              <a:t>10</a:t>
            </a:fld>
            <a:endParaRPr lang="en-US" sz="1400" b="0" strike="noStrike" spc="-1">
              <a:latin typeface="Times New Roman"/>
            </a:endParaRPr>
          </a:p>
        </p:txBody>
      </p:sp>
    </p:spTree>
    <p:extLst>
      <p:ext uri="{BB962C8B-B14F-4D97-AF65-F5344CB8AC3E}">
        <p14:creationId xmlns:p14="http://schemas.microsoft.com/office/powerpoint/2010/main" val="1616186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217488" y="812800"/>
            <a:ext cx="7124700" cy="4008438"/>
          </a:xfrm>
          <a:prstGeom prst="rect">
            <a:avLst/>
          </a:prstGeom>
        </p:spPr>
      </p:sp>
      <p:sp>
        <p:nvSpPr>
          <p:cNvPr id="296" name="PlaceHolder 2"/>
          <p:cNvSpPr>
            <a:spLocks noGrp="1"/>
          </p:cNvSpPr>
          <p:nvPr>
            <p:ph type="body"/>
          </p:nvPr>
        </p:nvSpPr>
        <p:spPr>
          <a:xfrm>
            <a:off x="756000" y="5078520"/>
            <a:ext cx="6046920" cy="4810320"/>
          </a:xfrm>
          <a:prstGeom prst="rect">
            <a:avLst/>
          </a:prstGeom>
        </p:spPr>
        <p:txBody>
          <a:bodyPr lIns="0" tIns="0" rIns="0" bIns="0">
            <a:noAutofit/>
          </a:bodyPr>
          <a:lstStyle/>
          <a:p>
            <a:pPr marL="216000" indent="-215640">
              <a:lnSpc>
                <a:spcPct val="100000"/>
              </a:lnSpc>
            </a:pPr>
            <a:r>
              <a:rPr lang="en-US" sz="1200" b="0" strike="noStrike" spc="-1">
                <a:solidFill>
                  <a:srgbClr val="000000"/>
                </a:solidFill>
                <a:latin typeface="Arial"/>
                <a:ea typeface="DejaVu Sans"/>
              </a:rPr>
              <a:t>With microservices, we can make a change to a single service and deploy it independently</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of the rest of the system. This allows us to get our code deployed faster. If a</a:t>
            </a:r>
            <a:r>
              <a:rPr lang="uk-UA" sz="1200" b="0" strike="noStrike" spc="-1">
                <a:solidFill>
                  <a:srgbClr val="000000"/>
                </a:solidFill>
                <a:latin typeface="Arial"/>
                <a:ea typeface="DejaVu Sans"/>
              </a:rPr>
              <a:t> </a:t>
            </a:r>
            <a:r>
              <a:rPr lang="en-US" sz="1200" b="0" strike="noStrike" spc="-1">
                <a:solidFill>
                  <a:srgbClr val="000000"/>
                </a:solidFill>
                <a:latin typeface="Arial"/>
                <a:ea typeface="DejaVu Sans"/>
              </a:rPr>
              <a:t>problem does</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occur, it can be isolated quickly to an individual service, making fast rollback easy to</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achieve.</a:t>
            </a:r>
            <a:endParaRPr lang="en-US" sz="1200" b="0" strike="noStrike" spc="-1">
              <a:latin typeface="Arial"/>
            </a:endParaRPr>
          </a:p>
          <a:p>
            <a:pPr marL="216000" indent="-215640">
              <a:lnSpc>
                <a:spcPct val="100000"/>
              </a:lnSpc>
            </a:pPr>
            <a:endParaRPr lang="en-US" sz="1200" b="0" strike="noStrike" spc="-1">
              <a:latin typeface="Arial"/>
            </a:endParaRPr>
          </a:p>
        </p:txBody>
      </p:sp>
      <p:sp>
        <p:nvSpPr>
          <p:cNvPr id="297" name="CustomShape 3"/>
          <p:cNvSpPr/>
          <p:nvPr/>
        </p:nvSpPr>
        <p:spPr>
          <a:xfrm>
            <a:off x="4278960" y="10157400"/>
            <a:ext cx="3279960" cy="53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3D099FC5-BECD-452D-A37B-429ADF72DFF9}" type="slidenum">
              <a:rPr lang="en-US" sz="1400" b="0" strike="noStrike" spc="-1">
                <a:solidFill>
                  <a:srgbClr val="000000"/>
                </a:solidFill>
                <a:latin typeface="Times New Roman"/>
                <a:ea typeface="+mn-ea"/>
              </a:rPr>
              <a:t>11</a:t>
            </a:fld>
            <a:endParaRPr lang="en-US" sz="14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217488" y="812800"/>
            <a:ext cx="7124700" cy="4008438"/>
          </a:xfrm>
          <a:prstGeom prst="rect">
            <a:avLst/>
          </a:prstGeom>
        </p:spPr>
      </p:sp>
      <p:sp>
        <p:nvSpPr>
          <p:cNvPr id="296" name="PlaceHolder 2"/>
          <p:cNvSpPr>
            <a:spLocks noGrp="1"/>
          </p:cNvSpPr>
          <p:nvPr>
            <p:ph type="body"/>
          </p:nvPr>
        </p:nvSpPr>
        <p:spPr>
          <a:xfrm>
            <a:off x="756000" y="5078520"/>
            <a:ext cx="6046920" cy="4810320"/>
          </a:xfrm>
          <a:prstGeom prst="rect">
            <a:avLst/>
          </a:prstGeom>
        </p:spPr>
        <p:txBody>
          <a:bodyPr lIns="0" tIns="0" rIns="0" bIns="0">
            <a:noAutofit/>
          </a:bodyPr>
          <a:lstStyle/>
          <a:p>
            <a:pPr marL="216000" indent="-215640">
              <a:lnSpc>
                <a:spcPct val="100000"/>
              </a:lnSpc>
            </a:pPr>
            <a:r>
              <a:rPr lang="en-US" sz="1200" b="0" strike="noStrike" spc="-1">
                <a:solidFill>
                  <a:srgbClr val="000000"/>
                </a:solidFill>
                <a:latin typeface="Arial"/>
                <a:ea typeface="DejaVu Sans"/>
              </a:rPr>
              <a:t>With microservices, we can make a change to a single service and deploy it independently</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of the rest of the system. This allows us to get our code deployed faster. If a</a:t>
            </a:r>
            <a:r>
              <a:rPr lang="uk-UA" sz="1200" b="0" strike="noStrike" spc="-1">
                <a:solidFill>
                  <a:srgbClr val="000000"/>
                </a:solidFill>
                <a:latin typeface="Arial"/>
                <a:ea typeface="DejaVu Sans"/>
              </a:rPr>
              <a:t> </a:t>
            </a:r>
            <a:r>
              <a:rPr lang="en-US" sz="1200" b="0" strike="noStrike" spc="-1">
                <a:solidFill>
                  <a:srgbClr val="000000"/>
                </a:solidFill>
                <a:latin typeface="Arial"/>
                <a:ea typeface="DejaVu Sans"/>
              </a:rPr>
              <a:t>problem does</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occur, it can be isolated quickly to an individual service, making fast rollback easy to</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achieve.</a:t>
            </a:r>
            <a:endParaRPr lang="en-US" sz="1200" b="0" strike="noStrike" spc="-1">
              <a:latin typeface="Arial"/>
            </a:endParaRPr>
          </a:p>
          <a:p>
            <a:pPr marL="216000" indent="-215640">
              <a:lnSpc>
                <a:spcPct val="100000"/>
              </a:lnSpc>
            </a:pPr>
            <a:endParaRPr lang="en-US" sz="1200" b="0" strike="noStrike" spc="-1">
              <a:latin typeface="Arial"/>
            </a:endParaRPr>
          </a:p>
        </p:txBody>
      </p:sp>
      <p:sp>
        <p:nvSpPr>
          <p:cNvPr id="297" name="CustomShape 3"/>
          <p:cNvSpPr/>
          <p:nvPr/>
        </p:nvSpPr>
        <p:spPr>
          <a:xfrm>
            <a:off x="4278960" y="10157400"/>
            <a:ext cx="3279960" cy="53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3D099FC5-BECD-452D-A37B-429ADF72DFF9}" type="slidenum">
              <a:rPr lang="en-US" sz="1400" b="0" strike="noStrike" spc="-1">
                <a:solidFill>
                  <a:srgbClr val="000000"/>
                </a:solidFill>
                <a:latin typeface="Times New Roman"/>
                <a:ea typeface="+mn-ea"/>
              </a:rPr>
              <a:t>12</a:t>
            </a:fld>
            <a:endParaRPr lang="en-US" sz="1400" b="0" strike="noStrike" spc="-1">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217488" y="812800"/>
            <a:ext cx="7124700" cy="4008438"/>
          </a:xfrm>
          <a:prstGeom prst="rect">
            <a:avLst/>
          </a:prstGeom>
        </p:spPr>
      </p:sp>
      <p:sp>
        <p:nvSpPr>
          <p:cNvPr id="296" name="PlaceHolder 2"/>
          <p:cNvSpPr>
            <a:spLocks noGrp="1"/>
          </p:cNvSpPr>
          <p:nvPr>
            <p:ph type="body"/>
          </p:nvPr>
        </p:nvSpPr>
        <p:spPr>
          <a:xfrm>
            <a:off x="756000" y="5078520"/>
            <a:ext cx="6046920" cy="4810320"/>
          </a:xfrm>
          <a:prstGeom prst="rect">
            <a:avLst/>
          </a:prstGeom>
        </p:spPr>
        <p:txBody>
          <a:bodyPr lIns="0" tIns="0" rIns="0" bIns="0">
            <a:noAutofit/>
          </a:bodyPr>
          <a:lstStyle/>
          <a:p>
            <a:pPr marL="216000" indent="-215640">
              <a:lnSpc>
                <a:spcPct val="100000"/>
              </a:lnSpc>
            </a:pPr>
            <a:r>
              <a:rPr lang="en-US" sz="1200" b="0" strike="noStrike" spc="-1">
                <a:solidFill>
                  <a:srgbClr val="000000"/>
                </a:solidFill>
                <a:latin typeface="Arial"/>
                <a:ea typeface="DejaVu Sans"/>
              </a:rPr>
              <a:t>With microservices, we can make a change to a single service and deploy it independently</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of the rest of the system. This allows us to get our code deployed faster. If a</a:t>
            </a:r>
            <a:r>
              <a:rPr lang="uk-UA" sz="1200" b="0" strike="noStrike" spc="-1">
                <a:solidFill>
                  <a:srgbClr val="000000"/>
                </a:solidFill>
                <a:latin typeface="Arial"/>
                <a:ea typeface="DejaVu Sans"/>
              </a:rPr>
              <a:t> </a:t>
            </a:r>
            <a:r>
              <a:rPr lang="en-US" sz="1200" b="0" strike="noStrike" spc="-1">
                <a:solidFill>
                  <a:srgbClr val="000000"/>
                </a:solidFill>
                <a:latin typeface="Arial"/>
                <a:ea typeface="DejaVu Sans"/>
              </a:rPr>
              <a:t>problem does</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occur, it can be isolated quickly to an individual service, making fast rollback easy to</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achieve.</a:t>
            </a:r>
            <a:endParaRPr lang="en-US" sz="1200" b="0" strike="noStrike" spc="-1">
              <a:latin typeface="Arial"/>
            </a:endParaRPr>
          </a:p>
          <a:p>
            <a:pPr marL="216000" indent="-215640">
              <a:lnSpc>
                <a:spcPct val="100000"/>
              </a:lnSpc>
            </a:pPr>
            <a:endParaRPr lang="en-US" sz="1200" b="0" strike="noStrike" spc="-1">
              <a:latin typeface="Arial"/>
            </a:endParaRPr>
          </a:p>
        </p:txBody>
      </p:sp>
      <p:sp>
        <p:nvSpPr>
          <p:cNvPr id="297" name="CustomShape 3"/>
          <p:cNvSpPr/>
          <p:nvPr/>
        </p:nvSpPr>
        <p:spPr>
          <a:xfrm>
            <a:off x="4278960" y="10157400"/>
            <a:ext cx="3279960" cy="53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3D099FC5-BECD-452D-A37B-429ADF72DFF9}" type="slidenum">
              <a:rPr lang="en-US" sz="1400" b="0" strike="noStrike" spc="-1">
                <a:solidFill>
                  <a:srgbClr val="000000"/>
                </a:solidFill>
                <a:latin typeface="Times New Roman"/>
                <a:ea typeface="+mn-ea"/>
              </a:rPr>
              <a:t>13</a:t>
            </a:fld>
            <a:endParaRPr lang="en-US" sz="1400" b="0" strike="noStrike" spc="-1">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217488" y="812800"/>
            <a:ext cx="7124700" cy="4008438"/>
          </a:xfrm>
          <a:prstGeom prst="rect">
            <a:avLst/>
          </a:prstGeom>
        </p:spPr>
      </p:sp>
      <p:sp>
        <p:nvSpPr>
          <p:cNvPr id="302" name="PlaceHolder 2"/>
          <p:cNvSpPr>
            <a:spLocks noGrp="1"/>
          </p:cNvSpPr>
          <p:nvPr>
            <p:ph type="body"/>
          </p:nvPr>
        </p:nvSpPr>
        <p:spPr>
          <a:xfrm>
            <a:off x="756000" y="5078520"/>
            <a:ext cx="6046920" cy="4810320"/>
          </a:xfrm>
          <a:prstGeom prst="rect">
            <a:avLst/>
          </a:prstGeom>
        </p:spPr>
        <p:txBody>
          <a:bodyPr lIns="0" tIns="0" rIns="0" bIns="0">
            <a:noAutofit/>
          </a:bodyPr>
          <a:lstStyle/>
          <a:p>
            <a:pPr marL="216000" indent="-215640">
              <a:lnSpc>
                <a:spcPct val="100000"/>
              </a:lnSpc>
            </a:pPr>
            <a:endParaRPr lang="en-US" sz="1800" b="0" strike="noStrike" spc="-1" dirty="0">
              <a:latin typeface="Arial"/>
            </a:endParaRPr>
          </a:p>
        </p:txBody>
      </p:sp>
      <p:sp>
        <p:nvSpPr>
          <p:cNvPr id="303" name="CustomShape 3"/>
          <p:cNvSpPr/>
          <p:nvPr/>
        </p:nvSpPr>
        <p:spPr>
          <a:xfrm>
            <a:off x="4278960" y="10157400"/>
            <a:ext cx="3279960" cy="5335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45B94F72-022A-422B-BADE-38A243CA535A}" type="slidenum">
              <a:rPr lang="en-US" sz="1400" b="0" strike="noStrike" spc="-1">
                <a:solidFill>
                  <a:srgbClr val="000000"/>
                </a:solidFill>
                <a:latin typeface="Times New Roman"/>
                <a:ea typeface="+mn-ea"/>
              </a:rPr>
              <a:t>18</a:t>
            </a:fld>
            <a:endParaRPr lang="en-US" sz="1400" b="0" strike="noStrike" spc="-1">
              <a:latin typeface="Arial"/>
            </a:endParaRPr>
          </a:p>
        </p:txBody>
      </p:sp>
    </p:spTree>
    <p:extLst>
      <p:ext uri="{BB962C8B-B14F-4D97-AF65-F5344CB8AC3E}">
        <p14:creationId xmlns:p14="http://schemas.microsoft.com/office/powerpoint/2010/main" val="3581509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7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9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9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9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1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1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1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2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2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2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2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3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3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3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3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4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4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5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5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5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5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6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8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9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9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 name="Picture 8"/>
          <p:cNvPicPr/>
          <p:nvPr/>
        </p:nvPicPr>
        <p:blipFill>
          <a:blip r:embed="rId14"/>
          <a:stretch/>
        </p:blipFill>
        <p:spPr>
          <a:xfrm>
            <a:off x="9959040" y="5906880"/>
            <a:ext cx="1542600" cy="261000"/>
          </a:xfrm>
          <a:prstGeom prst="rect">
            <a:avLst/>
          </a:prstGeom>
          <a:ln>
            <a:noFill/>
          </a:ln>
        </p:spPr>
      </p:pic>
      <p:pic>
        <p:nvPicPr>
          <p:cNvPr id="5" name="Picture 7"/>
          <p:cNvPicPr/>
          <p:nvPr/>
        </p:nvPicPr>
        <p:blipFill>
          <a:blip r:embed="rId14"/>
          <a:stretch/>
        </p:blipFill>
        <p:spPr>
          <a:xfrm>
            <a:off x="9959040" y="5906880"/>
            <a:ext cx="1542600" cy="26100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0" name="Picture 8"/>
          <p:cNvPicPr/>
          <p:nvPr/>
        </p:nvPicPr>
        <p:blipFill>
          <a:blip r:embed="rId14"/>
          <a:stretch/>
        </p:blipFill>
        <p:spPr>
          <a:xfrm>
            <a:off x="9959040" y="5906880"/>
            <a:ext cx="1542600" cy="261000"/>
          </a:xfrm>
          <a:prstGeom prst="rect">
            <a:avLst/>
          </a:prstGeom>
          <a:ln>
            <a:noFill/>
          </a:ln>
        </p:spPr>
      </p:pic>
      <p:pic>
        <p:nvPicPr>
          <p:cNvPr id="41" name="Picture 7"/>
          <p:cNvPicPr/>
          <p:nvPr/>
        </p:nvPicPr>
        <p:blipFill>
          <a:blip r:embed="rId14"/>
          <a:stretch/>
        </p:blipFill>
        <p:spPr>
          <a:xfrm>
            <a:off x="9959040" y="5906880"/>
            <a:ext cx="1542600" cy="261000"/>
          </a:xfrm>
          <a:prstGeom prst="rect">
            <a:avLst/>
          </a:prstGeom>
          <a:ln>
            <a:noFill/>
          </a:ln>
        </p:spPr>
      </p:pic>
      <p:sp>
        <p:nvSpPr>
          <p:cNvPr id="42" name="PlaceHolder 1"/>
          <p:cNvSpPr>
            <a:spLocks noGrp="1"/>
          </p:cNvSpPr>
          <p:nvPr>
            <p:ph type="title"/>
          </p:nvPr>
        </p:nvSpPr>
        <p:spPr>
          <a:xfrm>
            <a:off x="609480" y="273600"/>
            <a:ext cx="10972080" cy="1144440"/>
          </a:xfrm>
          <a:prstGeom prst="rect">
            <a:avLst/>
          </a:prstGeom>
        </p:spPr>
        <p:txBody>
          <a:bodyPr lIns="0" tIns="0" rIns="0" bIns="0" anchor="ctr">
            <a:noAutofit/>
          </a:bodyPr>
          <a:lstStyle/>
          <a:p>
            <a:pPr algn="ctr"/>
            <a:r>
              <a:rPr lang="en-US" sz="1800" b="0" strike="noStrike" spc="-1">
                <a:latin typeface="Arial"/>
              </a:rPr>
              <a:t>Click to edit the title text format</a:t>
            </a:r>
          </a:p>
        </p:txBody>
      </p:sp>
      <p:sp>
        <p:nvSpPr>
          <p:cNvPr id="43" name="PlaceHolder 2"/>
          <p:cNvSpPr>
            <a:spLocks noGrp="1"/>
          </p:cNvSpPr>
          <p:nvPr>
            <p:ph type="body"/>
          </p:nvPr>
        </p:nvSpPr>
        <p:spPr>
          <a:xfrm>
            <a:off x="609480" y="1604520"/>
            <a:ext cx="10972080" cy="3976920"/>
          </a:xfrm>
          <a:prstGeom prst="rect">
            <a:avLst/>
          </a:prstGeom>
        </p:spPr>
        <p:txBody>
          <a:bodyPr lIns="0" tIns="0" rIns="0" bIns="0">
            <a:normAutofit/>
          </a:bodyPr>
          <a:lstStyle/>
          <a:p>
            <a:pPr marL="432000" indent="-324000" algn="ctr">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lgn="ctr">
              <a:spcBef>
                <a:spcPts val="1134"/>
              </a:spcBef>
              <a:buClr>
                <a:srgbClr val="000000"/>
              </a:buClr>
              <a:buSzPct val="75000"/>
              <a:buFont typeface="Symbol" charset="2"/>
              <a:buChar char=""/>
            </a:pPr>
            <a:r>
              <a:rPr lang="en-US" sz="1800" b="0" strike="noStrike" spc="-1">
                <a:latin typeface="Arial"/>
              </a:rPr>
              <a:t>Second Outline Level</a:t>
            </a:r>
          </a:p>
          <a:p>
            <a:pPr marL="1296000" lvl="2" indent="-288000" algn="ctr">
              <a:spcBef>
                <a:spcPts val="850"/>
              </a:spcBef>
              <a:buClr>
                <a:srgbClr val="000000"/>
              </a:buClr>
              <a:buSzPct val="45000"/>
              <a:buFont typeface="Wingdings" charset="2"/>
              <a:buChar char=""/>
            </a:pPr>
            <a:r>
              <a:rPr lang="en-US" sz="1800" b="0" strike="noStrike" spc="-1">
                <a:latin typeface="Arial"/>
              </a:rPr>
              <a:t>Third Outline Level</a:t>
            </a:r>
          </a:p>
          <a:p>
            <a:pPr marL="1728000" lvl="3" indent="-216000" algn="ctr">
              <a:spcBef>
                <a:spcPts val="567"/>
              </a:spcBef>
              <a:buClr>
                <a:srgbClr val="000000"/>
              </a:buClr>
              <a:buSzPct val="75000"/>
              <a:buFont typeface="Symbol" charset="2"/>
              <a:buChar char=""/>
            </a:pPr>
            <a:r>
              <a:rPr lang="en-US" sz="1800" b="0" strike="noStrike" spc="-1">
                <a:latin typeface="Arial"/>
              </a:rPr>
              <a:t>Fourth Outline Level</a:t>
            </a:r>
          </a:p>
          <a:p>
            <a:pPr marL="2160000" lvl="4" indent="-216000" algn="ctr">
              <a:spcBef>
                <a:spcPts val="283"/>
              </a:spcBef>
              <a:buClr>
                <a:srgbClr val="000000"/>
              </a:buClr>
              <a:buSzPct val="45000"/>
              <a:buFont typeface="Wingdings" charset="2"/>
              <a:buChar char=""/>
            </a:pPr>
            <a:r>
              <a:rPr lang="en-US" sz="1800" b="0" strike="noStrike" spc="-1">
                <a:latin typeface="Arial"/>
              </a:rPr>
              <a:t>Fifth Outline Level</a:t>
            </a:r>
          </a:p>
          <a:p>
            <a:pPr marL="2592000" lvl="5" indent="-216000" algn="ctr">
              <a:spcBef>
                <a:spcPts val="283"/>
              </a:spcBef>
              <a:buClr>
                <a:srgbClr val="000000"/>
              </a:buClr>
              <a:buSzPct val="45000"/>
              <a:buFont typeface="Wingdings" charset="2"/>
              <a:buChar char=""/>
            </a:pPr>
            <a:r>
              <a:rPr lang="en-US" sz="1800" b="0" strike="noStrike" spc="-1">
                <a:latin typeface="Arial"/>
              </a:rPr>
              <a:t>Sixth Outline Level</a:t>
            </a:r>
          </a:p>
          <a:p>
            <a:pPr marL="3024000" lvl="6" indent="-216000" algn="ctr">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80" name="Picture 8"/>
          <p:cNvPicPr/>
          <p:nvPr/>
        </p:nvPicPr>
        <p:blipFill>
          <a:blip r:embed="rId14"/>
          <a:stretch/>
        </p:blipFill>
        <p:spPr>
          <a:xfrm>
            <a:off x="9959040" y="5906880"/>
            <a:ext cx="1542600" cy="261000"/>
          </a:xfrm>
          <a:prstGeom prst="rect">
            <a:avLst/>
          </a:prstGeom>
          <a:ln>
            <a:noFill/>
          </a:ln>
        </p:spPr>
      </p:pic>
      <p:sp>
        <p:nvSpPr>
          <p:cNvPr id="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82"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119" name="Picture 8"/>
          <p:cNvPicPr/>
          <p:nvPr/>
        </p:nvPicPr>
        <p:blipFill>
          <a:blip r:embed="rId14"/>
          <a:stretch/>
        </p:blipFill>
        <p:spPr>
          <a:xfrm>
            <a:off x="9959040" y="5906880"/>
            <a:ext cx="1542600" cy="261000"/>
          </a:xfrm>
          <a:prstGeom prst="rect">
            <a:avLst/>
          </a:prstGeom>
          <a:ln>
            <a:noFill/>
          </a:ln>
        </p:spPr>
      </p:pic>
      <p:sp>
        <p:nvSpPr>
          <p:cNvPr id="120" name="PlaceHolder 1"/>
          <p:cNvSpPr>
            <a:spLocks noGrp="1"/>
          </p:cNvSpPr>
          <p:nvPr>
            <p:ph type="title"/>
          </p:nvPr>
        </p:nvSpPr>
        <p:spPr>
          <a:xfrm>
            <a:off x="609480" y="273600"/>
            <a:ext cx="10972080" cy="1144440"/>
          </a:xfrm>
          <a:prstGeom prst="rect">
            <a:avLst/>
          </a:prstGeom>
        </p:spPr>
        <p:txBody>
          <a:bodyPr lIns="0" tIns="0" rIns="0" bIns="0" anchor="ctr">
            <a:noAutofit/>
          </a:bodyPr>
          <a:lstStyle/>
          <a:p>
            <a:pPr algn="ctr"/>
            <a:r>
              <a:rPr lang="en-US" sz="1800" b="0" strike="noStrike" spc="-1">
                <a:latin typeface="Arial"/>
              </a:rPr>
              <a:t>Click to edit the title text format</a:t>
            </a:r>
          </a:p>
        </p:txBody>
      </p:sp>
      <p:sp>
        <p:nvSpPr>
          <p:cNvPr id="121" name="PlaceHolder 2"/>
          <p:cNvSpPr>
            <a:spLocks noGrp="1"/>
          </p:cNvSpPr>
          <p:nvPr>
            <p:ph type="body"/>
          </p:nvPr>
        </p:nvSpPr>
        <p:spPr>
          <a:xfrm>
            <a:off x="609480" y="1604520"/>
            <a:ext cx="10972080" cy="3976920"/>
          </a:xfrm>
          <a:prstGeom prst="rect">
            <a:avLst/>
          </a:prstGeom>
        </p:spPr>
        <p:txBody>
          <a:bodyPr lIns="0" tIns="0" rIns="0" bIns="0">
            <a:normAutofit/>
          </a:bodyPr>
          <a:lstStyle/>
          <a:p>
            <a:pPr marL="432000" indent="-324000" algn="ctr">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lgn="ctr">
              <a:spcBef>
                <a:spcPts val="1134"/>
              </a:spcBef>
              <a:buClr>
                <a:srgbClr val="000000"/>
              </a:buClr>
              <a:buSzPct val="75000"/>
              <a:buFont typeface="Symbol" charset="2"/>
              <a:buChar char=""/>
            </a:pPr>
            <a:r>
              <a:rPr lang="en-US" sz="1800" b="0" strike="noStrike" spc="-1">
                <a:latin typeface="Arial"/>
              </a:rPr>
              <a:t>Second Outline Level</a:t>
            </a:r>
          </a:p>
          <a:p>
            <a:pPr marL="1296000" lvl="2" indent="-288000" algn="ctr">
              <a:spcBef>
                <a:spcPts val="850"/>
              </a:spcBef>
              <a:buClr>
                <a:srgbClr val="000000"/>
              </a:buClr>
              <a:buSzPct val="45000"/>
              <a:buFont typeface="Wingdings" charset="2"/>
              <a:buChar char=""/>
            </a:pPr>
            <a:r>
              <a:rPr lang="en-US" sz="1800" b="0" strike="noStrike" spc="-1">
                <a:latin typeface="Arial"/>
              </a:rPr>
              <a:t>Third Outline Level</a:t>
            </a:r>
          </a:p>
          <a:p>
            <a:pPr marL="1728000" lvl="3" indent="-216000" algn="ctr">
              <a:spcBef>
                <a:spcPts val="567"/>
              </a:spcBef>
              <a:buClr>
                <a:srgbClr val="000000"/>
              </a:buClr>
              <a:buSzPct val="75000"/>
              <a:buFont typeface="Symbol" charset="2"/>
              <a:buChar char=""/>
            </a:pPr>
            <a:r>
              <a:rPr lang="en-US" sz="1800" b="0" strike="noStrike" spc="-1">
                <a:latin typeface="Arial"/>
              </a:rPr>
              <a:t>Fourth Outline Level</a:t>
            </a:r>
          </a:p>
          <a:p>
            <a:pPr marL="2160000" lvl="4" indent="-216000" algn="ctr">
              <a:spcBef>
                <a:spcPts val="283"/>
              </a:spcBef>
              <a:buClr>
                <a:srgbClr val="000000"/>
              </a:buClr>
              <a:buSzPct val="45000"/>
              <a:buFont typeface="Wingdings" charset="2"/>
              <a:buChar char=""/>
            </a:pPr>
            <a:r>
              <a:rPr lang="en-US" sz="1800" b="0" strike="noStrike" spc="-1">
                <a:latin typeface="Arial"/>
              </a:rPr>
              <a:t>Fifth Outline Level</a:t>
            </a:r>
          </a:p>
          <a:p>
            <a:pPr marL="2592000" lvl="5" indent="-216000" algn="ctr">
              <a:spcBef>
                <a:spcPts val="283"/>
              </a:spcBef>
              <a:buClr>
                <a:srgbClr val="000000"/>
              </a:buClr>
              <a:buSzPct val="45000"/>
              <a:buFont typeface="Wingdings" charset="2"/>
              <a:buChar char=""/>
            </a:pPr>
            <a:r>
              <a:rPr lang="en-US" sz="1800" b="0" strike="noStrike" spc="-1">
                <a:latin typeface="Arial"/>
              </a:rPr>
              <a:t>Sixth Outline Level</a:t>
            </a:r>
          </a:p>
          <a:p>
            <a:pPr marL="3024000" lvl="6" indent="-216000" algn="ctr">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58" name="Picture 8"/>
          <p:cNvPicPr/>
          <p:nvPr/>
        </p:nvPicPr>
        <p:blipFill>
          <a:blip r:embed="rId14"/>
          <a:stretch/>
        </p:blipFill>
        <p:spPr>
          <a:xfrm>
            <a:off x="9959040" y="5906880"/>
            <a:ext cx="1542600" cy="261000"/>
          </a:xfrm>
          <a:prstGeom prst="rect">
            <a:avLst/>
          </a:prstGeom>
          <a:ln>
            <a:noFill/>
          </a:ln>
        </p:spPr>
      </p:pic>
      <p:sp>
        <p:nvSpPr>
          <p:cNvPr id="159" name="CustomShape 1"/>
          <p:cNvSpPr/>
          <p:nvPr/>
        </p:nvSpPr>
        <p:spPr>
          <a:xfrm>
            <a:off x="9487080" y="236880"/>
            <a:ext cx="2117160" cy="25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en-US" sz="1100" b="0" strike="noStrike" spc="-1">
                <a:solidFill>
                  <a:srgbClr val="000000"/>
                </a:solidFill>
                <a:latin typeface="Open Sans Regular"/>
                <a:ea typeface="Open Sans Regular"/>
              </a:rPr>
              <a:t>SoftServe Confidential</a:t>
            </a:r>
            <a:endParaRPr lang="en-US" sz="1100" b="0" strike="noStrike" spc="-1">
              <a:latin typeface="Arial"/>
            </a:endParaRPr>
          </a:p>
        </p:txBody>
      </p:sp>
      <p:sp>
        <p:nvSpPr>
          <p:cNvPr id="160"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61"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ebpack.js.org/concepts/module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5.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5.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7.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3" Type="http://schemas.openxmlformats.org/officeDocument/2006/relationships/hyperlink" Target="https://www.npmjs.com/package/gulp-uglify" TargetMode="External"/><Relationship Id="rId2" Type="http://schemas.openxmlformats.org/officeDocument/2006/relationships/image" Target="../media/image31.PNG"/><Relationship Id="rId1" Type="http://schemas.openxmlformats.org/officeDocument/2006/relationships/slideLayout" Target="../slideLayouts/slideLayout38.xml"/><Relationship Id="rId4" Type="http://schemas.openxmlformats.org/officeDocument/2006/relationships/hyperlink" Target="https://github.com/robrich/gulp-if"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CustomShape 1"/>
          <p:cNvSpPr/>
          <p:nvPr/>
        </p:nvSpPr>
        <p:spPr>
          <a:xfrm>
            <a:off x="685800" y="5915160"/>
            <a:ext cx="3462840" cy="290880"/>
          </a:xfrm>
          <a:prstGeom prst="rect">
            <a:avLst/>
          </a:prstGeom>
          <a:noFill/>
          <a:ln>
            <a:noFill/>
          </a:ln>
        </p:spPr>
        <p:style>
          <a:lnRef idx="0">
            <a:scrgbClr r="0" g="0" b="0"/>
          </a:lnRef>
          <a:fillRef idx="0">
            <a:scrgbClr r="0" g="0" b="0"/>
          </a:fillRef>
          <a:effectRef idx="0">
            <a:scrgbClr r="0" g="0" b="0"/>
          </a:effectRef>
          <a:fontRef idx="minor"/>
        </p:style>
      </p:sp>
      <p:sp>
        <p:nvSpPr>
          <p:cNvPr id="205" name="CustomShape 2"/>
          <p:cNvSpPr/>
          <p:nvPr/>
        </p:nvSpPr>
        <p:spPr>
          <a:xfrm>
            <a:off x="199440" y="329760"/>
            <a:ext cx="12386520" cy="66787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6600" b="0" strike="noStrike" spc="-1">
                <a:solidFill>
                  <a:srgbClr val="FFFFFF"/>
                </a:solidFill>
                <a:latin typeface="Arial"/>
                <a:ea typeface="DejaVu Sans"/>
              </a:rPr>
              <a:t>Javascript Build Tools: Grunt, Gulp, Webpack</a:t>
            </a:r>
            <a:endParaRPr lang="en-US" sz="66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CustomShape 1"/>
          <p:cNvSpPr/>
          <p:nvPr/>
        </p:nvSpPr>
        <p:spPr>
          <a:xfrm>
            <a:off x="659437" y="921434"/>
            <a:ext cx="11277000" cy="456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r>
              <a:rPr lang="en-US" sz="2400" b="0" strike="noStrike" spc="-1" dirty="0">
                <a:solidFill>
                  <a:srgbClr val="FFFFFF"/>
                </a:solidFill>
                <a:latin typeface="Calibri" panose="020F0502020204030204" pitchFamily="34" charset="0"/>
                <a:ea typeface="DejaVu Sans"/>
                <a:cs typeface="Calibri" panose="020F0502020204030204" pitchFamily="34" charset="0"/>
              </a:rPr>
              <a:t>At its core, webpack is a static module bundler for modern JavaScript applications. When webpack processes your application, it internally builds a dependency graph which maps every module your project needs and generates one or more bundles.</a:t>
            </a:r>
            <a:endParaRPr lang="en-US" sz="2400" b="0" strike="noStrike" spc="-1" dirty="0">
              <a:latin typeface="Calibri" panose="020F0502020204030204" pitchFamily="34" charset="0"/>
              <a:cs typeface="Calibri" panose="020F0502020204030204" pitchFamily="34" charset="0"/>
            </a:endParaRPr>
          </a:p>
          <a:p>
            <a:pPr algn="just"/>
            <a:endParaRPr lang="en-US" sz="2400" b="0" strike="noStrike" spc="-1" dirty="0">
              <a:latin typeface="Calibri" panose="020F0502020204030204" pitchFamily="34" charset="0"/>
              <a:cs typeface="Calibri" panose="020F0502020204030204" pitchFamily="34" charset="0"/>
            </a:endParaRPr>
          </a:p>
        </p:txBody>
      </p:sp>
      <p:sp>
        <p:nvSpPr>
          <p:cNvPr id="207" name="TextShape 2"/>
          <p:cNvSpPr txBox="1"/>
          <p:nvPr/>
        </p:nvSpPr>
        <p:spPr>
          <a:xfrm>
            <a:off x="832680" y="274320"/>
            <a:ext cx="2473228" cy="822240"/>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Concepts</a:t>
            </a:r>
          </a:p>
          <a:p>
            <a:endParaRPr lang="en-US" sz="3600" b="0" strike="noStrike" spc="-1" dirty="0">
              <a:latin typeface="Proxima Nova Black"/>
            </a:endParaRPr>
          </a:p>
        </p:txBody>
      </p:sp>
      <p:sp>
        <p:nvSpPr>
          <p:cNvPr id="208" name="TextShape 3"/>
          <p:cNvSpPr txBox="1"/>
          <p:nvPr/>
        </p:nvSpPr>
        <p:spPr>
          <a:xfrm>
            <a:off x="832680" y="2545643"/>
            <a:ext cx="9661818" cy="3165840"/>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To get started you only need to understand its Core Concepts:</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Entry</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Output</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Loaders</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Plugins</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Mode</a:t>
            </a:r>
          </a:p>
          <a:p>
            <a:pPr marL="342900" indent="-342900">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Browser Compatibility</a:t>
            </a:r>
          </a:p>
          <a:p>
            <a:endParaRPr lang="en-US" sz="1000" b="0" strike="noStrike" spc="-1" dirty="0">
              <a:solidFill>
                <a:schemeClr val="bg1"/>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CustomShape 1"/>
          <p:cNvSpPr/>
          <p:nvPr/>
        </p:nvSpPr>
        <p:spPr>
          <a:xfrm>
            <a:off x="518760" y="457200"/>
            <a:ext cx="11277000" cy="4564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50000"/>
              </a:lnSpc>
            </a:pPr>
            <a:r>
              <a:rPr lang="en-US" sz="3600" b="1" strike="noStrike" spc="-1" dirty="0">
                <a:solidFill>
                  <a:srgbClr val="FFFFFF"/>
                </a:solidFill>
                <a:latin typeface="Proxima Nova Black"/>
                <a:ea typeface="DejaVu Sans"/>
              </a:rPr>
              <a:t>Entry</a:t>
            </a:r>
            <a:endParaRPr lang="en-US" sz="3600" b="1" strike="noStrike" spc="-1" dirty="0">
              <a:latin typeface="Proxima Nova Black"/>
            </a:endParaRPr>
          </a:p>
          <a:p>
            <a:pPr algn="just">
              <a:lnSpc>
                <a:spcPct val="150000"/>
              </a:lnSpc>
            </a:pPr>
            <a:endParaRPr lang="en-US" sz="1800" b="0" strike="noStrike" spc="-1" dirty="0">
              <a:latin typeface="Arial"/>
            </a:endParaRPr>
          </a:p>
        </p:txBody>
      </p:sp>
      <p:sp>
        <p:nvSpPr>
          <p:cNvPr id="210" name="TextShape 2"/>
          <p:cNvSpPr txBox="1"/>
          <p:nvPr/>
        </p:nvSpPr>
        <p:spPr>
          <a:xfrm>
            <a:off x="518760" y="1325790"/>
            <a:ext cx="10904206" cy="374400"/>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An entry point indicates which module webpack should use to begin building out its internal dependency graph. webpack will figure out which other modules and libraries that entry point depends on (directly and indirectly).</a:t>
            </a:r>
          </a:p>
        </p:txBody>
      </p:sp>
      <p:sp>
        <p:nvSpPr>
          <p:cNvPr id="211" name="TextShape 3"/>
          <p:cNvSpPr txBox="1"/>
          <p:nvPr/>
        </p:nvSpPr>
        <p:spPr>
          <a:xfrm>
            <a:off x="518759" y="2568780"/>
            <a:ext cx="10594717" cy="374040"/>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By default its value is ./</a:t>
            </a:r>
            <a:r>
              <a:rPr lang="en-US" sz="2400" b="0" strike="noStrike" spc="-1" dirty="0" err="1">
                <a:solidFill>
                  <a:schemeClr val="bg1"/>
                </a:solidFill>
                <a:latin typeface="Calibri" panose="020F0502020204030204" pitchFamily="34" charset="0"/>
                <a:cs typeface="Calibri" panose="020F0502020204030204" pitchFamily="34" charset="0"/>
              </a:rPr>
              <a:t>src</a:t>
            </a:r>
            <a:r>
              <a:rPr lang="en-US" sz="2400" b="0" strike="noStrike" spc="-1" dirty="0">
                <a:solidFill>
                  <a:schemeClr val="bg1"/>
                </a:solidFill>
                <a:latin typeface="Calibri" panose="020F0502020204030204" pitchFamily="34" charset="0"/>
                <a:cs typeface="Calibri" panose="020F0502020204030204" pitchFamily="34" charset="0"/>
              </a:rPr>
              <a:t>/index.js, but you can specify a different (or multiple entry points) by setting an entry property in the webpack configuration. For example:</a:t>
            </a:r>
          </a:p>
        </p:txBody>
      </p:sp>
      <p:pic>
        <p:nvPicPr>
          <p:cNvPr id="212" name="Рисунок 211"/>
          <p:cNvPicPr/>
          <p:nvPr/>
        </p:nvPicPr>
        <p:blipFill>
          <a:blip r:embed="rId2"/>
          <a:stretch/>
        </p:blipFill>
        <p:spPr>
          <a:xfrm>
            <a:off x="518759" y="3741975"/>
            <a:ext cx="6933960" cy="114264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TextShape 1"/>
          <p:cNvSpPr txBox="1"/>
          <p:nvPr/>
        </p:nvSpPr>
        <p:spPr>
          <a:xfrm>
            <a:off x="312840" y="279374"/>
            <a:ext cx="3585240" cy="447092"/>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Output</a:t>
            </a:r>
          </a:p>
          <a:p>
            <a:endParaRPr lang="en-US" sz="1600" b="0" strike="noStrike" spc="-1" dirty="0">
              <a:latin typeface="Arial"/>
            </a:endParaRPr>
          </a:p>
        </p:txBody>
      </p:sp>
      <p:sp>
        <p:nvSpPr>
          <p:cNvPr id="214" name="TextShape 2"/>
          <p:cNvSpPr txBox="1"/>
          <p:nvPr/>
        </p:nvSpPr>
        <p:spPr>
          <a:xfrm>
            <a:off x="274319" y="1005840"/>
            <a:ext cx="11401865" cy="1582616"/>
          </a:xfrm>
          <a:prstGeom prst="rect">
            <a:avLst/>
          </a:prstGeom>
          <a:noFill/>
          <a:ln>
            <a:noFill/>
          </a:ln>
        </p:spPr>
        <p:txBody>
          <a:bodyPr lIns="90000" tIns="45000" rIns="90000" bIns="45000">
            <a:noAutofit/>
          </a:bodyPr>
          <a:lstStyle/>
          <a:p>
            <a:pPr algn="just"/>
            <a:r>
              <a:rPr lang="en-US" sz="2400" b="0" strike="noStrike" spc="-1" dirty="0">
                <a:solidFill>
                  <a:schemeClr val="bg1"/>
                </a:solidFill>
                <a:latin typeface="Calibri" panose="020F0502020204030204" pitchFamily="34" charset="0"/>
                <a:cs typeface="Calibri" panose="020F0502020204030204" pitchFamily="34" charset="0"/>
              </a:rPr>
              <a:t>The output property tells webpack where to emit the bundles it creates and how to name these files. It defaults to ./</a:t>
            </a:r>
            <a:r>
              <a:rPr lang="en-US" sz="2400" b="0" strike="noStrike" spc="-1" dirty="0" err="1">
                <a:solidFill>
                  <a:schemeClr val="bg1"/>
                </a:solidFill>
                <a:latin typeface="Calibri" panose="020F0502020204030204" pitchFamily="34" charset="0"/>
                <a:cs typeface="Calibri" panose="020F0502020204030204" pitchFamily="34" charset="0"/>
              </a:rPr>
              <a:t>dist</a:t>
            </a:r>
            <a:r>
              <a:rPr lang="en-US" sz="2400" b="0" strike="noStrike" spc="-1" dirty="0">
                <a:solidFill>
                  <a:schemeClr val="bg1"/>
                </a:solidFill>
                <a:latin typeface="Calibri" panose="020F0502020204030204" pitchFamily="34" charset="0"/>
                <a:cs typeface="Calibri" panose="020F0502020204030204" pitchFamily="34" charset="0"/>
              </a:rPr>
              <a:t>/main.js for the main output file and to the ./</a:t>
            </a:r>
            <a:r>
              <a:rPr lang="en-US" sz="2400" b="0" strike="noStrike" spc="-1" dirty="0" err="1">
                <a:solidFill>
                  <a:schemeClr val="bg1"/>
                </a:solidFill>
                <a:latin typeface="Calibri" panose="020F0502020204030204" pitchFamily="34" charset="0"/>
                <a:cs typeface="Calibri" panose="020F0502020204030204" pitchFamily="34" charset="0"/>
              </a:rPr>
              <a:t>dist</a:t>
            </a:r>
            <a:r>
              <a:rPr lang="en-US" sz="2400" b="0" strike="noStrike" spc="-1" dirty="0">
                <a:solidFill>
                  <a:schemeClr val="bg1"/>
                </a:solidFill>
                <a:latin typeface="Calibri" panose="020F0502020204030204" pitchFamily="34" charset="0"/>
                <a:cs typeface="Calibri" panose="020F0502020204030204" pitchFamily="34" charset="0"/>
              </a:rPr>
              <a:t> folder for any other generated file. You can configure this part of the process by specifying an output field in your configuration:</a:t>
            </a:r>
          </a:p>
          <a:p>
            <a:pPr algn="just"/>
            <a:endParaRPr lang="en-US" sz="2400" b="0" strike="noStrike" spc="-1" dirty="0">
              <a:solidFill>
                <a:schemeClr val="bg1"/>
              </a:solidFill>
              <a:latin typeface="Calibri" panose="020F0502020204030204" pitchFamily="34" charset="0"/>
              <a:cs typeface="Calibri" panose="020F0502020204030204" pitchFamily="34" charset="0"/>
            </a:endParaRPr>
          </a:p>
        </p:txBody>
      </p:sp>
      <p:pic>
        <p:nvPicPr>
          <p:cNvPr id="215" name="Рисунок 214"/>
          <p:cNvPicPr/>
          <p:nvPr/>
        </p:nvPicPr>
        <p:blipFill>
          <a:blip r:embed="rId2"/>
          <a:stretch/>
        </p:blipFill>
        <p:spPr>
          <a:xfrm>
            <a:off x="312840" y="2867830"/>
            <a:ext cx="6819480" cy="222840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CustomShape 1"/>
          <p:cNvSpPr/>
          <p:nvPr/>
        </p:nvSpPr>
        <p:spPr>
          <a:xfrm>
            <a:off x="1349640" y="1188720"/>
            <a:ext cx="10354680" cy="1357920"/>
          </a:xfrm>
          <a:prstGeom prst="rect">
            <a:avLst/>
          </a:prstGeom>
          <a:noFill/>
          <a:ln>
            <a:noFill/>
          </a:ln>
        </p:spPr>
        <p:style>
          <a:lnRef idx="0">
            <a:scrgbClr r="0" g="0" b="0"/>
          </a:lnRef>
          <a:fillRef idx="0">
            <a:scrgbClr r="0" g="0" b="0"/>
          </a:fillRef>
          <a:effectRef idx="0">
            <a:scrgbClr r="0" g="0" b="0"/>
          </a:effectRef>
          <a:fontRef idx="minor"/>
        </p:style>
      </p:sp>
      <p:sp>
        <p:nvSpPr>
          <p:cNvPr id="218" name="TextShape 2"/>
          <p:cNvSpPr txBox="1"/>
          <p:nvPr/>
        </p:nvSpPr>
        <p:spPr>
          <a:xfrm>
            <a:off x="182880" y="274320"/>
            <a:ext cx="11551920" cy="1296360"/>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Loaders</a:t>
            </a:r>
          </a:p>
          <a:p>
            <a:r>
              <a:rPr lang="en-US" sz="2400" b="0" strike="noStrike" spc="-1" dirty="0">
                <a:solidFill>
                  <a:schemeClr val="bg1"/>
                </a:solidFill>
                <a:latin typeface="Calibri" panose="020F0502020204030204" pitchFamily="34" charset="0"/>
                <a:cs typeface="Calibri" panose="020F0502020204030204" pitchFamily="34" charset="0"/>
              </a:rPr>
              <a:t>Out of the box, webpack only understands JavaScript and JSON files. Loaders allow webpack to process other types of files and convert them into valid </a:t>
            </a:r>
            <a:r>
              <a:rPr lang="en-US" sz="2400" b="0" strike="noStrike" spc="-1" dirty="0">
                <a:solidFill>
                  <a:schemeClr val="bg1"/>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modules</a:t>
            </a:r>
            <a:r>
              <a:rPr lang="en-US" sz="2400" b="0" strike="noStrike" spc="-1" dirty="0">
                <a:solidFill>
                  <a:schemeClr val="bg1"/>
                </a:solidFill>
                <a:latin typeface="Calibri" panose="020F0502020204030204" pitchFamily="34" charset="0"/>
                <a:cs typeface="Calibri" panose="020F0502020204030204" pitchFamily="34" charset="0"/>
              </a:rPr>
              <a:t> that can be consumed by your application and added to the dependency graph.</a:t>
            </a:r>
          </a:p>
          <a:p>
            <a:endParaRPr lang="en-US" sz="1000" b="0" strike="noStrike" spc="-1" dirty="0">
              <a:latin typeface="Arial"/>
            </a:endParaRPr>
          </a:p>
        </p:txBody>
      </p:sp>
      <p:sp>
        <p:nvSpPr>
          <p:cNvPr id="219" name="TextShape 3"/>
          <p:cNvSpPr txBox="1"/>
          <p:nvPr/>
        </p:nvSpPr>
        <p:spPr>
          <a:xfrm>
            <a:off x="182880" y="1995591"/>
            <a:ext cx="11338560" cy="551049"/>
          </a:xfrm>
          <a:prstGeom prst="rect">
            <a:avLst/>
          </a:prstGeom>
          <a:noFill/>
          <a:ln>
            <a:noFill/>
          </a:ln>
        </p:spPr>
        <p:txBody>
          <a:bodyPr lIns="90000" tIns="45000" rIns="90000" bIns="45000">
            <a:noAutofit/>
          </a:bodyPr>
          <a:lstStyle/>
          <a:p>
            <a:pPr algn="just"/>
            <a:r>
              <a:rPr lang="en-US" sz="2400" b="0" strike="noStrike" spc="-1" dirty="0">
                <a:solidFill>
                  <a:schemeClr val="bg1"/>
                </a:solidFill>
                <a:latin typeface="Calibri" panose="020F0502020204030204" pitchFamily="34" charset="0"/>
                <a:cs typeface="Calibri" panose="020F0502020204030204" pitchFamily="34" charset="0"/>
              </a:rPr>
              <a:t>At a high level, loaders have two properties in your webpack configuration: The test property identifies which file or files should be transformed. The use property indicates which loader should be used to do the transforming.</a:t>
            </a:r>
          </a:p>
          <a:p>
            <a:pPr algn="just"/>
            <a:endParaRPr lang="en-US" sz="2400" b="0" strike="noStrike" spc="-1" dirty="0">
              <a:solidFill>
                <a:schemeClr val="bg1"/>
              </a:solidFill>
              <a:latin typeface="Calibri" panose="020F0502020204030204" pitchFamily="34" charset="0"/>
              <a:cs typeface="Calibri" panose="020F0502020204030204" pitchFamily="34" charset="0"/>
            </a:endParaRPr>
          </a:p>
        </p:txBody>
      </p:sp>
      <p:pic>
        <p:nvPicPr>
          <p:cNvPr id="220" name="Рисунок 219"/>
          <p:cNvPicPr/>
          <p:nvPr/>
        </p:nvPicPr>
        <p:blipFill>
          <a:blip r:embed="rId3"/>
          <a:stretch/>
        </p:blipFill>
        <p:spPr>
          <a:xfrm>
            <a:off x="278520" y="3300882"/>
            <a:ext cx="6810120" cy="279036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TextShape 1"/>
          <p:cNvSpPr txBox="1"/>
          <p:nvPr/>
        </p:nvSpPr>
        <p:spPr>
          <a:xfrm>
            <a:off x="274320" y="441360"/>
            <a:ext cx="11551920" cy="1296000"/>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Plugins</a:t>
            </a:r>
          </a:p>
          <a:p>
            <a:r>
              <a:rPr lang="en-US" sz="2400" b="0" strike="noStrike" spc="-1" dirty="0">
                <a:solidFill>
                  <a:schemeClr val="bg1"/>
                </a:solidFill>
                <a:latin typeface="Calibri" panose="020F0502020204030204" pitchFamily="34" charset="0"/>
                <a:cs typeface="Calibri" panose="020F0502020204030204" pitchFamily="34" charset="0"/>
              </a:rPr>
              <a:t>While loaders are used to transform certain types of modules, plugins can be leveraged to perform a wider range of tasks like bundle optimization, asset management and injection of environment variables.</a:t>
            </a:r>
          </a:p>
          <a:p>
            <a:endParaRPr lang="en-US" sz="1000" b="0" strike="noStrike" spc="-1" dirty="0">
              <a:solidFill>
                <a:schemeClr val="bg1"/>
              </a:solidFill>
              <a:latin typeface="Arial"/>
            </a:endParaRPr>
          </a:p>
        </p:txBody>
      </p:sp>
      <p:sp>
        <p:nvSpPr>
          <p:cNvPr id="224" name="TextShape 2"/>
          <p:cNvSpPr txBox="1"/>
          <p:nvPr/>
        </p:nvSpPr>
        <p:spPr>
          <a:xfrm>
            <a:off x="274320" y="2168280"/>
            <a:ext cx="11247120" cy="515880"/>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In order to use a plugin, you need to require() it and add it to the plugins array. Most plugins are customizable through options. Since you can use a plugin multiple times in a configuration for different purposes, you need to create an instance of it by calling it with the new operator.</a:t>
            </a:r>
          </a:p>
        </p:txBody>
      </p:sp>
      <p:pic>
        <p:nvPicPr>
          <p:cNvPr id="225" name="Рисунок 224"/>
          <p:cNvPicPr/>
          <p:nvPr/>
        </p:nvPicPr>
        <p:blipFill>
          <a:blip r:embed="rId2"/>
          <a:stretch/>
        </p:blipFill>
        <p:spPr>
          <a:xfrm>
            <a:off x="274320" y="3818464"/>
            <a:ext cx="6791040" cy="2923920"/>
          </a:xfrm>
          <a:prstGeom prst="rect">
            <a:avLst/>
          </a:prstGeom>
          <a:ln>
            <a:noFill/>
          </a:ln>
        </p:spPr>
      </p:pic>
      <p:sp>
        <p:nvSpPr>
          <p:cNvPr id="226" name="TextShape 3"/>
          <p:cNvSpPr txBox="1"/>
          <p:nvPr/>
        </p:nvSpPr>
        <p:spPr>
          <a:xfrm>
            <a:off x="7267754" y="3677787"/>
            <a:ext cx="4098941" cy="2230644"/>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In the example above, the html-webpack-plugin generates an HTML file for your application by injecting automatically all your generated bundles.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extShape 1"/>
          <p:cNvSpPr txBox="1"/>
          <p:nvPr/>
        </p:nvSpPr>
        <p:spPr>
          <a:xfrm>
            <a:off x="640080" y="370080"/>
            <a:ext cx="10585938" cy="1525376"/>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Mode</a:t>
            </a:r>
          </a:p>
          <a:p>
            <a:r>
              <a:rPr lang="en-US" sz="2400" b="0" strike="noStrike" spc="-1" dirty="0">
                <a:solidFill>
                  <a:schemeClr val="bg1"/>
                </a:solidFill>
                <a:latin typeface="Calibri" panose="020F0502020204030204" pitchFamily="34" charset="0"/>
                <a:cs typeface="Calibri" panose="020F0502020204030204" pitchFamily="34" charset="0"/>
              </a:rPr>
              <a:t>By setting the mode parameter to either development, production or none, you can enable webpack's built-in optimizations that correspond to each environment. The default value is production.</a:t>
            </a:r>
          </a:p>
          <a:p>
            <a:endParaRPr lang="en-US" sz="1000" b="0" strike="noStrike" spc="-1" dirty="0">
              <a:solidFill>
                <a:schemeClr val="bg1"/>
              </a:solidFill>
              <a:latin typeface="Arial"/>
            </a:endParaRPr>
          </a:p>
        </p:txBody>
      </p:sp>
      <p:pic>
        <p:nvPicPr>
          <p:cNvPr id="228" name="Рисунок 227"/>
          <p:cNvPicPr/>
          <p:nvPr/>
        </p:nvPicPr>
        <p:blipFill>
          <a:blip r:embed="rId2"/>
          <a:stretch/>
        </p:blipFill>
        <p:spPr>
          <a:xfrm>
            <a:off x="790200" y="2119348"/>
            <a:ext cx="6686280" cy="799920"/>
          </a:xfrm>
          <a:prstGeom prst="rect">
            <a:avLst/>
          </a:prstGeom>
          <a:ln>
            <a:noFill/>
          </a:ln>
        </p:spPr>
      </p:pic>
      <p:sp>
        <p:nvSpPr>
          <p:cNvPr id="229" name="TextShape 2"/>
          <p:cNvSpPr txBox="1"/>
          <p:nvPr/>
        </p:nvSpPr>
        <p:spPr>
          <a:xfrm>
            <a:off x="640080" y="3149225"/>
            <a:ext cx="9873111" cy="2061886"/>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Browser Compatibility</a:t>
            </a:r>
          </a:p>
          <a:p>
            <a:r>
              <a:rPr lang="en-US" sz="2400" b="0" strike="noStrike" spc="-1" dirty="0">
                <a:solidFill>
                  <a:schemeClr val="bg1"/>
                </a:solidFill>
                <a:latin typeface="Calibri" panose="020F0502020204030204" pitchFamily="34" charset="0"/>
                <a:cs typeface="Calibri" panose="020F0502020204030204" pitchFamily="34" charset="0"/>
              </a:rPr>
              <a:t>webpack supports all browsers that are ES5-compliant (IE8 and below are not supported). </a:t>
            </a:r>
          </a:p>
          <a:p>
            <a:endParaRPr lang="en-US" sz="1000" b="0" strike="noStrike" spc="-1" dirty="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CustomShape 1"/>
          <p:cNvSpPr/>
          <p:nvPr/>
        </p:nvSpPr>
        <p:spPr>
          <a:xfrm>
            <a:off x="2300040" y="404280"/>
            <a:ext cx="7590960" cy="664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100000"/>
              </a:lnSpc>
            </a:pPr>
            <a:endParaRPr lang="en-US" sz="1800" b="0" strike="noStrike" spc="-1">
              <a:latin typeface="Arial"/>
            </a:endParaRPr>
          </a:p>
          <a:p>
            <a:pPr algn="ctr">
              <a:lnSpc>
                <a:spcPct val="100000"/>
              </a:lnSpc>
            </a:pPr>
            <a:endParaRPr lang="en-US" sz="1800" b="0" strike="noStrike" spc="-1">
              <a:latin typeface="Arial"/>
            </a:endParaRPr>
          </a:p>
        </p:txBody>
      </p:sp>
      <p:sp>
        <p:nvSpPr>
          <p:cNvPr id="231" name="TextShape 2"/>
          <p:cNvSpPr txBox="1"/>
          <p:nvPr/>
        </p:nvSpPr>
        <p:spPr>
          <a:xfrm>
            <a:off x="512100" y="179280"/>
            <a:ext cx="7284240" cy="735120"/>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Basic Setup</a:t>
            </a:r>
          </a:p>
          <a:p>
            <a:endParaRPr lang="en-US" sz="1600" b="0" strike="noStrike" spc="-1" dirty="0">
              <a:solidFill>
                <a:schemeClr val="bg1"/>
              </a:solidFill>
              <a:latin typeface="Arial"/>
            </a:endParaRPr>
          </a:p>
        </p:txBody>
      </p:sp>
      <p:sp>
        <p:nvSpPr>
          <p:cNvPr id="232" name="TextShape 3"/>
          <p:cNvSpPr txBox="1"/>
          <p:nvPr/>
        </p:nvSpPr>
        <p:spPr>
          <a:xfrm>
            <a:off x="634388" y="914400"/>
            <a:ext cx="11045512" cy="735120"/>
          </a:xfrm>
          <a:prstGeom prst="rect">
            <a:avLst/>
          </a:prstGeom>
          <a:noFill/>
          <a:ln>
            <a:noFill/>
          </a:ln>
        </p:spPr>
        <p:txBody>
          <a:bodyPr lIns="90000" tIns="45000" rIns="90000" bIns="45000">
            <a:noAutofit/>
          </a:bodyPr>
          <a:lstStyle/>
          <a:p>
            <a:r>
              <a:rPr lang="en-US" b="0" strike="noStrike" spc="-1" dirty="0">
                <a:solidFill>
                  <a:schemeClr val="bg1"/>
                </a:solidFill>
                <a:latin typeface="Calibri" panose="020F0502020204030204" pitchFamily="34" charset="0"/>
                <a:cs typeface="Calibri" panose="020F0502020204030204" pitchFamily="34" charset="0"/>
              </a:rPr>
              <a:t>First let's create a directory, initialize </a:t>
            </a:r>
            <a:r>
              <a:rPr lang="en-US" b="0" strike="noStrike" spc="-1" dirty="0" err="1">
                <a:solidFill>
                  <a:schemeClr val="bg1"/>
                </a:solidFill>
                <a:latin typeface="Calibri" panose="020F0502020204030204" pitchFamily="34" charset="0"/>
                <a:cs typeface="Calibri" panose="020F0502020204030204" pitchFamily="34" charset="0"/>
              </a:rPr>
              <a:t>npm</a:t>
            </a:r>
            <a:r>
              <a:rPr lang="en-US" b="0" strike="noStrike" spc="-1" dirty="0">
                <a:solidFill>
                  <a:schemeClr val="bg1"/>
                </a:solidFill>
                <a:latin typeface="Calibri" panose="020F0502020204030204" pitchFamily="34" charset="0"/>
                <a:cs typeface="Calibri" panose="020F0502020204030204" pitchFamily="34" charset="0"/>
              </a:rPr>
              <a:t>, install webpack locally, and install the webpack-cli (the tool used to run webpack on the command line):</a:t>
            </a:r>
          </a:p>
        </p:txBody>
      </p:sp>
      <p:pic>
        <p:nvPicPr>
          <p:cNvPr id="233" name="Рисунок 232"/>
          <p:cNvPicPr/>
          <p:nvPr/>
        </p:nvPicPr>
        <p:blipFill>
          <a:blip r:embed="rId3"/>
          <a:stretch/>
        </p:blipFill>
        <p:spPr>
          <a:xfrm>
            <a:off x="7453800" y="2207915"/>
            <a:ext cx="3314520" cy="799920"/>
          </a:xfrm>
          <a:prstGeom prst="rect">
            <a:avLst/>
          </a:prstGeom>
          <a:ln>
            <a:noFill/>
          </a:ln>
        </p:spPr>
      </p:pic>
      <p:sp>
        <p:nvSpPr>
          <p:cNvPr id="234" name="TextShape 4"/>
          <p:cNvSpPr txBox="1"/>
          <p:nvPr/>
        </p:nvSpPr>
        <p:spPr>
          <a:xfrm>
            <a:off x="634388" y="1534184"/>
            <a:ext cx="10338412" cy="553901"/>
          </a:xfrm>
          <a:prstGeom prst="rect">
            <a:avLst/>
          </a:prstGeom>
          <a:noFill/>
          <a:ln>
            <a:noFill/>
          </a:ln>
        </p:spPr>
        <p:txBody>
          <a:bodyPr lIns="90000" tIns="45000" rIns="90000" bIns="45000">
            <a:noAutofit/>
          </a:bodyPr>
          <a:lstStyle/>
          <a:p>
            <a:r>
              <a:rPr lang="en-US" b="0" strike="noStrike" spc="-1" dirty="0">
                <a:solidFill>
                  <a:schemeClr val="bg1"/>
                </a:solidFill>
                <a:latin typeface="Calibri" panose="020F0502020204030204" pitchFamily="34" charset="0"/>
                <a:cs typeface="Calibri" panose="020F0502020204030204" pitchFamily="34" charset="0"/>
              </a:rPr>
              <a:t>Now we'll create the following directory structure, files and their contents:</a:t>
            </a:r>
          </a:p>
        </p:txBody>
      </p:sp>
      <p:pic>
        <p:nvPicPr>
          <p:cNvPr id="235" name="Рисунок 234"/>
          <p:cNvPicPr/>
          <p:nvPr/>
        </p:nvPicPr>
        <p:blipFill>
          <a:blip r:embed="rId4"/>
          <a:stretch/>
        </p:blipFill>
        <p:spPr>
          <a:xfrm>
            <a:off x="7453800" y="3368439"/>
            <a:ext cx="1999800" cy="952200"/>
          </a:xfrm>
          <a:prstGeom prst="rect">
            <a:avLst/>
          </a:prstGeom>
          <a:ln>
            <a:noFill/>
          </a:ln>
        </p:spPr>
      </p:pic>
      <p:pic>
        <p:nvPicPr>
          <p:cNvPr id="236" name="Рисунок 235"/>
          <p:cNvPicPr/>
          <p:nvPr/>
        </p:nvPicPr>
        <p:blipFill>
          <a:blip r:embed="rId5"/>
          <a:stretch/>
        </p:blipFill>
        <p:spPr>
          <a:xfrm>
            <a:off x="762404" y="2088085"/>
            <a:ext cx="5931004" cy="4465108"/>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685800" y="68580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39" name="CustomShape 2"/>
          <p:cNvSpPr/>
          <p:nvPr/>
        </p:nvSpPr>
        <p:spPr>
          <a:xfrm>
            <a:off x="685800" y="2057400"/>
            <a:ext cx="10816200" cy="3424680"/>
          </a:xfrm>
          <a:prstGeom prst="rect">
            <a:avLst/>
          </a:prstGeom>
          <a:noFill/>
          <a:ln>
            <a:noFill/>
          </a:ln>
        </p:spPr>
        <p:style>
          <a:lnRef idx="0">
            <a:scrgbClr r="0" g="0" b="0"/>
          </a:lnRef>
          <a:fillRef idx="0">
            <a:scrgbClr r="0" g="0" b="0"/>
          </a:fillRef>
          <a:effectRef idx="0">
            <a:scrgbClr r="0" g="0" b="0"/>
          </a:effectRef>
          <a:fontRef idx="minor"/>
        </p:style>
      </p:sp>
      <p:sp>
        <p:nvSpPr>
          <p:cNvPr id="240" name="CustomShape 3"/>
          <p:cNvSpPr/>
          <p:nvPr/>
        </p:nvSpPr>
        <p:spPr>
          <a:xfrm>
            <a:off x="685800" y="195951"/>
            <a:ext cx="10558080" cy="66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3600" b="1" strike="noStrike" spc="-1" dirty="0">
                <a:solidFill>
                  <a:srgbClr val="FFFFFF"/>
                </a:solidFill>
                <a:latin typeface="Proxima Nova Black"/>
                <a:ea typeface="DejaVu Sans"/>
              </a:rPr>
              <a:t>Creating a Bundle</a:t>
            </a:r>
            <a:endParaRPr lang="en-US" sz="3600" b="1" strike="noStrike" spc="-1" dirty="0">
              <a:latin typeface="Arial"/>
            </a:endParaRPr>
          </a:p>
        </p:txBody>
      </p:sp>
      <p:sp>
        <p:nvSpPr>
          <p:cNvPr id="241" name="TextShape 4"/>
          <p:cNvSpPr txBox="1"/>
          <p:nvPr/>
        </p:nvSpPr>
        <p:spPr>
          <a:xfrm>
            <a:off x="685800" y="709158"/>
            <a:ext cx="10816200" cy="1116845"/>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The "source" code is the code that we'll write and edit. The "distribution" code is the minimized and optimized output of our build process that will eventually be loaded in the browser. Tweak the directory structure as follows:</a:t>
            </a:r>
          </a:p>
        </p:txBody>
      </p:sp>
      <p:pic>
        <p:nvPicPr>
          <p:cNvPr id="242" name="Рисунок 241"/>
          <p:cNvPicPr/>
          <p:nvPr/>
        </p:nvPicPr>
        <p:blipFill>
          <a:blip r:embed="rId3"/>
          <a:stretch/>
        </p:blipFill>
        <p:spPr>
          <a:xfrm>
            <a:off x="685800" y="1950660"/>
            <a:ext cx="6762240" cy="1819080"/>
          </a:xfrm>
          <a:prstGeom prst="rect">
            <a:avLst/>
          </a:prstGeom>
          <a:ln>
            <a:noFill/>
          </a:ln>
        </p:spPr>
      </p:pic>
      <p:pic>
        <p:nvPicPr>
          <p:cNvPr id="243" name="Рисунок 242"/>
          <p:cNvPicPr/>
          <p:nvPr/>
        </p:nvPicPr>
        <p:blipFill>
          <a:blip r:embed="rId4"/>
          <a:stretch/>
        </p:blipFill>
        <p:spPr>
          <a:xfrm>
            <a:off x="5251085" y="3769740"/>
            <a:ext cx="6819480" cy="292392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685800" y="68580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45" name="CustomShape 2"/>
          <p:cNvSpPr/>
          <p:nvPr/>
        </p:nvSpPr>
        <p:spPr>
          <a:xfrm>
            <a:off x="685800" y="2057400"/>
            <a:ext cx="10816200" cy="3424680"/>
          </a:xfrm>
          <a:prstGeom prst="rect">
            <a:avLst/>
          </a:prstGeom>
          <a:noFill/>
          <a:ln>
            <a:noFill/>
          </a:ln>
        </p:spPr>
        <p:style>
          <a:lnRef idx="0">
            <a:scrgbClr r="0" g="0" b="0"/>
          </a:lnRef>
          <a:fillRef idx="0">
            <a:scrgbClr r="0" g="0" b="0"/>
          </a:fillRef>
          <a:effectRef idx="0">
            <a:scrgbClr r="0" g="0" b="0"/>
          </a:effectRef>
          <a:fontRef idx="minor"/>
        </p:style>
      </p:sp>
      <p:pic>
        <p:nvPicPr>
          <p:cNvPr id="246" name="Рисунок 245"/>
          <p:cNvPicPr/>
          <p:nvPr/>
        </p:nvPicPr>
        <p:blipFill>
          <a:blip r:embed="rId3"/>
          <a:stretch/>
        </p:blipFill>
        <p:spPr>
          <a:xfrm>
            <a:off x="685800" y="811163"/>
            <a:ext cx="6714720" cy="2523600"/>
          </a:xfrm>
          <a:prstGeom prst="rect">
            <a:avLst/>
          </a:prstGeom>
          <a:ln>
            <a:noFill/>
          </a:ln>
        </p:spPr>
      </p:pic>
      <p:sp>
        <p:nvSpPr>
          <p:cNvPr id="247" name="TextShape 3"/>
          <p:cNvSpPr txBox="1"/>
          <p:nvPr/>
        </p:nvSpPr>
        <p:spPr>
          <a:xfrm>
            <a:off x="548640" y="3441822"/>
            <a:ext cx="10951440" cy="515880"/>
          </a:xfrm>
          <a:prstGeom prst="rect">
            <a:avLst/>
          </a:prstGeom>
          <a:noFill/>
          <a:ln>
            <a:noFill/>
          </a:ln>
        </p:spPr>
        <p:txBody>
          <a:bodyPr lIns="90000" tIns="45000" rIns="90000" bIns="45000">
            <a:noAutofit/>
          </a:bodyPr>
          <a:lstStyle/>
          <a:p>
            <a:r>
              <a:rPr lang="en-US" b="0" strike="noStrike" spc="-1" dirty="0">
                <a:solidFill>
                  <a:schemeClr val="bg1"/>
                </a:solidFill>
                <a:latin typeface="Calibri" panose="020F0502020204030204" pitchFamily="34" charset="0"/>
                <a:cs typeface="Calibri" panose="020F0502020204030204" pitchFamily="34" charset="0"/>
              </a:rPr>
              <a:t>By stating what dependencies a module needs, webpack can use this information to build a dependency graph. It then uses the graph to generate an optimized bundle where scripts will be executed in the correct order.</a:t>
            </a:r>
          </a:p>
        </p:txBody>
      </p:sp>
      <p:pic>
        <p:nvPicPr>
          <p:cNvPr id="249" name="Рисунок 248"/>
          <p:cNvPicPr/>
          <p:nvPr/>
        </p:nvPicPr>
        <p:blipFill>
          <a:blip r:embed="rId4"/>
          <a:stretch/>
        </p:blipFill>
        <p:spPr>
          <a:xfrm>
            <a:off x="685800" y="4263120"/>
            <a:ext cx="6581520" cy="2085480"/>
          </a:xfrm>
          <a:prstGeom prst="rect">
            <a:avLst/>
          </a:prstGeom>
          <a:ln>
            <a:noFill/>
          </a:ln>
        </p:spPr>
      </p:pic>
      <p:sp>
        <p:nvSpPr>
          <p:cNvPr id="8" name="CustomShape 3">
            <a:extLst>
              <a:ext uri="{FF2B5EF4-FFF2-40B4-BE49-F238E27FC236}">
                <a16:creationId xmlns:a16="http://schemas.microsoft.com/office/drawing/2014/main" id="{4F121F02-9B66-47CE-98FE-41CC897025C8}"/>
              </a:ext>
            </a:extLst>
          </p:cNvPr>
          <p:cNvSpPr/>
          <p:nvPr/>
        </p:nvSpPr>
        <p:spPr>
          <a:xfrm>
            <a:off x="685800" y="195951"/>
            <a:ext cx="10558080" cy="666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3600" b="1" strike="noStrike" spc="-1" dirty="0">
                <a:solidFill>
                  <a:srgbClr val="FFFFFF"/>
                </a:solidFill>
                <a:latin typeface="Proxima Nova Black"/>
                <a:ea typeface="DejaVu Sans"/>
              </a:rPr>
              <a:t>Creating a Bundle</a:t>
            </a:r>
            <a:endParaRPr lang="en-US" sz="3600" b="1" strike="noStrike" spc="-1" dirty="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685800" y="68580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51" name="TextShape 2"/>
          <p:cNvSpPr txBox="1"/>
          <p:nvPr/>
        </p:nvSpPr>
        <p:spPr>
          <a:xfrm>
            <a:off x="470880" y="273378"/>
            <a:ext cx="6309360" cy="412422"/>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Using a Configuration</a:t>
            </a:r>
          </a:p>
          <a:p>
            <a:endParaRPr lang="en-US" sz="3600" b="0" strike="noStrike" spc="-1" dirty="0">
              <a:solidFill>
                <a:schemeClr val="bg1"/>
              </a:solidFill>
              <a:latin typeface="Proxima Nova Black"/>
            </a:endParaRPr>
          </a:p>
        </p:txBody>
      </p:sp>
      <p:sp>
        <p:nvSpPr>
          <p:cNvPr id="252" name="TextShape 3"/>
          <p:cNvSpPr txBox="1"/>
          <p:nvPr/>
        </p:nvSpPr>
        <p:spPr>
          <a:xfrm>
            <a:off x="274319" y="950732"/>
            <a:ext cx="11669151" cy="1008028"/>
          </a:xfrm>
          <a:prstGeom prst="rect">
            <a:avLst/>
          </a:prstGeom>
          <a:noFill/>
          <a:ln>
            <a:noFill/>
          </a:ln>
        </p:spPr>
        <p:txBody>
          <a:bodyPr lIns="90000" tIns="45000" rIns="90000" bIns="45000">
            <a:noAutofit/>
          </a:bodyPr>
          <a:lstStyle/>
          <a:p>
            <a:r>
              <a:rPr lang="en-US" b="0" strike="noStrike" spc="-1" dirty="0">
                <a:solidFill>
                  <a:schemeClr val="bg1"/>
                </a:solidFill>
                <a:latin typeface="Calibri" panose="020F0502020204030204" pitchFamily="34" charset="0"/>
                <a:cs typeface="Calibri" panose="020F0502020204030204" pitchFamily="34" charset="0"/>
              </a:rPr>
              <a:t>As of version 4, webpack doesn't require any configuration, but most projects will need a more complex setup, which is why webpack supports a configuration file. This is much more efficient than having to manually type in a lot of commands in the terminal, so let's create one:</a:t>
            </a:r>
          </a:p>
        </p:txBody>
      </p:sp>
      <p:pic>
        <p:nvPicPr>
          <p:cNvPr id="254" name="Рисунок 253"/>
          <p:cNvPicPr/>
          <p:nvPr/>
        </p:nvPicPr>
        <p:blipFill>
          <a:blip r:embed="rId3"/>
          <a:stretch/>
        </p:blipFill>
        <p:spPr>
          <a:xfrm>
            <a:off x="411720" y="2048760"/>
            <a:ext cx="6752880" cy="2171520"/>
          </a:xfrm>
          <a:prstGeom prst="rect">
            <a:avLst/>
          </a:prstGeom>
          <a:ln>
            <a:noFill/>
          </a:ln>
        </p:spPr>
      </p:pic>
      <p:pic>
        <p:nvPicPr>
          <p:cNvPr id="255" name="Рисунок 254"/>
          <p:cNvPicPr/>
          <p:nvPr/>
        </p:nvPicPr>
        <p:blipFill>
          <a:blip r:embed="rId4"/>
          <a:stretch/>
        </p:blipFill>
        <p:spPr>
          <a:xfrm>
            <a:off x="411720" y="4454973"/>
            <a:ext cx="6552720" cy="189504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685800" y="68580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51" name="TextShape 2"/>
          <p:cNvSpPr txBox="1"/>
          <p:nvPr/>
        </p:nvSpPr>
        <p:spPr>
          <a:xfrm>
            <a:off x="470880" y="273378"/>
            <a:ext cx="6309360" cy="412422"/>
          </a:xfrm>
          <a:prstGeom prst="rect">
            <a:avLst/>
          </a:prstGeom>
          <a:noFill/>
          <a:ln>
            <a:noFill/>
          </a:ln>
        </p:spPr>
        <p:txBody>
          <a:bodyPr lIns="90000" tIns="45000" rIns="90000" bIns="45000">
            <a:noAutofit/>
          </a:bodyPr>
          <a:lstStyle/>
          <a:p>
            <a:r>
              <a:rPr lang="pl-PL" sz="3600" b="1" spc="-1" dirty="0" err="1">
                <a:solidFill>
                  <a:schemeClr val="bg1"/>
                </a:solidFill>
                <a:latin typeface="Proxima Nova Black"/>
              </a:rPr>
              <a:t>Gulp</a:t>
            </a:r>
            <a:endParaRPr lang="en-US" sz="3600" b="1" strike="noStrike" spc="-1" dirty="0">
              <a:solidFill>
                <a:schemeClr val="bg1"/>
              </a:solidFill>
              <a:latin typeface="Proxima Nova Black"/>
            </a:endParaRPr>
          </a:p>
          <a:p>
            <a:endParaRPr lang="en-US" sz="3600" b="0" strike="noStrike" spc="-1" dirty="0">
              <a:solidFill>
                <a:schemeClr val="bg1"/>
              </a:solidFill>
              <a:latin typeface="Proxima Nova Black"/>
            </a:endParaRPr>
          </a:p>
        </p:txBody>
      </p:sp>
      <p:sp>
        <p:nvSpPr>
          <p:cNvPr id="8" name="TextBox 7">
            <a:extLst>
              <a:ext uri="{FF2B5EF4-FFF2-40B4-BE49-F238E27FC236}">
                <a16:creationId xmlns:a16="http://schemas.microsoft.com/office/drawing/2014/main" id="{54A17E49-1D78-4B59-94B0-1901A3F4BD39}"/>
              </a:ext>
            </a:extLst>
          </p:cNvPr>
          <p:cNvSpPr txBox="1"/>
          <p:nvPr/>
        </p:nvSpPr>
        <p:spPr>
          <a:xfrm>
            <a:off x="685800" y="1177935"/>
            <a:ext cx="8120576" cy="2251065"/>
          </a:xfrm>
          <a:prstGeom prst="rect">
            <a:avLst/>
          </a:prstGeom>
          <a:noFill/>
        </p:spPr>
        <p:txBody>
          <a:bodyPr wrap="square">
            <a:spAutoFit/>
          </a:bodyPr>
          <a:lstStyle/>
          <a:p>
            <a:pPr algn="l">
              <a:lnSpc>
                <a:spcPct val="150000"/>
              </a:lnSpc>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Spinning up a web server</a:t>
            </a:r>
          </a:p>
          <a:p>
            <a:pPr algn="l">
              <a:lnSpc>
                <a:spcPct val="150000"/>
              </a:lnSpc>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Reloading the browser automatically whenever a file is saved</a:t>
            </a:r>
          </a:p>
          <a:p>
            <a:pPr algn="l">
              <a:lnSpc>
                <a:spcPct val="150000"/>
              </a:lnSpc>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Using preprocessors like Sass or LESS</a:t>
            </a:r>
          </a:p>
          <a:p>
            <a:pPr algn="l">
              <a:lnSpc>
                <a:spcPct val="150000"/>
              </a:lnSpc>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Optimizing assets like CSS, JavaScript, and images</a:t>
            </a:r>
          </a:p>
        </p:txBody>
      </p:sp>
    </p:spTree>
    <p:extLst>
      <p:ext uri="{BB962C8B-B14F-4D97-AF65-F5344CB8AC3E}">
        <p14:creationId xmlns:p14="http://schemas.microsoft.com/office/powerpoint/2010/main" val="2821457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CustomShape 1"/>
          <p:cNvSpPr/>
          <p:nvPr/>
        </p:nvSpPr>
        <p:spPr>
          <a:xfrm>
            <a:off x="685800" y="68580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51" name="TextShape 2"/>
          <p:cNvSpPr txBox="1"/>
          <p:nvPr/>
        </p:nvSpPr>
        <p:spPr>
          <a:xfrm>
            <a:off x="470880" y="273378"/>
            <a:ext cx="6309360" cy="412422"/>
          </a:xfrm>
          <a:prstGeom prst="rect">
            <a:avLst/>
          </a:prstGeom>
          <a:noFill/>
          <a:ln>
            <a:noFill/>
          </a:ln>
        </p:spPr>
        <p:txBody>
          <a:bodyPr lIns="90000" tIns="45000" rIns="90000" bIns="45000">
            <a:noAutofit/>
          </a:bodyPr>
          <a:lstStyle/>
          <a:p>
            <a:r>
              <a:rPr lang="pl-PL" sz="3600" b="1" spc="-1" dirty="0" err="1">
                <a:solidFill>
                  <a:schemeClr val="bg1"/>
                </a:solidFill>
                <a:latin typeface="Proxima Nova Black"/>
              </a:rPr>
              <a:t>Why</a:t>
            </a:r>
            <a:r>
              <a:rPr lang="pl-PL" sz="3600" b="1" spc="-1" dirty="0">
                <a:solidFill>
                  <a:schemeClr val="bg1"/>
                </a:solidFill>
                <a:latin typeface="Proxima Nova Black"/>
              </a:rPr>
              <a:t> </a:t>
            </a:r>
            <a:r>
              <a:rPr lang="pl-PL" sz="3600" b="1" spc="-1" dirty="0" err="1">
                <a:solidFill>
                  <a:schemeClr val="bg1"/>
                </a:solidFill>
                <a:latin typeface="Proxima Nova Black"/>
              </a:rPr>
              <a:t>Gulp</a:t>
            </a:r>
            <a:r>
              <a:rPr lang="pl-PL" sz="3600" b="1" spc="-1" dirty="0">
                <a:solidFill>
                  <a:schemeClr val="bg1"/>
                </a:solidFill>
                <a:latin typeface="Proxima Nova Black"/>
              </a:rPr>
              <a:t>?</a:t>
            </a:r>
            <a:endParaRPr lang="en-US" sz="3600" b="1" strike="noStrike" spc="-1" dirty="0">
              <a:solidFill>
                <a:schemeClr val="bg1"/>
              </a:solidFill>
              <a:latin typeface="Proxima Nova Black"/>
            </a:endParaRPr>
          </a:p>
          <a:p>
            <a:endParaRPr lang="en-US" sz="3600" b="0" strike="noStrike" spc="-1" dirty="0">
              <a:solidFill>
                <a:schemeClr val="bg1"/>
              </a:solidFill>
              <a:latin typeface="Proxima Nova Black"/>
            </a:endParaRPr>
          </a:p>
        </p:txBody>
      </p:sp>
      <p:sp>
        <p:nvSpPr>
          <p:cNvPr id="6" name="TextBox 5">
            <a:extLst>
              <a:ext uri="{FF2B5EF4-FFF2-40B4-BE49-F238E27FC236}">
                <a16:creationId xmlns:a16="http://schemas.microsoft.com/office/drawing/2014/main" id="{1D9B8496-27A8-4554-AF32-31D506A052DA}"/>
              </a:ext>
            </a:extLst>
          </p:cNvPr>
          <p:cNvSpPr txBox="1"/>
          <p:nvPr/>
        </p:nvSpPr>
        <p:spPr>
          <a:xfrm>
            <a:off x="681895" y="1179537"/>
            <a:ext cx="10816199" cy="1200329"/>
          </a:xfrm>
          <a:prstGeom prst="rect">
            <a:avLst/>
          </a:prstGeom>
          <a:noFill/>
        </p:spPr>
        <p:txBody>
          <a:bodyPr wrap="square">
            <a:spAutoFit/>
          </a:bodyPr>
          <a:lstStyle/>
          <a:p>
            <a:pPr algn="just"/>
            <a:r>
              <a:rPr lang="en-US" sz="2400" b="0" i="0" dirty="0">
                <a:solidFill>
                  <a:schemeClr val="bg1"/>
                </a:solidFill>
                <a:effectLst/>
                <a:latin typeface="Calibri" panose="020F0502020204030204" pitchFamily="34" charset="0"/>
                <a:cs typeface="Calibri" panose="020F0502020204030204" pitchFamily="34" charset="0"/>
              </a:rPr>
              <a:t>Tools like Gulp are often referred to as “build tools” because they are tools for running the tasks for building a website. The two most popular build tools out there right now are Gulp and Grunt. </a:t>
            </a:r>
            <a:endParaRPr lang="uk-UA" sz="240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848CDBF6-C06E-4F6C-95C4-CCE84E69B300}"/>
              </a:ext>
            </a:extLst>
          </p:cNvPr>
          <p:cNvSpPr txBox="1"/>
          <p:nvPr/>
        </p:nvSpPr>
        <p:spPr>
          <a:xfrm>
            <a:off x="681895" y="2766871"/>
            <a:ext cx="10994289" cy="1200329"/>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The main difference is how you configure a workflow with them. Gulp configurations tend to be much shorter and simpler when compared with Grunt. Gulp also tends to run faster.</a:t>
            </a:r>
            <a:endParaRPr lang="uk-UA" sz="24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65947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ustomShape 1"/>
          <p:cNvSpPr/>
          <p:nvPr/>
        </p:nvSpPr>
        <p:spPr>
          <a:xfrm>
            <a:off x="1616400" y="640080"/>
            <a:ext cx="10816200" cy="681480"/>
          </a:xfrm>
          <a:prstGeom prst="rect">
            <a:avLst/>
          </a:prstGeom>
          <a:noFill/>
          <a:ln>
            <a:noFill/>
          </a:ln>
        </p:spPr>
        <p:style>
          <a:lnRef idx="0">
            <a:scrgbClr r="0" g="0" b="0"/>
          </a:lnRef>
          <a:fillRef idx="0">
            <a:scrgbClr r="0" g="0" b="0"/>
          </a:fillRef>
          <a:effectRef idx="0">
            <a:scrgbClr r="0" g="0" b="0"/>
          </a:effectRef>
          <a:fontRef idx="minor"/>
        </p:style>
      </p:sp>
      <p:sp>
        <p:nvSpPr>
          <p:cNvPr id="268" name="CustomShape 2"/>
          <p:cNvSpPr/>
          <p:nvPr/>
        </p:nvSpPr>
        <p:spPr>
          <a:xfrm>
            <a:off x="274320" y="214560"/>
            <a:ext cx="11540160" cy="11988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3600" b="1" i="0" dirty="0">
                <a:solidFill>
                  <a:schemeClr val="bg1"/>
                </a:solidFill>
                <a:effectLst/>
                <a:latin typeface="Proxima Nova Black"/>
              </a:rPr>
              <a:t>Creating a Gulp Project</a:t>
            </a:r>
          </a:p>
          <a:p>
            <a:pPr>
              <a:lnSpc>
                <a:spcPct val="100000"/>
              </a:lnSpc>
            </a:pPr>
            <a:endParaRPr lang="en-US" sz="3600" b="0" strike="noStrike" spc="-1" dirty="0">
              <a:solidFill>
                <a:schemeClr val="bg1"/>
              </a:solidFill>
              <a:latin typeface="Proxima Nova Black"/>
            </a:endParaRPr>
          </a:p>
        </p:txBody>
      </p:sp>
      <p:sp>
        <p:nvSpPr>
          <p:cNvPr id="9" name="TextBox 8">
            <a:extLst>
              <a:ext uri="{FF2B5EF4-FFF2-40B4-BE49-F238E27FC236}">
                <a16:creationId xmlns:a16="http://schemas.microsoft.com/office/drawing/2014/main" id="{E62C6A63-9008-4799-B05D-E50F84BC17D1}"/>
              </a:ext>
            </a:extLst>
          </p:cNvPr>
          <p:cNvSpPr txBox="1"/>
          <p:nvPr/>
        </p:nvSpPr>
        <p:spPr>
          <a:xfrm>
            <a:off x="446810" y="2749638"/>
            <a:ext cx="6217920" cy="461665"/>
          </a:xfrm>
          <a:prstGeom prst="rect">
            <a:avLst/>
          </a:prstGeom>
          <a:noFill/>
        </p:spPr>
        <p:txBody>
          <a:bodyPr wrap="square">
            <a:spAutoFit/>
          </a:bodyPr>
          <a:lstStyle/>
          <a:p>
            <a:pPr algn="l"/>
            <a:r>
              <a:rPr lang="en-US" sz="2400" b="1" i="0" dirty="0">
                <a:solidFill>
                  <a:schemeClr val="bg1"/>
                </a:solidFill>
                <a:effectLst/>
                <a:latin typeface="Proxima Nova Black"/>
              </a:rPr>
              <a:t>Determining Folder Structure</a:t>
            </a:r>
          </a:p>
        </p:txBody>
      </p:sp>
      <p:sp>
        <p:nvSpPr>
          <p:cNvPr id="11" name="TextBox 10">
            <a:extLst>
              <a:ext uri="{FF2B5EF4-FFF2-40B4-BE49-F238E27FC236}">
                <a16:creationId xmlns:a16="http://schemas.microsoft.com/office/drawing/2014/main" id="{E9DCDDC4-202E-4015-9299-6EF0D3C6081F}"/>
              </a:ext>
            </a:extLst>
          </p:cNvPr>
          <p:cNvSpPr txBox="1"/>
          <p:nvPr/>
        </p:nvSpPr>
        <p:spPr>
          <a:xfrm>
            <a:off x="446810" y="3245044"/>
            <a:ext cx="8820443" cy="461665"/>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Gulp is flexible enough to work with any folder structure.</a:t>
            </a:r>
            <a:endParaRPr lang="uk-UA" sz="2400" dirty="0">
              <a:solidFill>
                <a:schemeClr val="bg1"/>
              </a:solidFill>
              <a:latin typeface="Calibri" panose="020F0502020204030204" pitchFamily="34" charset="0"/>
              <a:cs typeface="Calibri" panose="020F0502020204030204" pitchFamily="34" charset="0"/>
            </a:endParaRPr>
          </a:p>
        </p:txBody>
      </p:sp>
      <p:pic>
        <p:nvPicPr>
          <p:cNvPr id="5" name="Рисунок 4">
            <a:extLst>
              <a:ext uri="{FF2B5EF4-FFF2-40B4-BE49-F238E27FC236}">
                <a16:creationId xmlns:a16="http://schemas.microsoft.com/office/drawing/2014/main" id="{A868A378-ED77-459E-98CC-CABCD1AF0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810" y="944151"/>
            <a:ext cx="3467584" cy="790685"/>
          </a:xfrm>
          <a:prstGeom prst="rect">
            <a:avLst/>
          </a:prstGeom>
        </p:spPr>
      </p:pic>
      <p:pic>
        <p:nvPicPr>
          <p:cNvPr id="7" name="Рисунок 6">
            <a:extLst>
              <a:ext uri="{FF2B5EF4-FFF2-40B4-BE49-F238E27FC236}">
                <a16:creationId xmlns:a16="http://schemas.microsoft.com/office/drawing/2014/main" id="{4866C306-A2EA-4EF2-AA21-4ABBCDEAC1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504" y="2064700"/>
            <a:ext cx="2762636" cy="438211"/>
          </a:xfrm>
          <a:prstGeom prst="rect">
            <a:avLst/>
          </a:prstGeom>
        </p:spPr>
      </p:pic>
      <p:pic>
        <p:nvPicPr>
          <p:cNvPr id="10" name="Рисунок 9">
            <a:extLst>
              <a:ext uri="{FF2B5EF4-FFF2-40B4-BE49-F238E27FC236}">
                <a16:creationId xmlns:a16="http://schemas.microsoft.com/office/drawing/2014/main" id="{623F01A6-2DE3-45B1-91E0-999A7B7260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899" y="3706709"/>
            <a:ext cx="2657846" cy="3038899"/>
          </a:xfrm>
          <a:prstGeom prst="rect">
            <a:avLst/>
          </a:prstGeom>
        </p:spPr>
      </p:pic>
      <p:sp>
        <p:nvSpPr>
          <p:cNvPr id="12" name="TextBox 11">
            <a:extLst>
              <a:ext uri="{FF2B5EF4-FFF2-40B4-BE49-F238E27FC236}">
                <a16:creationId xmlns:a16="http://schemas.microsoft.com/office/drawing/2014/main" id="{098A154F-83DD-4A1F-B1FE-34013E23EBD4}"/>
              </a:ext>
            </a:extLst>
          </p:cNvPr>
          <p:cNvSpPr txBox="1"/>
          <p:nvPr/>
        </p:nvSpPr>
        <p:spPr>
          <a:xfrm>
            <a:off x="3555770" y="3968658"/>
            <a:ext cx="6611814" cy="1569660"/>
          </a:xfrm>
          <a:prstGeom prst="rect">
            <a:avLst/>
          </a:prstGeom>
          <a:noFill/>
        </p:spPr>
        <p:txBody>
          <a:bodyPr wrap="square">
            <a:spAutoFit/>
          </a:bodyPr>
          <a:lstStyle/>
          <a:p>
            <a:pPr algn="just"/>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this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structure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we’ll</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use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app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folder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development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purposes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while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dist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as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distribution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folder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used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contain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optimized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files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production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site</a:t>
            </a:r>
            <a:endParaRPr lang="uk-UA" sz="24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CustomShape 1"/>
          <p:cNvSpPr/>
          <p:nvPr/>
        </p:nvSpPr>
        <p:spPr>
          <a:xfrm>
            <a:off x="692280" y="323280"/>
            <a:ext cx="607428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pl-PL" sz="3600" b="1" spc="-1" dirty="0" err="1">
                <a:solidFill>
                  <a:srgbClr val="FFFFFF"/>
                </a:solidFill>
                <a:latin typeface="Proxima Nova Black"/>
              </a:rPr>
              <a:t>Writing</a:t>
            </a:r>
            <a:r>
              <a:rPr lang="pl-PL" sz="3600" b="1" spc="-1" dirty="0">
                <a:solidFill>
                  <a:srgbClr val="FFFFFF"/>
                </a:solidFill>
                <a:latin typeface="Proxima Nova Black"/>
              </a:rPr>
              <a:t> </a:t>
            </a:r>
            <a:r>
              <a:rPr lang="pl-PL" sz="3600" b="1" spc="-1" dirty="0" err="1">
                <a:solidFill>
                  <a:srgbClr val="FFFFFF"/>
                </a:solidFill>
                <a:latin typeface="Proxima Nova Black"/>
              </a:rPr>
              <a:t>Gulp</a:t>
            </a:r>
            <a:r>
              <a:rPr lang="pl-PL" sz="3600" b="1" spc="-1" dirty="0">
                <a:solidFill>
                  <a:srgbClr val="FFFFFF"/>
                </a:solidFill>
                <a:latin typeface="Proxima Nova Black"/>
              </a:rPr>
              <a:t> </a:t>
            </a:r>
            <a:r>
              <a:rPr lang="pl-PL" sz="3600" b="1" spc="-1" dirty="0" err="1">
                <a:solidFill>
                  <a:srgbClr val="FFFFFF"/>
                </a:solidFill>
                <a:latin typeface="Proxima Nova Black"/>
              </a:rPr>
              <a:t>Task</a:t>
            </a:r>
            <a:endParaRPr lang="en-US" sz="3600" b="0" strike="noStrike" spc="-1" dirty="0">
              <a:latin typeface="Proxima Nova Black"/>
            </a:endParaRPr>
          </a:p>
        </p:txBody>
      </p:sp>
      <p:sp>
        <p:nvSpPr>
          <p:cNvPr id="6" name="TextBox 5">
            <a:extLst>
              <a:ext uri="{FF2B5EF4-FFF2-40B4-BE49-F238E27FC236}">
                <a16:creationId xmlns:a16="http://schemas.microsoft.com/office/drawing/2014/main" id="{457C642A-1BE4-4A13-B979-B4A2D570B2D5}"/>
              </a:ext>
            </a:extLst>
          </p:cNvPr>
          <p:cNvSpPr txBox="1"/>
          <p:nvPr/>
        </p:nvSpPr>
        <p:spPr>
          <a:xfrm>
            <a:off x="692280" y="1046049"/>
            <a:ext cx="6098344" cy="461665"/>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The basic syntax of a gulp task is:</a:t>
            </a:r>
            <a:endParaRPr lang="uk-UA" sz="2400"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43F7D5D-F25C-44AC-A80B-EB7F4D17C960}"/>
              </a:ext>
            </a:extLst>
          </p:cNvPr>
          <p:cNvSpPr txBox="1"/>
          <p:nvPr/>
        </p:nvSpPr>
        <p:spPr>
          <a:xfrm>
            <a:off x="668216" y="2860571"/>
            <a:ext cx="6098344" cy="461665"/>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Here’s what a real task may look like:</a:t>
            </a:r>
            <a:endParaRPr lang="uk-UA" sz="2400"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3DC7FAE-DA11-4B79-AD06-5026208FD49A}"/>
              </a:ext>
            </a:extLst>
          </p:cNvPr>
          <p:cNvSpPr txBox="1"/>
          <p:nvPr/>
        </p:nvSpPr>
        <p:spPr>
          <a:xfrm>
            <a:off x="692279" y="5214649"/>
            <a:ext cx="9422392" cy="83099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2400" b="1"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gulp.src</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tells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task</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what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files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use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task</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while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endParaRPr kumimoji="0" lang="pl-PL"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2400" b="1"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gulp.dest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tells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where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output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files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once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task</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completed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p>
        </p:txBody>
      </p:sp>
      <p:pic>
        <p:nvPicPr>
          <p:cNvPr id="5" name="Рисунок 4">
            <a:extLst>
              <a:ext uri="{FF2B5EF4-FFF2-40B4-BE49-F238E27FC236}">
                <a16:creationId xmlns:a16="http://schemas.microsoft.com/office/drawing/2014/main" id="{7A715495-68A1-4D9E-886B-7099E5443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115" y="1696531"/>
            <a:ext cx="4124901" cy="962159"/>
          </a:xfrm>
          <a:prstGeom prst="rect">
            <a:avLst/>
          </a:prstGeom>
        </p:spPr>
      </p:pic>
      <p:pic>
        <p:nvPicPr>
          <p:cNvPr id="10" name="Рисунок 9">
            <a:extLst>
              <a:ext uri="{FF2B5EF4-FFF2-40B4-BE49-F238E27FC236}">
                <a16:creationId xmlns:a16="http://schemas.microsoft.com/office/drawing/2014/main" id="{FEEDC360-4039-4694-BCCA-DC16AEC32F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115" y="3429000"/>
            <a:ext cx="7382905" cy="14003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607EE1-88C8-4B61-AB10-B3BAB672DE6B}"/>
              </a:ext>
            </a:extLst>
          </p:cNvPr>
          <p:cNvSpPr txBox="1"/>
          <p:nvPr/>
        </p:nvSpPr>
        <p:spPr>
          <a:xfrm>
            <a:off x="643597" y="413211"/>
            <a:ext cx="6098344" cy="646331"/>
          </a:xfrm>
          <a:prstGeom prst="rect">
            <a:avLst/>
          </a:prstGeom>
          <a:noFill/>
        </p:spPr>
        <p:txBody>
          <a:bodyPr wrap="square">
            <a:spAutoFit/>
          </a:bodyPr>
          <a:lstStyle/>
          <a:p>
            <a:pPr algn="l"/>
            <a:r>
              <a:rPr lang="en-US" sz="3600" b="1" i="0" dirty="0">
                <a:solidFill>
                  <a:schemeClr val="bg1"/>
                </a:solidFill>
                <a:effectLst/>
                <a:latin typeface="Proxima Nova Black"/>
              </a:rPr>
              <a:t>Preprocessing with Gulp</a:t>
            </a:r>
          </a:p>
        </p:txBody>
      </p:sp>
      <p:sp>
        <p:nvSpPr>
          <p:cNvPr id="9" name="TextBox 8">
            <a:extLst>
              <a:ext uri="{FF2B5EF4-FFF2-40B4-BE49-F238E27FC236}">
                <a16:creationId xmlns:a16="http://schemas.microsoft.com/office/drawing/2014/main" id="{3E030E10-D6FC-40A0-A40B-DAF8E48D8D2D}"/>
              </a:ext>
            </a:extLst>
          </p:cNvPr>
          <p:cNvSpPr txBox="1"/>
          <p:nvPr/>
        </p:nvSpPr>
        <p:spPr>
          <a:xfrm>
            <a:off x="661180" y="1217247"/>
            <a:ext cx="9935309" cy="461665"/>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We can compile Sass to CSS in Gulp with the help of a plugin called gulp-sass</a:t>
            </a:r>
            <a:r>
              <a:rPr lang="en-US" b="0" i="0" dirty="0">
                <a:solidFill>
                  <a:srgbClr val="2E2F3E"/>
                </a:solidFill>
                <a:effectLst/>
                <a:latin typeface="Sentinel SSm A"/>
              </a:rPr>
              <a:t>. </a:t>
            </a:r>
            <a:endParaRPr lang="uk-UA" dirty="0"/>
          </a:p>
        </p:txBody>
      </p:sp>
      <p:pic>
        <p:nvPicPr>
          <p:cNvPr id="5" name="Рисунок 4">
            <a:extLst>
              <a:ext uri="{FF2B5EF4-FFF2-40B4-BE49-F238E27FC236}">
                <a16:creationId xmlns:a16="http://schemas.microsoft.com/office/drawing/2014/main" id="{DD3B0BD4-8A21-44B0-BAEB-8FAD2F14E1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541" y="1991821"/>
            <a:ext cx="3124636" cy="504895"/>
          </a:xfrm>
          <a:prstGeom prst="rect">
            <a:avLst/>
          </a:prstGeom>
        </p:spPr>
      </p:pic>
      <p:pic>
        <p:nvPicPr>
          <p:cNvPr id="8" name="Рисунок 7">
            <a:extLst>
              <a:ext uri="{FF2B5EF4-FFF2-40B4-BE49-F238E27FC236}">
                <a16:creationId xmlns:a16="http://schemas.microsoft.com/office/drawing/2014/main" id="{ABD48336-0F5F-4EFC-B230-B288AECFD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541" y="2809625"/>
            <a:ext cx="3000794" cy="533474"/>
          </a:xfrm>
          <a:prstGeom prst="rect">
            <a:avLst/>
          </a:prstGeom>
        </p:spPr>
      </p:pic>
      <p:pic>
        <p:nvPicPr>
          <p:cNvPr id="11" name="Рисунок 10">
            <a:extLst>
              <a:ext uri="{FF2B5EF4-FFF2-40B4-BE49-F238E27FC236}">
                <a16:creationId xmlns:a16="http://schemas.microsoft.com/office/drawing/2014/main" id="{94C42FF6-ED38-42EC-AF69-12F895FE41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541" y="3853932"/>
            <a:ext cx="5096586" cy="151468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CustomShape 1"/>
          <p:cNvSpPr/>
          <p:nvPr/>
        </p:nvSpPr>
        <p:spPr>
          <a:xfrm>
            <a:off x="478440" y="223560"/>
            <a:ext cx="9045388" cy="119887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r>
              <a:rPr lang="en-US" sz="3600" b="1" i="0" dirty="0">
                <a:solidFill>
                  <a:schemeClr val="bg1"/>
                </a:solidFill>
                <a:effectLst/>
                <a:latin typeface="Proxima Nova Black"/>
              </a:rPr>
              <a:t>Watching Sass files for changes</a:t>
            </a:r>
          </a:p>
          <a:p>
            <a:pPr>
              <a:lnSpc>
                <a:spcPct val="100000"/>
              </a:lnSpc>
            </a:pPr>
            <a:endParaRPr lang="en-US" sz="3600" b="0" strike="noStrike" spc="-1" dirty="0">
              <a:solidFill>
                <a:schemeClr val="bg1"/>
              </a:solidFill>
              <a:latin typeface="Proxima Nova Black"/>
            </a:endParaRPr>
          </a:p>
        </p:txBody>
      </p:sp>
      <p:sp>
        <p:nvSpPr>
          <p:cNvPr id="5" name="TextBox 4">
            <a:extLst>
              <a:ext uri="{FF2B5EF4-FFF2-40B4-BE49-F238E27FC236}">
                <a16:creationId xmlns:a16="http://schemas.microsoft.com/office/drawing/2014/main" id="{7146E298-F03A-4C75-A820-A15F0E6A7265}"/>
              </a:ext>
            </a:extLst>
          </p:cNvPr>
          <p:cNvSpPr txBox="1"/>
          <p:nvPr/>
        </p:nvSpPr>
        <p:spPr>
          <a:xfrm>
            <a:off x="478440" y="1099269"/>
            <a:ext cx="11235120" cy="830997"/>
          </a:xfrm>
          <a:prstGeom prst="rect">
            <a:avLst/>
          </a:prstGeom>
          <a:noFill/>
        </p:spPr>
        <p:txBody>
          <a:bodyPr wrap="square">
            <a:spAutoFit/>
          </a:bodyPr>
          <a:lstStyle/>
          <a:p>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provides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with</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watch</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method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that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checks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see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if</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file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was</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saved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syntax</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for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watch</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method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is</a:t>
            </a:r>
            <a:endParaRPr lang="uk-UA" sz="2400" dirty="0">
              <a:solidFill>
                <a:schemeClr val="bg1"/>
              </a:solidFill>
              <a:latin typeface="Calibri" panose="020F0502020204030204" pitchFamily="34" charset="0"/>
              <a:cs typeface="Calibri" panose="020F0502020204030204" pitchFamily="34" charset="0"/>
            </a:endParaRPr>
          </a:p>
        </p:txBody>
      </p:sp>
      <p:pic>
        <p:nvPicPr>
          <p:cNvPr id="4" name="Рисунок 3">
            <a:extLst>
              <a:ext uri="{FF2B5EF4-FFF2-40B4-BE49-F238E27FC236}">
                <a16:creationId xmlns:a16="http://schemas.microsoft.com/office/drawing/2014/main" id="{C902766A-D16E-4B65-B29F-E32F6B49EE13}"/>
              </a:ext>
            </a:extLst>
          </p:cNvPr>
          <p:cNvPicPr>
            <a:picLocks noChangeAspect="1"/>
          </p:cNvPicPr>
          <p:nvPr/>
        </p:nvPicPr>
        <p:blipFill>
          <a:blip r:embed="rId2"/>
          <a:stretch>
            <a:fillRect/>
          </a:stretch>
        </p:blipFill>
        <p:spPr>
          <a:xfrm>
            <a:off x="478440" y="2063025"/>
            <a:ext cx="7858125" cy="1485900"/>
          </a:xfrm>
          <a:prstGeom prst="rect">
            <a:avLst/>
          </a:prstGeom>
        </p:spPr>
      </p:pic>
      <p:pic>
        <p:nvPicPr>
          <p:cNvPr id="9" name="Рисунок 8">
            <a:extLst>
              <a:ext uri="{FF2B5EF4-FFF2-40B4-BE49-F238E27FC236}">
                <a16:creationId xmlns:a16="http://schemas.microsoft.com/office/drawing/2014/main" id="{5C9C0A9A-F911-4247-8A38-B39CE6DA8E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746" y="4334545"/>
            <a:ext cx="4172532" cy="11336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3F0E3-F64E-4795-BCF5-5117EF070E04}"/>
              </a:ext>
            </a:extLst>
          </p:cNvPr>
          <p:cNvSpPr txBox="1"/>
          <p:nvPr/>
        </p:nvSpPr>
        <p:spPr>
          <a:xfrm>
            <a:off x="713935" y="356940"/>
            <a:ext cx="8303456" cy="646331"/>
          </a:xfrm>
          <a:prstGeom prst="rect">
            <a:avLst/>
          </a:prstGeom>
          <a:noFill/>
        </p:spPr>
        <p:txBody>
          <a:bodyPr wrap="square">
            <a:spAutoFit/>
          </a:bodyPr>
          <a:lstStyle/>
          <a:p>
            <a:pPr algn="l"/>
            <a:r>
              <a:rPr lang="en-US" sz="3600" b="1" i="0" dirty="0">
                <a:solidFill>
                  <a:schemeClr val="bg1"/>
                </a:solidFill>
                <a:effectLst/>
                <a:latin typeface="Proxima Nova Black"/>
              </a:rPr>
              <a:t>Live-reloading with Browser Sync</a:t>
            </a:r>
          </a:p>
        </p:txBody>
      </p:sp>
      <p:sp>
        <p:nvSpPr>
          <p:cNvPr id="7" name="TextBox 6">
            <a:extLst>
              <a:ext uri="{FF2B5EF4-FFF2-40B4-BE49-F238E27FC236}">
                <a16:creationId xmlns:a16="http://schemas.microsoft.com/office/drawing/2014/main" id="{43D4E1F8-143D-4623-A195-EFF3D3D11620}"/>
              </a:ext>
            </a:extLst>
          </p:cNvPr>
          <p:cNvSpPr txBox="1"/>
          <p:nvPr/>
        </p:nvSpPr>
        <p:spPr>
          <a:xfrm>
            <a:off x="488852" y="1104705"/>
            <a:ext cx="11313942" cy="830997"/>
          </a:xfrm>
          <a:prstGeom prst="rect">
            <a:avLst/>
          </a:prstGeom>
          <a:noFill/>
        </p:spPr>
        <p:txBody>
          <a:bodyPr wrap="square">
            <a:spAutoFit/>
          </a:bodyPr>
          <a:lstStyle/>
          <a:p>
            <a:r>
              <a:rPr lang="en-US" sz="2400" b="0" i="0" dirty="0">
                <a:solidFill>
                  <a:schemeClr val="bg1"/>
                </a:solidFill>
                <a:effectLst/>
                <a:latin typeface="Calibri" panose="020F0502020204030204" pitchFamily="34" charset="0"/>
                <a:cs typeface="Calibri" panose="020F0502020204030204" pitchFamily="34" charset="0"/>
              </a:rPr>
              <a:t>Browser Sync helps make web development easier by spinning up a web server that helps us do live-reloading easily</a:t>
            </a:r>
            <a:endParaRPr lang="uk-UA" sz="2400"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7001FDC0-17FA-4116-86EC-DD9A6F99D911}"/>
              </a:ext>
            </a:extLst>
          </p:cNvPr>
          <p:cNvSpPr txBox="1"/>
          <p:nvPr/>
        </p:nvSpPr>
        <p:spPr>
          <a:xfrm>
            <a:off x="621909" y="3185857"/>
            <a:ext cx="10948182"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need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create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browserSync</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task</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enable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Gulp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spin</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up</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server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using</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Browser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Sync</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Since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we’re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running</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server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need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to</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let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Browser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Sync</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know</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where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root</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of</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the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server</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should</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r>
              <a:rPr kumimoji="0" lang="uk-UA" altLang="uk-UA" sz="2400" b="0" i="0" u="none" strike="noStrike" cap="none" normalizeH="0" baseline="0" dirty="0" err="1">
                <a:ln>
                  <a:noFill/>
                </a:ln>
                <a:solidFill>
                  <a:schemeClr val="bg1"/>
                </a:solidFill>
                <a:effectLst/>
                <a:latin typeface="Calibri" panose="020F0502020204030204" pitchFamily="34" charset="0"/>
                <a:cs typeface="Calibri" panose="020F0502020204030204" pitchFamily="34" charset="0"/>
              </a:rPr>
              <a:t>be</a:t>
            </a:r>
            <a:r>
              <a:rPr kumimoji="0" lang="uk-UA" altLang="uk-UA" sz="24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a:t>
            </a:r>
          </a:p>
        </p:txBody>
      </p:sp>
      <p:pic>
        <p:nvPicPr>
          <p:cNvPr id="8" name="Рисунок 7">
            <a:extLst>
              <a:ext uri="{FF2B5EF4-FFF2-40B4-BE49-F238E27FC236}">
                <a16:creationId xmlns:a16="http://schemas.microsoft.com/office/drawing/2014/main" id="{DBF739A6-24FA-48FF-A1C9-F242F781C5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935" y="1935702"/>
            <a:ext cx="3458058" cy="419158"/>
          </a:xfrm>
          <a:prstGeom prst="rect">
            <a:avLst/>
          </a:prstGeom>
        </p:spPr>
      </p:pic>
      <p:pic>
        <p:nvPicPr>
          <p:cNvPr id="10" name="Рисунок 9">
            <a:extLst>
              <a:ext uri="{FF2B5EF4-FFF2-40B4-BE49-F238E27FC236}">
                <a16:creationId xmlns:a16="http://schemas.microsoft.com/office/drawing/2014/main" id="{464A0690-E3BA-4297-8F4A-218A3DE162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935" y="2449108"/>
            <a:ext cx="4505954" cy="562053"/>
          </a:xfrm>
          <a:prstGeom prst="rect">
            <a:avLst/>
          </a:prstGeom>
        </p:spPr>
      </p:pic>
      <p:pic>
        <p:nvPicPr>
          <p:cNvPr id="12" name="Рисунок 11">
            <a:extLst>
              <a:ext uri="{FF2B5EF4-FFF2-40B4-BE49-F238E27FC236}">
                <a16:creationId xmlns:a16="http://schemas.microsoft.com/office/drawing/2014/main" id="{EFD440CB-647A-4FC3-84CF-FBDF3BFF91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935" y="4446079"/>
            <a:ext cx="3629532" cy="199100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2ACC71-22FD-433B-89B4-E2296B537316}"/>
              </a:ext>
            </a:extLst>
          </p:cNvPr>
          <p:cNvSpPr txBox="1"/>
          <p:nvPr/>
        </p:nvSpPr>
        <p:spPr>
          <a:xfrm>
            <a:off x="713935" y="356940"/>
            <a:ext cx="8303456" cy="1200329"/>
          </a:xfrm>
          <a:prstGeom prst="rect">
            <a:avLst/>
          </a:prstGeom>
          <a:noFill/>
        </p:spPr>
        <p:txBody>
          <a:bodyPr wrap="square">
            <a:spAutoFit/>
          </a:bodyPr>
          <a:lstStyle/>
          <a:p>
            <a:r>
              <a:rPr lang="en-US" sz="3600" b="1" i="0" dirty="0">
                <a:solidFill>
                  <a:schemeClr val="bg1"/>
                </a:solidFill>
                <a:effectLst/>
                <a:latin typeface="Ringside Regular A"/>
              </a:rPr>
              <a:t>Optimizing CSS and JavaScript files</a:t>
            </a:r>
          </a:p>
          <a:p>
            <a:pPr algn="l"/>
            <a:endParaRPr lang="en-US" sz="3600" b="1" i="0" dirty="0">
              <a:solidFill>
                <a:schemeClr val="bg1"/>
              </a:solidFill>
              <a:effectLst/>
              <a:latin typeface="Proxima Nova Black"/>
            </a:endParaRPr>
          </a:p>
        </p:txBody>
      </p:sp>
      <p:sp>
        <p:nvSpPr>
          <p:cNvPr id="6" name="TextBox 5">
            <a:extLst>
              <a:ext uri="{FF2B5EF4-FFF2-40B4-BE49-F238E27FC236}">
                <a16:creationId xmlns:a16="http://schemas.microsoft.com/office/drawing/2014/main" id="{E9D0734A-57EE-43E2-9F41-4D915BC834F7}"/>
              </a:ext>
            </a:extLst>
          </p:cNvPr>
          <p:cNvSpPr txBox="1"/>
          <p:nvPr/>
        </p:nvSpPr>
        <p:spPr>
          <a:xfrm>
            <a:off x="713934" y="1095604"/>
            <a:ext cx="10343271" cy="707886"/>
          </a:xfrm>
          <a:prstGeom prst="rect">
            <a:avLst/>
          </a:prstGeom>
          <a:noFill/>
        </p:spPr>
        <p:txBody>
          <a:bodyPr wrap="square">
            <a:spAutoFit/>
          </a:bodyPr>
          <a:lstStyle/>
          <a:p>
            <a:r>
              <a:rPr lang="en-US" sz="2000" b="0" i="0" dirty="0">
                <a:solidFill>
                  <a:schemeClr val="bg1"/>
                </a:solidFill>
                <a:effectLst/>
                <a:latin typeface="Calibri" panose="020F0502020204030204" pitchFamily="34" charset="0"/>
                <a:cs typeface="Calibri" panose="020F0502020204030204" pitchFamily="34" charset="0"/>
              </a:rPr>
              <a:t>Developers have two tasks to perform when we try to optimize CSS and JavaScript files for production: minification and concatenation.</a:t>
            </a:r>
            <a:endParaRPr lang="uk-UA" sz="2000" dirty="0">
              <a:solidFill>
                <a:schemeClr val="bg1"/>
              </a:solidFill>
              <a:latin typeface="Calibri" panose="020F0502020204030204" pitchFamily="34" charset="0"/>
              <a:cs typeface="Calibri" panose="020F0502020204030204" pitchFamily="34" charset="0"/>
            </a:endParaRPr>
          </a:p>
        </p:txBody>
      </p:sp>
      <p:pic>
        <p:nvPicPr>
          <p:cNvPr id="5" name="Рисунок 4">
            <a:extLst>
              <a:ext uri="{FF2B5EF4-FFF2-40B4-BE49-F238E27FC236}">
                <a16:creationId xmlns:a16="http://schemas.microsoft.com/office/drawing/2014/main" id="{A3F853ED-199A-4A89-B3F7-05A69179E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758" y="1803490"/>
            <a:ext cx="4953691" cy="1752845"/>
          </a:xfrm>
          <a:prstGeom prst="rect">
            <a:avLst/>
          </a:prstGeom>
        </p:spPr>
      </p:pic>
      <p:sp>
        <p:nvSpPr>
          <p:cNvPr id="10" name="TextBox 9">
            <a:extLst>
              <a:ext uri="{FF2B5EF4-FFF2-40B4-BE49-F238E27FC236}">
                <a16:creationId xmlns:a16="http://schemas.microsoft.com/office/drawing/2014/main" id="{956C0583-B956-4195-9716-E25FFAE8342A}"/>
              </a:ext>
            </a:extLst>
          </p:cNvPr>
          <p:cNvSpPr txBox="1"/>
          <p:nvPr/>
        </p:nvSpPr>
        <p:spPr>
          <a:xfrm>
            <a:off x="713934" y="3667203"/>
            <a:ext cx="10709032" cy="707886"/>
          </a:xfrm>
          <a:prstGeom prst="rect">
            <a:avLst/>
          </a:prstGeom>
          <a:noFill/>
        </p:spPr>
        <p:txBody>
          <a:bodyPr wrap="square">
            <a:spAutoFit/>
          </a:bodyPr>
          <a:lstStyle/>
          <a:p>
            <a:r>
              <a:rPr lang="en-US" sz="2000" b="0" i="0" dirty="0">
                <a:solidFill>
                  <a:schemeClr val="bg1"/>
                </a:solidFill>
                <a:effectLst/>
                <a:latin typeface="Calibri" panose="020F0502020204030204" pitchFamily="34" charset="0"/>
                <a:cs typeface="Calibri" panose="020F0502020204030204" pitchFamily="34" charset="0"/>
              </a:rPr>
              <a:t>Gulp-</a:t>
            </a:r>
            <a:r>
              <a:rPr lang="en-US" sz="2000" b="0" i="0" dirty="0" err="1">
                <a:solidFill>
                  <a:schemeClr val="bg1"/>
                </a:solidFill>
                <a:effectLst/>
                <a:latin typeface="Calibri" panose="020F0502020204030204" pitchFamily="34" charset="0"/>
                <a:cs typeface="Calibri" panose="020F0502020204030204" pitchFamily="34" charset="0"/>
              </a:rPr>
              <a:t>useref</a:t>
            </a:r>
            <a:r>
              <a:rPr lang="en-US" sz="2000" b="0" i="0" dirty="0">
                <a:solidFill>
                  <a:schemeClr val="bg1"/>
                </a:solidFill>
                <a:effectLst/>
                <a:latin typeface="Calibri" panose="020F0502020204030204" pitchFamily="34" charset="0"/>
                <a:cs typeface="Calibri" panose="020F0502020204030204" pitchFamily="34" charset="0"/>
              </a:rPr>
              <a:t> concatenates any number of CSS and JavaScript files into a single file by looking for a comment that starts with “&lt;!–build:” and ends with “&lt;!–</a:t>
            </a:r>
            <a:r>
              <a:rPr lang="en-US" sz="2000" b="0" i="0" dirty="0" err="1">
                <a:solidFill>
                  <a:schemeClr val="bg1"/>
                </a:solidFill>
                <a:effectLst/>
                <a:latin typeface="Calibri" panose="020F0502020204030204" pitchFamily="34" charset="0"/>
                <a:cs typeface="Calibri" panose="020F0502020204030204" pitchFamily="34" charset="0"/>
              </a:rPr>
              <a:t>endbuild</a:t>
            </a:r>
            <a:r>
              <a:rPr lang="en-US" sz="2000" b="0" i="0" dirty="0">
                <a:solidFill>
                  <a:schemeClr val="bg1"/>
                </a:solidFill>
                <a:effectLst/>
                <a:latin typeface="Calibri" panose="020F0502020204030204" pitchFamily="34" charset="0"/>
                <a:cs typeface="Calibri" panose="020F0502020204030204" pitchFamily="34" charset="0"/>
              </a:rPr>
              <a:t>–&gt;”. Its syntax is:</a:t>
            </a:r>
            <a:endParaRPr lang="uk-UA" sz="2000" dirty="0">
              <a:solidFill>
                <a:schemeClr val="bg1"/>
              </a:solidFill>
              <a:latin typeface="Calibri" panose="020F0502020204030204" pitchFamily="34" charset="0"/>
              <a:cs typeface="Calibri" panose="020F0502020204030204" pitchFamily="34" charset="0"/>
            </a:endParaRPr>
          </a:p>
        </p:txBody>
      </p:sp>
      <p:pic>
        <p:nvPicPr>
          <p:cNvPr id="9" name="Рисунок 8">
            <a:extLst>
              <a:ext uri="{FF2B5EF4-FFF2-40B4-BE49-F238E27FC236}">
                <a16:creationId xmlns:a16="http://schemas.microsoft.com/office/drawing/2014/main" id="{B7F2B852-44A3-419F-A47A-D74DCC8D3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758" y="4729389"/>
            <a:ext cx="4353533" cy="138131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A856309-28D7-440B-B4B8-2BB2004FD80C}"/>
              </a:ext>
            </a:extLst>
          </p:cNvPr>
          <p:cNvSpPr txBox="1"/>
          <p:nvPr/>
        </p:nvSpPr>
        <p:spPr>
          <a:xfrm>
            <a:off x="713935" y="356940"/>
            <a:ext cx="8303456" cy="1200329"/>
          </a:xfrm>
          <a:prstGeom prst="rect">
            <a:avLst/>
          </a:prstGeom>
          <a:noFill/>
        </p:spPr>
        <p:txBody>
          <a:bodyPr wrap="square">
            <a:spAutoFit/>
          </a:bodyPr>
          <a:lstStyle/>
          <a:p>
            <a:r>
              <a:rPr lang="en-US" sz="3600" b="1" i="0" dirty="0">
                <a:solidFill>
                  <a:schemeClr val="bg1"/>
                </a:solidFill>
                <a:effectLst/>
                <a:latin typeface="Ringside Regular A"/>
              </a:rPr>
              <a:t>Optimizing CSS and JavaScript files</a:t>
            </a:r>
          </a:p>
          <a:p>
            <a:pPr algn="l"/>
            <a:endParaRPr lang="en-US" sz="3600" b="1" i="0" dirty="0">
              <a:solidFill>
                <a:schemeClr val="bg1"/>
              </a:solidFill>
              <a:effectLst/>
              <a:latin typeface="Proxima Nova Black"/>
            </a:endParaRPr>
          </a:p>
        </p:txBody>
      </p:sp>
      <p:pic>
        <p:nvPicPr>
          <p:cNvPr id="6" name="Рисунок 5">
            <a:extLst>
              <a:ext uri="{FF2B5EF4-FFF2-40B4-BE49-F238E27FC236}">
                <a16:creationId xmlns:a16="http://schemas.microsoft.com/office/drawing/2014/main" id="{4CF4C236-8654-476E-927A-94CBCA0DA0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265" y="2239696"/>
            <a:ext cx="4163006" cy="3134162"/>
          </a:xfrm>
          <a:prstGeom prst="rect">
            <a:avLst/>
          </a:prstGeom>
        </p:spPr>
      </p:pic>
      <p:sp>
        <p:nvSpPr>
          <p:cNvPr id="8" name="TextBox 7">
            <a:extLst>
              <a:ext uri="{FF2B5EF4-FFF2-40B4-BE49-F238E27FC236}">
                <a16:creationId xmlns:a16="http://schemas.microsoft.com/office/drawing/2014/main" id="{03ECC642-9ACB-4502-BC52-BD127992A2DD}"/>
              </a:ext>
            </a:extLst>
          </p:cNvPr>
          <p:cNvSpPr txBox="1"/>
          <p:nvPr/>
        </p:nvSpPr>
        <p:spPr>
          <a:xfrm>
            <a:off x="713934" y="1224033"/>
            <a:ext cx="10891911" cy="1015663"/>
          </a:xfrm>
          <a:prstGeom prst="rect">
            <a:avLst/>
          </a:prstGeom>
          <a:noFill/>
        </p:spPr>
        <p:txBody>
          <a:bodyPr wrap="square">
            <a:spAutoFit/>
          </a:bodyPr>
          <a:lstStyle/>
          <a:p>
            <a:r>
              <a:rPr lang="en-US" sz="2000" b="0" i="0" dirty="0">
                <a:solidFill>
                  <a:schemeClr val="bg1"/>
                </a:solidFill>
                <a:effectLst/>
                <a:latin typeface="Calibri" panose="020F0502020204030204" pitchFamily="34" charset="0"/>
                <a:cs typeface="Calibri" panose="020F0502020204030204" pitchFamily="34" charset="0"/>
              </a:rPr>
              <a:t>The file however, isn’t minified right now. We’ll have to use the </a:t>
            </a:r>
            <a:r>
              <a:rPr lang="en-US" sz="2000" b="0" i="0" dirty="0">
                <a:solidFill>
                  <a:schemeClr val="bg1"/>
                </a:solidFill>
                <a:effectLst/>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gulp-</a:t>
            </a:r>
            <a:r>
              <a:rPr lang="en-US" sz="2000" b="0" i="0" dirty="0" err="1">
                <a:solidFill>
                  <a:schemeClr val="bg1"/>
                </a:solidFill>
                <a:effectLst/>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uglify</a:t>
            </a:r>
            <a:r>
              <a:rPr lang="en-US" sz="2000" b="0" i="0" dirty="0">
                <a:solidFill>
                  <a:schemeClr val="bg1"/>
                </a:solidFill>
                <a:effectLst/>
                <a:latin typeface="Calibri" panose="020F0502020204030204" pitchFamily="34" charset="0"/>
                <a:cs typeface="Calibri" panose="020F0502020204030204" pitchFamily="34" charset="0"/>
              </a:rPr>
              <a:t> plugin to help with minifying JavaScript files. We also need a second plugin called </a:t>
            </a:r>
            <a:r>
              <a:rPr lang="en-US" sz="2000" b="0" i="0" dirty="0">
                <a:solidFill>
                  <a:schemeClr val="bg1"/>
                </a:solidFill>
                <a:effectLst/>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rPr>
              <a:t>gulp-if</a:t>
            </a:r>
            <a:r>
              <a:rPr lang="en-US" sz="2000" b="0" i="0" dirty="0">
                <a:solidFill>
                  <a:schemeClr val="bg1"/>
                </a:solidFill>
                <a:effectLst/>
                <a:latin typeface="Calibri" panose="020F0502020204030204" pitchFamily="34" charset="0"/>
                <a:cs typeface="Calibri" panose="020F0502020204030204" pitchFamily="34" charset="0"/>
              </a:rPr>
              <a:t> to ensure that we only attempt to minify JavaScript files.</a:t>
            </a:r>
            <a:endParaRPr lang="uk-UA" sz="20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4138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 name="pasted-image.png"/>
          <p:cNvPicPr/>
          <p:nvPr/>
        </p:nvPicPr>
        <p:blipFill>
          <a:blip r:embed="rId2"/>
          <a:stretch/>
        </p:blipFill>
        <p:spPr>
          <a:xfrm>
            <a:off x="0" y="0"/>
            <a:ext cx="12187800" cy="6853680"/>
          </a:xfrm>
          <a:prstGeom prst="rect">
            <a:avLst/>
          </a:prstGeom>
          <a:ln w="1260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1845</TotalTime>
  <Words>1455</Words>
  <Application>Microsoft Office PowerPoint</Application>
  <PresentationFormat>Широкоэкранный</PresentationFormat>
  <Paragraphs>81</Paragraphs>
  <Slides>21</Slides>
  <Notes>8</Notes>
  <HiddenSlides>0</HiddenSlides>
  <MMClips>0</MMClips>
  <ScaleCrop>false</ScaleCrop>
  <HeadingPairs>
    <vt:vector size="6" baseType="variant">
      <vt:variant>
        <vt:lpstr>Использованные шрифты</vt:lpstr>
      </vt:variant>
      <vt:variant>
        <vt:i4>9</vt:i4>
      </vt:variant>
      <vt:variant>
        <vt:lpstr>Тема</vt:lpstr>
      </vt:variant>
      <vt:variant>
        <vt:i4>5</vt:i4>
      </vt:variant>
      <vt:variant>
        <vt:lpstr>Заголовки слайдов</vt:lpstr>
      </vt:variant>
      <vt:variant>
        <vt:i4>21</vt:i4>
      </vt:variant>
    </vt:vector>
  </HeadingPairs>
  <TitlesOfParts>
    <vt:vector size="35" baseType="lpstr">
      <vt:lpstr>Arial</vt:lpstr>
      <vt:lpstr>Calibri</vt:lpstr>
      <vt:lpstr>Open Sans Regular</vt:lpstr>
      <vt:lpstr>Proxima Nova Black</vt:lpstr>
      <vt:lpstr>Ringside Regular A</vt:lpstr>
      <vt:lpstr>Sentinel SSm A</vt:lpstr>
      <vt:lpstr>Symbol</vt:lpstr>
      <vt:lpstr>Times New Roman</vt:lpstr>
      <vt:lpstr>Wingdings</vt:lpstr>
      <vt:lpstr>Office Theme</vt:lpstr>
      <vt:lpstr>Office Theme</vt:lpstr>
      <vt:lpstr>Office Theme</vt:lpstr>
      <vt:lpstr>Office Theme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Verint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subject/>
  <dc:creator>Strutynska, Viktoriya</dc:creator>
  <dc:description/>
  <cp:lastModifiedBy>Volodymyr Hrytsiv</cp:lastModifiedBy>
  <cp:revision>61</cp:revision>
  <dcterms:created xsi:type="dcterms:W3CDTF">2018-11-02T13:55:27Z</dcterms:created>
  <dcterms:modified xsi:type="dcterms:W3CDTF">2020-06-12T06:52:13Z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false</vt:bool>
  </property>
  <property fmtid="{D5CDD505-2E9C-101B-9397-08002B2CF9AE}" pid="7" name="LinksUpToDate">
    <vt:bool>false</vt:bool>
  </property>
  <property fmtid="{D5CDD505-2E9C-101B-9397-08002B2CF9AE}" pid="8" name="MMClips">
    <vt:i4>0</vt:i4>
  </property>
  <property fmtid="{D5CDD505-2E9C-101B-9397-08002B2CF9AE}" pid="9" name="Notes">
    <vt:i4>6</vt:i4>
  </property>
  <property fmtid="{D5CDD505-2E9C-101B-9397-08002B2CF9AE}" pid="10" name="PresentationFormat">
    <vt:lpwstr>Широкоэкранный</vt:lpwstr>
  </property>
  <property fmtid="{D5CDD505-2E9C-101B-9397-08002B2CF9AE}" pid="11" name="ScaleCrop">
    <vt:bool>false</vt:bool>
  </property>
  <property fmtid="{D5CDD505-2E9C-101B-9397-08002B2CF9AE}" pid="12" name="ShareDoc">
    <vt:bool>false</vt:bool>
  </property>
  <property fmtid="{D5CDD505-2E9C-101B-9397-08002B2CF9AE}" pid="13" name="Slides">
    <vt:i4>21</vt:i4>
  </property>
</Properties>
</file>