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856" r:id="rId7"/>
  </p:sldMasterIdLst>
  <p:notesMasterIdLst>
    <p:notesMasterId r:id="rId22"/>
  </p:notesMasterIdLst>
  <p:sldIdLst>
    <p:sldId id="256" r:id="rId8"/>
    <p:sldId id="280" r:id="rId9"/>
    <p:sldId id="257" r:id="rId10"/>
    <p:sldId id="258" r:id="rId11"/>
    <p:sldId id="259" r:id="rId12"/>
    <p:sldId id="260" r:id="rId13"/>
    <p:sldId id="261" r:id="rId14"/>
    <p:sldId id="262" r:id="rId15"/>
    <p:sldId id="263" r:id="rId16"/>
    <p:sldId id="264" r:id="rId17"/>
    <p:sldId id="265" r:id="rId18"/>
    <p:sldId id="266" r:id="rId19"/>
    <p:sldId id="267" r:id="rId20"/>
    <p:sldId id="279" r:id="rId21"/>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7"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678"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Arial"/>
              </a:rPr>
              <a:t>Click to edit the notes format</a:t>
            </a:r>
          </a:p>
        </p:txBody>
      </p:sp>
      <p:sp>
        <p:nvSpPr>
          <p:cNvPr id="679"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&lt;header&gt;</a:t>
            </a:r>
          </a:p>
        </p:txBody>
      </p:sp>
      <p:sp>
        <p:nvSpPr>
          <p:cNvPr id="680"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&lt;date/time&gt;</a:t>
            </a:r>
          </a:p>
        </p:txBody>
      </p:sp>
      <p:sp>
        <p:nvSpPr>
          <p:cNvPr id="681"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&lt;footer&gt;</a:t>
            </a:r>
          </a:p>
        </p:txBody>
      </p:sp>
      <p:sp>
        <p:nvSpPr>
          <p:cNvPr id="682"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6E72FCF4-48E7-4A0A-A35B-900C47D2DC6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400" cy="3086100"/>
          </a:xfrm>
          <a:prstGeom prst="rect">
            <a:avLst/>
          </a:prstGeom>
        </p:spPr>
      </p:sp>
      <p:sp>
        <p:nvSpPr>
          <p:cNvPr id="790"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n-US" sz="2000" b="0" strike="noStrike" spc="-1">
              <a:latin typeface="Arial"/>
            </a:endParaRPr>
          </a:p>
        </p:txBody>
      </p:sp>
      <p:sp>
        <p:nvSpPr>
          <p:cNvPr id="791" name="CustomShape 3"/>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0D90593D-8887-4229-8AB1-8DC516320B11}" type="slidenum">
              <a:rPr lang="en-GB" sz="1200" b="0" strike="noStrike" spc="-1">
                <a:latin typeface="+mn-lt"/>
              </a:rPr>
              <a:t>1</a:t>
            </a:fld>
            <a:endParaRPr lang="en-US"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9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9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9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0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0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1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1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1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1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1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2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2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2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2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3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3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3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4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4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5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5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5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6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8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9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9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9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9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0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0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0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1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21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1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1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2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2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2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2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23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3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23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23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23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23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23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4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42"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4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44"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4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4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4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4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49"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5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5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5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65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5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5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57"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5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1"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63"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64"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6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669"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71"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672"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673"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674"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675"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676"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w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w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 name="Picture 8"/>
          <p:cNvPicPr/>
          <p:nvPr/>
        </p:nvPicPr>
        <p:blipFill>
          <a:blip r:embed="rId14"/>
          <a:stretch/>
        </p:blipFill>
        <p:spPr>
          <a:xfrm>
            <a:off x="9959040" y="5906880"/>
            <a:ext cx="1546200" cy="264600"/>
          </a:xfrm>
          <a:prstGeom prst="rect">
            <a:avLst/>
          </a:prstGeom>
          <a:ln>
            <a:noFill/>
          </a:ln>
        </p:spPr>
      </p:pic>
      <p:pic>
        <p:nvPicPr>
          <p:cNvPr id="5" name="Picture 7"/>
          <p:cNvPicPr/>
          <p:nvPr/>
        </p:nvPicPr>
        <p:blipFill>
          <a:blip r:embed="rId14"/>
          <a:stretch/>
        </p:blipFill>
        <p:spPr>
          <a:xfrm>
            <a:off x="9959040" y="5906880"/>
            <a:ext cx="1546200" cy="26460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0" name="Picture 8"/>
          <p:cNvPicPr/>
          <p:nvPr/>
        </p:nvPicPr>
        <p:blipFill>
          <a:blip r:embed="rId14"/>
          <a:stretch/>
        </p:blipFill>
        <p:spPr>
          <a:xfrm>
            <a:off x="9959040" y="5906880"/>
            <a:ext cx="1546200" cy="264600"/>
          </a:xfrm>
          <a:prstGeom prst="rect">
            <a:avLst/>
          </a:prstGeom>
          <a:ln>
            <a:noFill/>
          </a:ln>
        </p:spPr>
      </p:pic>
      <p:sp>
        <p:nvSpPr>
          <p:cNvPr id="41" name="CustomShape 1"/>
          <p:cNvSpPr/>
          <p:nvPr/>
        </p:nvSpPr>
        <p:spPr>
          <a:xfrm>
            <a:off x="0" y="1744920"/>
            <a:ext cx="12191400" cy="51123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sp>
      <p:pic>
        <p:nvPicPr>
          <p:cNvPr id="42" name="Picture 7"/>
          <p:cNvPicPr/>
          <p:nvPr/>
        </p:nvPicPr>
        <p:blipFill>
          <a:blip r:embed="rId15"/>
          <a:stretch/>
        </p:blipFill>
        <p:spPr>
          <a:xfrm>
            <a:off x="9961920" y="5906880"/>
            <a:ext cx="1541160" cy="264600"/>
          </a:xfrm>
          <a:prstGeom prst="rect">
            <a:avLst/>
          </a:prstGeom>
          <a:ln>
            <a:noFill/>
          </a:ln>
        </p:spPr>
      </p:pic>
      <p:sp>
        <p:nvSpPr>
          <p:cNvPr id="43"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4"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81" name="Picture 8"/>
          <p:cNvPicPr/>
          <p:nvPr/>
        </p:nvPicPr>
        <p:blipFill>
          <a:blip r:embed="rId14"/>
          <a:stretch/>
        </p:blipFill>
        <p:spPr>
          <a:xfrm>
            <a:off x="9959040" y="5906880"/>
            <a:ext cx="1546200" cy="264600"/>
          </a:xfrm>
          <a:prstGeom prst="rect">
            <a:avLst/>
          </a:prstGeom>
          <a:ln>
            <a:noFill/>
          </a:ln>
        </p:spPr>
      </p:pic>
      <p:sp>
        <p:nvSpPr>
          <p:cNvPr id="82" name="CustomShape 1"/>
          <p:cNvSpPr/>
          <p:nvPr/>
        </p:nvSpPr>
        <p:spPr>
          <a:xfrm>
            <a:off x="0" y="1744920"/>
            <a:ext cx="12191400" cy="51123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sp>
      <p:pic>
        <p:nvPicPr>
          <p:cNvPr id="83" name="Picture 7"/>
          <p:cNvPicPr/>
          <p:nvPr/>
        </p:nvPicPr>
        <p:blipFill>
          <a:blip r:embed="rId15"/>
          <a:stretch/>
        </p:blipFill>
        <p:spPr>
          <a:xfrm>
            <a:off x="9961920" y="5906880"/>
            <a:ext cx="1541160" cy="264600"/>
          </a:xfrm>
          <a:prstGeom prst="rect">
            <a:avLst/>
          </a:prstGeom>
          <a:ln>
            <a:noFill/>
          </a:ln>
        </p:spPr>
      </p:pic>
      <p:sp>
        <p:nvSpPr>
          <p:cNvPr id="84"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85"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122" name="Picture 8"/>
          <p:cNvPicPr/>
          <p:nvPr/>
        </p:nvPicPr>
        <p:blipFill>
          <a:blip r:embed="rId14"/>
          <a:stretch/>
        </p:blipFill>
        <p:spPr>
          <a:xfrm>
            <a:off x="9959040" y="5906880"/>
            <a:ext cx="1546200" cy="264600"/>
          </a:xfrm>
          <a:prstGeom prst="rect">
            <a:avLst/>
          </a:prstGeom>
          <a:ln>
            <a:noFill/>
          </a:ln>
        </p:spPr>
      </p:pic>
      <p:sp>
        <p:nvSpPr>
          <p:cNvPr id="1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24"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161" name="Picture 8"/>
          <p:cNvPicPr/>
          <p:nvPr/>
        </p:nvPicPr>
        <p:blipFill>
          <a:blip r:embed="rId14"/>
          <a:stretch/>
        </p:blipFill>
        <p:spPr>
          <a:xfrm>
            <a:off x="9959040" y="5906880"/>
            <a:ext cx="1546200" cy="264600"/>
          </a:xfrm>
          <a:prstGeom prst="rect">
            <a:avLst/>
          </a:prstGeom>
          <a:ln>
            <a:noFill/>
          </a:ln>
        </p:spPr>
      </p:pic>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6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200" name="Picture 8"/>
          <p:cNvPicPr/>
          <p:nvPr/>
        </p:nvPicPr>
        <p:blipFill>
          <a:blip r:embed="rId14"/>
          <a:stretch/>
        </p:blipFill>
        <p:spPr>
          <a:xfrm>
            <a:off x="9959040" y="5906880"/>
            <a:ext cx="1546200" cy="264600"/>
          </a:xfrm>
          <a:prstGeom prst="rect">
            <a:avLst/>
          </a:prstGeom>
          <a:ln>
            <a:noFill/>
          </a:ln>
        </p:spPr>
      </p:pic>
      <p:sp>
        <p:nvSpPr>
          <p:cNvPr id="20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202"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637" name="Picture 8"/>
          <p:cNvPicPr/>
          <p:nvPr/>
        </p:nvPicPr>
        <p:blipFill>
          <a:blip r:embed="rId14"/>
          <a:stretch/>
        </p:blipFill>
        <p:spPr>
          <a:xfrm>
            <a:off x="9959040" y="5906880"/>
            <a:ext cx="1546200" cy="264600"/>
          </a:xfrm>
          <a:prstGeom prst="rect">
            <a:avLst/>
          </a:prstGeom>
          <a:ln>
            <a:noFill/>
          </a:ln>
        </p:spPr>
      </p:pic>
      <p:sp>
        <p:nvSpPr>
          <p:cNvPr id="638" name="CustomShape 1"/>
          <p:cNvSpPr/>
          <p:nvPr/>
        </p:nvSpPr>
        <p:spPr>
          <a:xfrm>
            <a:off x="9487080" y="236880"/>
            <a:ext cx="2120760" cy="25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en-US" sz="1100" b="0" strike="noStrike" spc="-1">
                <a:solidFill>
                  <a:srgbClr val="000000"/>
                </a:solidFill>
                <a:latin typeface="Open Sans Regular"/>
                <a:ea typeface="Open Sans Regular"/>
              </a:rPr>
              <a:t>SoftServe Confidential</a:t>
            </a:r>
            <a:endParaRPr lang="en-US" sz="1100" b="0" strike="noStrike" spc="-1">
              <a:latin typeface="Arial"/>
            </a:endParaRPr>
          </a:p>
        </p:txBody>
      </p:sp>
      <p:sp>
        <p:nvSpPr>
          <p:cNvPr id="639"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640"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9.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9.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9.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9.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9.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9.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9.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 name="CustomShape 1"/>
          <p:cNvSpPr/>
          <p:nvPr/>
        </p:nvSpPr>
        <p:spPr>
          <a:xfrm>
            <a:off x="685800" y="5915160"/>
            <a:ext cx="3466440" cy="294480"/>
          </a:xfrm>
          <a:prstGeom prst="rect">
            <a:avLst/>
          </a:prstGeom>
          <a:noFill/>
          <a:ln>
            <a:noFill/>
          </a:ln>
        </p:spPr>
        <p:style>
          <a:lnRef idx="0">
            <a:scrgbClr r="0" g="0" b="0"/>
          </a:lnRef>
          <a:fillRef idx="0">
            <a:scrgbClr r="0" g="0" b="0"/>
          </a:fillRef>
          <a:effectRef idx="0">
            <a:scrgbClr r="0" g="0" b="0"/>
          </a:effectRef>
          <a:fontRef idx="minor"/>
        </p:style>
      </p:sp>
      <p:sp>
        <p:nvSpPr>
          <p:cNvPr id="684" name="CustomShape 2"/>
          <p:cNvSpPr/>
          <p:nvPr/>
        </p:nvSpPr>
        <p:spPr>
          <a:xfrm>
            <a:off x="199523" y="329705"/>
            <a:ext cx="12390120" cy="668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n-US" sz="6600" dirty="0">
                <a:solidFill>
                  <a:schemeClr val="bg1"/>
                </a:solidFill>
              </a:rPr>
              <a:t>Proxy component, Style component. Higher-order component, State hoisting, Controlled input</a:t>
            </a:r>
            <a:endParaRPr lang="en-US" sz="6600" b="0" strike="noStrike" spc="-1" dirty="0">
              <a:solidFill>
                <a:schemeClr val="bg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CustomShape 1"/>
          <p:cNvSpPr/>
          <p:nvPr/>
        </p:nvSpPr>
        <p:spPr>
          <a:xfrm>
            <a:off x="68580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6" name="CustomShape 2"/>
          <p:cNvSpPr/>
          <p:nvPr/>
        </p:nvSpPr>
        <p:spPr>
          <a:xfrm>
            <a:off x="289548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7" name="CustomShape 3"/>
          <p:cNvSpPr/>
          <p:nvPr/>
        </p:nvSpPr>
        <p:spPr>
          <a:xfrm>
            <a:off x="510552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8" name="CustomShape 4"/>
          <p:cNvSpPr/>
          <p:nvPr/>
        </p:nvSpPr>
        <p:spPr>
          <a:xfrm>
            <a:off x="731520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9" name="CustomShape 5"/>
          <p:cNvSpPr/>
          <p:nvPr/>
        </p:nvSpPr>
        <p:spPr>
          <a:xfrm>
            <a:off x="952488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90" name="CustomShape 6"/>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691" name="TextShape 7"/>
          <p:cNvSpPr txBox="1"/>
          <p:nvPr/>
        </p:nvSpPr>
        <p:spPr>
          <a:xfrm>
            <a:off x="2651760" y="457200"/>
            <a:ext cx="7055640" cy="743040"/>
          </a:xfrm>
          <a:prstGeom prst="rect">
            <a:avLst/>
          </a:prstGeom>
          <a:noFill/>
          <a:ln>
            <a:noFill/>
          </a:ln>
        </p:spPr>
        <p:txBody>
          <a:bodyPr lIns="90000" tIns="45000" rIns="90000" bIns="45000">
            <a:noAutofit/>
          </a:bodyPr>
          <a:lstStyle/>
          <a:p>
            <a:r>
              <a:rPr lang="en-US" sz="4400" b="0" strike="noStrike" spc="-1">
                <a:solidFill>
                  <a:srgbClr val="FFFFFF"/>
                </a:solidFill>
                <a:latin typeface="Proxima Nova Black"/>
              </a:rPr>
              <a:t>Higher-order component</a:t>
            </a:r>
            <a:endParaRPr lang="en-US" sz="4400" b="0" strike="noStrike" spc="-1">
              <a:latin typeface="Arial"/>
            </a:endParaRPr>
          </a:p>
        </p:txBody>
      </p:sp>
      <p:sp>
        <p:nvSpPr>
          <p:cNvPr id="2" name="TextBox 1">
            <a:extLst>
              <a:ext uri="{FF2B5EF4-FFF2-40B4-BE49-F238E27FC236}">
                <a16:creationId xmlns:a16="http://schemas.microsoft.com/office/drawing/2014/main" id="{3E2D52BF-0986-4588-A929-CDD5C6E2AECE}"/>
              </a:ext>
            </a:extLst>
          </p:cNvPr>
          <p:cNvSpPr txBox="1"/>
          <p:nvPr/>
        </p:nvSpPr>
        <p:spPr>
          <a:xfrm>
            <a:off x="1519311" y="1744394"/>
            <a:ext cx="8299938" cy="1406769"/>
          </a:xfrm>
          <a:prstGeom prst="rect">
            <a:avLst/>
          </a:prstGeom>
          <a:noFill/>
        </p:spPr>
        <p:txBody>
          <a:bodyPr wrap="square" rtlCol="0">
            <a:spAutoFit/>
          </a:bodyPr>
          <a:lstStyle/>
          <a:p>
            <a:endParaRPr lang="uk-UA" dirty="0"/>
          </a:p>
        </p:txBody>
      </p:sp>
      <p:sp>
        <p:nvSpPr>
          <p:cNvPr id="3" name="TextBox 2">
            <a:extLst>
              <a:ext uri="{FF2B5EF4-FFF2-40B4-BE49-F238E27FC236}">
                <a16:creationId xmlns:a16="http://schemas.microsoft.com/office/drawing/2014/main" id="{D09FCE6A-E87B-4DBA-8F1C-FF61FBE38415}"/>
              </a:ext>
            </a:extLst>
          </p:cNvPr>
          <p:cNvSpPr txBox="1"/>
          <p:nvPr/>
        </p:nvSpPr>
        <p:spPr>
          <a:xfrm>
            <a:off x="1199617" y="1599480"/>
            <a:ext cx="995992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bg1"/>
                </a:solidFill>
              </a:rPr>
              <a:t>Concretely, </a:t>
            </a:r>
            <a:r>
              <a:rPr lang="en-US" sz="2400" b="1" dirty="0">
                <a:solidFill>
                  <a:schemeClr val="bg1"/>
                </a:solidFill>
              </a:rPr>
              <a:t>a higher-order component is a function that takes a component and returns a new component.</a:t>
            </a:r>
          </a:p>
          <a:p>
            <a:pPr marL="285750" indent="-285750">
              <a:buFont typeface="Arial" panose="020B0604020202020204" pitchFamily="34" charset="0"/>
              <a:buChar char="•"/>
            </a:pPr>
            <a:endParaRPr lang="en-US" sz="2400" b="1" dirty="0">
              <a:solidFill>
                <a:schemeClr val="bg1"/>
              </a:solidFill>
            </a:endParaRPr>
          </a:p>
          <a:p>
            <a:pPr marL="285750" indent="-285750">
              <a:buFont typeface="Arial" panose="020B0604020202020204" pitchFamily="34" charset="0"/>
              <a:buChar char="•"/>
            </a:pPr>
            <a:r>
              <a:rPr lang="en-US" sz="2400" dirty="0">
                <a:solidFill>
                  <a:schemeClr val="bg1"/>
                </a:solidFill>
              </a:rPr>
              <a:t>Whereas a component transforms props into UI, a higher-order component transforms a component into another component.</a:t>
            </a:r>
          </a:p>
          <a:p>
            <a:pPr marL="285750" indent="-285750">
              <a:buFont typeface="Arial" panose="020B0604020202020204" pitchFamily="34" charset="0"/>
              <a:buChar char="•"/>
            </a:pPr>
            <a:endParaRPr lang="en-US" sz="2400" dirty="0">
              <a:solidFill>
                <a:schemeClr val="bg1"/>
              </a:solidFill>
            </a:endParaRPr>
          </a:p>
          <a:p>
            <a:pPr marL="285750" indent="-285750">
              <a:buFont typeface="Arial" panose="020B0604020202020204" pitchFamily="34" charset="0"/>
              <a:buChar char="•"/>
            </a:pPr>
            <a:r>
              <a:rPr lang="en-US" sz="2400" dirty="0">
                <a:solidFill>
                  <a:schemeClr val="bg1"/>
                </a:solidFill>
              </a:rPr>
              <a:t>Higher-order-component helps us to share common functionality between components.</a:t>
            </a:r>
            <a:endParaRPr lang="uk-UA" sz="2400" dirty="0">
              <a:solidFill>
                <a:schemeClr val="bg1"/>
              </a:solidFill>
            </a:endParaRPr>
          </a:p>
        </p:txBody>
      </p:sp>
    </p:spTree>
    <p:extLst>
      <p:ext uri="{BB962C8B-B14F-4D97-AF65-F5344CB8AC3E}">
        <p14:creationId xmlns:p14="http://schemas.microsoft.com/office/powerpoint/2010/main" val="3367006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CustomShape 1"/>
          <p:cNvSpPr/>
          <p:nvPr/>
        </p:nvSpPr>
        <p:spPr>
          <a:xfrm>
            <a:off x="68580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6" name="CustomShape 2"/>
          <p:cNvSpPr/>
          <p:nvPr/>
        </p:nvSpPr>
        <p:spPr>
          <a:xfrm>
            <a:off x="289548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7" name="CustomShape 3"/>
          <p:cNvSpPr/>
          <p:nvPr/>
        </p:nvSpPr>
        <p:spPr>
          <a:xfrm>
            <a:off x="510552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8" name="CustomShape 4"/>
          <p:cNvSpPr/>
          <p:nvPr/>
        </p:nvSpPr>
        <p:spPr>
          <a:xfrm>
            <a:off x="731520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89" name="CustomShape 5"/>
          <p:cNvSpPr/>
          <p:nvPr/>
        </p:nvSpPr>
        <p:spPr>
          <a:xfrm>
            <a:off x="9524880" y="2057400"/>
            <a:ext cx="1980360" cy="685080"/>
          </a:xfrm>
          <a:prstGeom prst="rect">
            <a:avLst/>
          </a:prstGeom>
          <a:noFill/>
          <a:ln>
            <a:noFill/>
          </a:ln>
        </p:spPr>
        <p:style>
          <a:lnRef idx="0">
            <a:scrgbClr r="0" g="0" b="0"/>
          </a:lnRef>
          <a:fillRef idx="0">
            <a:scrgbClr r="0" g="0" b="0"/>
          </a:fillRef>
          <a:effectRef idx="0">
            <a:scrgbClr r="0" g="0" b="0"/>
          </a:effectRef>
          <a:fontRef idx="minor"/>
        </p:style>
      </p:sp>
      <p:sp>
        <p:nvSpPr>
          <p:cNvPr id="690" name="CustomShape 6"/>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691" name="TextShape 7"/>
          <p:cNvSpPr txBox="1"/>
          <p:nvPr/>
        </p:nvSpPr>
        <p:spPr>
          <a:xfrm>
            <a:off x="2651760" y="457200"/>
            <a:ext cx="7055640" cy="743040"/>
          </a:xfrm>
          <a:prstGeom prst="rect">
            <a:avLst/>
          </a:prstGeom>
          <a:noFill/>
          <a:ln>
            <a:noFill/>
          </a:ln>
        </p:spPr>
        <p:txBody>
          <a:bodyPr lIns="90000" tIns="45000" rIns="90000" bIns="45000">
            <a:noAutofit/>
          </a:bodyPr>
          <a:lstStyle/>
          <a:p>
            <a:r>
              <a:rPr lang="en-US" sz="4400" b="0" strike="noStrike" spc="-1">
                <a:solidFill>
                  <a:srgbClr val="FFFFFF"/>
                </a:solidFill>
                <a:latin typeface="Proxima Nova Black"/>
              </a:rPr>
              <a:t>Higher-order component</a:t>
            </a:r>
            <a:endParaRPr lang="en-US" sz="4400" b="0" strike="noStrike" spc="-1">
              <a:latin typeface="Arial"/>
            </a:endParaRPr>
          </a:p>
        </p:txBody>
      </p:sp>
      <p:pic>
        <p:nvPicPr>
          <p:cNvPr id="692" name="Рисунок 691"/>
          <p:cNvPicPr/>
          <p:nvPr/>
        </p:nvPicPr>
        <p:blipFill>
          <a:blip r:embed="rId2"/>
          <a:stretch/>
        </p:blipFill>
        <p:spPr>
          <a:xfrm>
            <a:off x="515160" y="2103120"/>
            <a:ext cx="2685240" cy="1847160"/>
          </a:xfrm>
          <a:prstGeom prst="rect">
            <a:avLst/>
          </a:prstGeom>
          <a:ln>
            <a:noFill/>
          </a:ln>
        </p:spPr>
      </p:pic>
      <p:pic>
        <p:nvPicPr>
          <p:cNvPr id="693" name="Рисунок 692"/>
          <p:cNvPicPr/>
          <p:nvPr/>
        </p:nvPicPr>
        <p:blipFill>
          <a:blip r:embed="rId3"/>
          <a:stretch/>
        </p:blipFill>
        <p:spPr>
          <a:xfrm>
            <a:off x="3566160" y="2057400"/>
            <a:ext cx="4947840" cy="2697120"/>
          </a:xfrm>
          <a:prstGeom prst="rect">
            <a:avLst/>
          </a:prstGeom>
          <a:ln>
            <a:noFill/>
          </a:ln>
        </p:spPr>
      </p:pic>
      <p:pic>
        <p:nvPicPr>
          <p:cNvPr id="694" name="Рисунок 693"/>
          <p:cNvPicPr/>
          <p:nvPr/>
        </p:nvPicPr>
        <p:blipFill>
          <a:blip r:embed="rId4"/>
          <a:stretch/>
        </p:blipFill>
        <p:spPr>
          <a:xfrm>
            <a:off x="9156240" y="2057400"/>
            <a:ext cx="1085040" cy="32328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696" name="CustomShape 2"/>
          <p:cNvSpPr/>
          <p:nvPr/>
        </p:nvSpPr>
        <p:spPr>
          <a:xfrm>
            <a:off x="68580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697" name="TextShape 3"/>
          <p:cNvSpPr txBox="1"/>
          <p:nvPr/>
        </p:nvSpPr>
        <p:spPr>
          <a:xfrm>
            <a:off x="2651760" y="627840"/>
            <a:ext cx="7055640" cy="743040"/>
          </a:xfrm>
          <a:prstGeom prst="rect">
            <a:avLst/>
          </a:prstGeom>
          <a:noFill/>
          <a:ln>
            <a:noFill/>
          </a:ln>
        </p:spPr>
        <p:txBody>
          <a:bodyPr lIns="90000" tIns="45000" rIns="90000" bIns="45000">
            <a:noAutofit/>
          </a:bodyPr>
          <a:lstStyle/>
          <a:p>
            <a:r>
              <a:rPr lang="en-US" sz="4400" b="0" strike="noStrike" spc="-1">
                <a:solidFill>
                  <a:srgbClr val="FFFFFF"/>
                </a:solidFill>
                <a:latin typeface="Proxima Nova Black"/>
              </a:rPr>
              <a:t>Higher-order component</a:t>
            </a:r>
            <a:endParaRPr lang="en-US" sz="4400" b="0" strike="noStrike" spc="-1">
              <a:latin typeface="Arial"/>
            </a:endParaRPr>
          </a:p>
        </p:txBody>
      </p:sp>
      <p:pic>
        <p:nvPicPr>
          <p:cNvPr id="698" name="Рисунок 697"/>
          <p:cNvPicPr/>
          <p:nvPr/>
        </p:nvPicPr>
        <p:blipFill>
          <a:blip r:embed="rId2"/>
          <a:stretch/>
        </p:blipFill>
        <p:spPr>
          <a:xfrm>
            <a:off x="762840" y="2194560"/>
            <a:ext cx="2894760" cy="2028240"/>
          </a:xfrm>
          <a:prstGeom prst="rect">
            <a:avLst/>
          </a:prstGeom>
          <a:ln>
            <a:noFill/>
          </a:ln>
        </p:spPr>
      </p:pic>
      <p:pic>
        <p:nvPicPr>
          <p:cNvPr id="699" name="Рисунок 698"/>
          <p:cNvPicPr/>
          <p:nvPr/>
        </p:nvPicPr>
        <p:blipFill>
          <a:blip r:embed="rId3"/>
          <a:stretch/>
        </p:blipFill>
        <p:spPr>
          <a:xfrm>
            <a:off x="3920760" y="2194560"/>
            <a:ext cx="4491720" cy="3138840"/>
          </a:xfrm>
          <a:prstGeom prst="rect">
            <a:avLst/>
          </a:prstGeom>
          <a:ln>
            <a:noFill/>
          </a:ln>
        </p:spPr>
      </p:pic>
      <p:pic>
        <p:nvPicPr>
          <p:cNvPr id="700" name="Рисунок 699"/>
          <p:cNvPicPr/>
          <p:nvPr/>
        </p:nvPicPr>
        <p:blipFill>
          <a:blip r:embed="rId4"/>
          <a:stretch/>
        </p:blipFill>
        <p:spPr>
          <a:xfrm>
            <a:off x="8773200" y="2227680"/>
            <a:ext cx="1742400" cy="33264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02" name="CustomShape 2"/>
          <p:cNvSpPr/>
          <p:nvPr/>
        </p:nvSpPr>
        <p:spPr>
          <a:xfrm>
            <a:off x="68580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03" name="TextShape 3"/>
          <p:cNvSpPr txBox="1"/>
          <p:nvPr/>
        </p:nvSpPr>
        <p:spPr>
          <a:xfrm>
            <a:off x="2651760" y="627840"/>
            <a:ext cx="7055640" cy="743040"/>
          </a:xfrm>
          <a:prstGeom prst="rect">
            <a:avLst/>
          </a:prstGeom>
          <a:noFill/>
          <a:ln>
            <a:noFill/>
          </a:ln>
        </p:spPr>
        <p:txBody>
          <a:bodyPr lIns="90000" tIns="45000" rIns="90000" bIns="45000">
            <a:noAutofit/>
          </a:bodyPr>
          <a:lstStyle/>
          <a:p>
            <a:r>
              <a:rPr lang="en-US" sz="4400" b="0" strike="noStrike" spc="-1">
                <a:solidFill>
                  <a:srgbClr val="FFFFFF"/>
                </a:solidFill>
                <a:latin typeface="Proxima Nova Black"/>
              </a:rPr>
              <a:t>Higher-order component</a:t>
            </a:r>
            <a:endParaRPr lang="en-US" sz="4400" b="0" strike="noStrike" spc="-1">
              <a:latin typeface="Arial"/>
            </a:endParaRPr>
          </a:p>
        </p:txBody>
      </p:sp>
      <p:pic>
        <p:nvPicPr>
          <p:cNvPr id="704" name="Рисунок 703"/>
          <p:cNvPicPr/>
          <p:nvPr/>
        </p:nvPicPr>
        <p:blipFill>
          <a:blip r:embed="rId2"/>
          <a:stretch/>
        </p:blipFill>
        <p:spPr>
          <a:xfrm>
            <a:off x="370440" y="2194560"/>
            <a:ext cx="5847480" cy="1923480"/>
          </a:xfrm>
          <a:prstGeom prst="rect">
            <a:avLst/>
          </a:prstGeom>
          <a:ln>
            <a:noFill/>
          </a:ln>
        </p:spPr>
      </p:pic>
      <p:pic>
        <p:nvPicPr>
          <p:cNvPr id="705" name="Рисунок 704"/>
          <p:cNvPicPr/>
          <p:nvPr/>
        </p:nvPicPr>
        <p:blipFill>
          <a:blip r:embed="rId3"/>
          <a:stretch/>
        </p:blipFill>
        <p:spPr>
          <a:xfrm>
            <a:off x="6443280" y="2168640"/>
            <a:ext cx="5352480" cy="295200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07" name="CustomShape 2"/>
          <p:cNvSpPr/>
          <p:nvPr/>
        </p:nvSpPr>
        <p:spPr>
          <a:xfrm>
            <a:off x="68580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08" name="TextShape 3"/>
          <p:cNvSpPr txBox="1"/>
          <p:nvPr/>
        </p:nvSpPr>
        <p:spPr>
          <a:xfrm>
            <a:off x="2651760" y="627840"/>
            <a:ext cx="7055640" cy="743040"/>
          </a:xfrm>
          <a:prstGeom prst="rect">
            <a:avLst/>
          </a:prstGeom>
          <a:noFill/>
          <a:ln>
            <a:noFill/>
          </a:ln>
        </p:spPr>
        <p:txBody>
          <a:bodyPr lIns="90000" tIns="45000" rIns="90000" bIns="45000">
            <a:noAutofit/>
          </a:bodyPr>
          <a:lstStyle/>
          <a:p>
            <a:r>
              <a:rPr lang="en-US" sz="4400" b="0" strike="noStrike" spc="-1">
                <a:solidFill>
                  <a:srgbClr val="FFFFFF"/>
                </a:solidFill>
                <a:latin typeface="Proxima Nova Black"/>
              </a:rPr>
              <a:t>Higher-order component</a:t>
            </a:r>
            <a:endParaRPr lang="en-US" sz="4400" b="0" strike="noStrike" spc="-1">
              <a:latin typeface="Arial"/>
            </a:endParaRPr>
          </a:p>
        </p:txBody>
      </p:sp>
      <p:pic>
        <p:nvPicPr>
          <p:cNvPr id="709" name="Рисунок 708"/>
          <p:cNvPicPr/>
          <p:nvPr/>
        </p:nvPicPr>
        <p:blipFill>
          <a:blip r:embed="rId2"/>
          <a:stretch/>
        </p:blipFill>
        <p:spPr>
          <a:xfrm>
            <a:off x="478800" y="1745640"/>
            <a:ext cx="5190480" cy="266040"/>
          </a:xfrm>
          <a:prstGeom prst="rect">
            <a:avLst/>
          </a:prstGeom>
          <a:ln>
            <a:noFill/>
          </a:ln>
        </p:spPr>
      </p:pic>
      <p:pic>
        <p:nvPicPr>
          <p:cNvPr id="710" name="Рисунок 709"/>
          <p:cNvPicPr/>
          <p:nvPr/>
        </p:nvPicPr>
        <p:blipFill>
          <a:blip r:embed="rId3"/>
          <a:stretch/>
        </p:blipFill>
        <p:spPr>
          <a:xfrm>
            <a:off x="7224120" y="1667520"/>
            <a:ext cx="4618800" cy="4733280"/>
          </a:xfrm>
          <a:prstGeom prst="rect">
            <a:avLst/>
          </a:prstGeom>
          <a:ln>
            <a:noFill/>
          </a:ln>
        </p:spPr>
      </p:pic>
      <p:pic>
        <p:nvPicPr>
          <p:cNvPr id="711" name="Рисунок 710"/>
          <p:cNvPicPr/>
          <p:nvPr/>
        </p:nvPicPr>
        <p:blipFill>
          <a:blip r:embed="rId4"/>
          <a:stretch/>
        </p:blipFill>
        <p:spPr>
          <a:xfrm>
            <a:off x="549000" y="2469240"/>
            <a:ext cx="6123960" cy="1332720"/>
          </a:xfrm>
          <a:prstGeom prst="rect">
            <a:avLst/>
          </a:prstGeom>
          <a:ln>
            <a:noFill/>
          </a:ln>
        </p:spPr>
      </p:pic>
      <p:pic>
        <p:nvPicPr>
          <p:cNvPr id="712" name="Рисунок 711"/>
          <p:cNvPicPr/>
          <p:nvPr/>
        </p:nvPicPr>
        <p:blipFill>
          <a:blip r:embed="rId5"/>
          <a:stretch/>
        </p:blipFill>
        <p:spPr>
          <a:xfrm>
            <a:off x="524520" y="4208760"/>
            <a:ext cx="5876280" cy="200916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14" name="CustomShape 2"/>
          <p:cNvSpPr/>
          <p:nvPr/>
        </p:nvSpPr>
        <p:spPr>
          <a:xfrm>
            <a:off x="68580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15" name="TextShape 3"/>
          <p:cNvSpPr txBox="1"/>
          <p:nvPr/>
        </p:nvSpPr>
        <p:spPr>
          <a:xfrm>
            <a:off x="2651760" y="627840"/>
            <a:ext cx="7055640" cy="743040"/>
          </a:xfrm>
          <a:prstGeom prst="rect">
            <a:avLst/>
          </a:prstGeom>
          <a:noFill/>
          <a:ln>
            <a:noFill/>
          </a:ln>
        </p:spPr>
        <p:txBody>
          <a:bodyPr lIns="90000" tIns="45000" rIns="90000" bIns="45000">
            <a:noAutofit/>
          </a:bodyPr>
          <a:lstStyle/>
          <a:p>
            <a:pPr>
              <a:lnSpc>
                <a:spcPct val="90000"/>
              </a:lnSpc>
            </a:pPr>
            <a:r>
              <a:rPr lang="en-US" sz="4400" b="0" strike="noStrike" spc="-1" dirty="0">
                <a:solidFill>
                  <a:srgbClr val="FFFFFF"/>
                </a:solidFill>
                <a:latin typeface="Proxima Nova Black"/>
              </a:rPr>
              <a:t>Passing down the props</a:t>
            </a:r>
            <a:endParaRPr lang="en-US" sz="4400" b="0" strike="noStrike" spc="-1" dirty="0">
              <a:latin typeface="Arial"/>
            </a:endParaRPr>
          </a:p>
        </p:txBody>
      </p:sp>
      <p:pic>
        <p:nvPicPr>
          <p:cNvPr id="716" name="Рисунок 715"/>
          <p:cNvPicPr/>
          <p:nvPr/>
        </p:nvPicPr>
        <p:blipFill>
          <a:blip r:embed="rId2"/>
          <a:stretch/>
        </p:blipFill>
        <p:spPr>
          <a:xfrm>
            <a:off x="1610280" y="1645920"/>
            <a:ext cx="3418920" cy="2009160"/>
          </a:xfrm>
          <a:prstGeom prst="rect">
            <a:avLst/>
          </a:prstGeom>
          <a:ln>
            <a:noFill/>
          </a:ln>
        </p:spPr>
      </p:pic>
      <p:pic>
        <p:nvPicPr>
          <p:cNvPr id="717" name="Рисунок 716"/>
          <p:cNvPicPr/>
          <p:nvPr/>
        </p:nvPicPr>
        <p:blipFill>
          <a:blip r:embed="rId3"/>
          <a:stretch/>
        </p:blipFill>
        <p:spPr>
          <a:xfrm>
            <a:off x="457200" y="4206240"/>
            <a:ext cx="6114240" cy="1532880"/>
          </a:xfrm>
          <a:prstGeom prst="rect">
            <a:avLst/>
          </a:prstGeom>
          <a:ln>
            <a:noFill/>
          </a:ln>
        </p:spPr>
      </p:pic>
      <p:pic>
        <p:nvPicPr>
          <p:cNvPr id="718" name="Рисунок 717"/>
          <p:cNvPicPr/>
          <p:nvPr/>
        </p:nvPicPr>
        <p:blipFill>
          <a:blip r:embed="rId4"/>
          <a:stretch/>
        </p:blipFill>
        <p:spPr>
          <a:xfrm>
            <a:off x="6839640" y="1577880"/>
            <a:ext cx="4590360" cy="491436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20" name="CustomShape 2"/>
          <p:cNvSpPr/>
          <p:nvPr/>
        </p:nvSpPr>
        <p:spPr>
          <a:xfrm>
            <a:off x="68580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21" name="TextShape 3"/>
          <p:cNvSpPr txBox="1"/>
          <p:nvPr/>
        </p:nvSpPr>
        <p:spPr>
          <a:xfrm>
            <a:off x="1005840" y="457200"/>
            <a:ext cx="10363320" cy="822960"/>
          </a:xfrm>
          <a:prstGeom prst="rect">
            <a:avLst/>
          </a:prstGeom>
          <a:noFill/>
          <a:ln>
            <a:noFill/>
          </a:ln>
        </p:spPr>
        <p:txBody>
          <a:bodyPr lIns="90000" tIns="45000" rIns="90000" bIns="45000">
            <a:noAutofit/>
          </a:bodyPr>
          <a:lstStyle/>
          <a:p>
            <a:pPr>
              <a:lnSpc>
                <a:spcPct val="90000"/>
              </a:lnSpc>
            </a:pPr>
            <a:r>
              <a:rPr lang="en-US" sz="4400" b="0" strike="noStrike" spc="-1">
                <a:solidFill>
                  <a:srgbClr val="FFFFFF"/>
                </a:solidFill>
                <a:latin typeface="Proxima Nova Black"/>
              </a:rPr>
              <a:t>Passing parameters to HOC function</a:t>
            </a:r>
            <a:endParaRPr lang="en-US" sz="4400" b="0" strike="noStrike" spc="-1">
              <a:latin typeface="Arial"/>
            </a:endParaRPr>
          </a:p>
        </p:txBody>
      </p:sp>
      <p:pic>
        <p:nvPicPr>
          <p:cNvPr id="722" name="Рисунок 721"/>
          <p:cNvPicPr/>
          <p:nvPr/>
        </p:nvPicPr>
        <p:blipFill>
          <a:blip r:embed="rId2"/>
          <a:stretch/>
        </p:blipFill>
        <p:spPr>
          <a:xfrm>
            <a:off x="6828480" y="1418040"/>
            <a:ext cx="5069160" cy="4754160"/>
          </a:xfrm>
          <a:prstGeom prst="rect">
            <a:avLst/>
          </a:prstGeom>
          <a:ln>
            <a:noFill/>
          </a:ln>
        </p:spPr>
      </p:pic>
      <p:pic>
        <p:nvPicPr>
          <p:cNvPr id="723" name="Рисунок 722"/>
          <p:cNvPicPr/>
          <p:nvPr/>
        </p:nvPicPr>
        <p:blipFill>
          <a:blip r:embed="rId3"/>
          <a:stretch/>
        </p:blipFill>
        <p:spPr>
          <a:xfrm>
            <a:off x="284400" y="1828800"/>
            <a:ext cx="5933520" cy="2037600"/>
          </a:xfrm>
          <a:prstGeom prst="rect">
            <a:avLst/>
          </a:prstGeom>
          <a:ln>
            <a:noFill/>
          </a:ln>
        </p:spPr>
      </p:pic>
      <p:pic>
        <p:nvPicPr>
          <p:cNvPr id="724" name="Рисунок 723"/>
          <p:cNvPicPr/>
          <p:nvPr/>
        </p:nvPicPr>
        <p:blipFill>
          <a:blip r:embed="rId4"/>
          <a:stretch/>
        </p:blipFill>
        <p:spPr>
          <a:xfrm>
            <a:off x="274680" y="4492440"/>
            <a:ext cx="6152400" cy="154224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26" name="CustomShape 2"/>
          <p:cNvSpPr/>
          <p:nvPr/>
        </p:nvSpPr>
        <p:spPr>
          <a:xfrm>
            <a:off x="73152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27" name="TextShape 3"/>
          <p:cNvSpPr txBox="1"/>
          <p:nvPr/>
        </p:nvSpPr>
        <p:spPr>
          <a:xfrm>
            <a:off x="1432440" y="914400"/>
            <a:ext cx="10363320" cy="822960"/>
          </a:xfrm>
          <a:prstGeom prst="rect">
            <a:avLst/>
          </a:prstGeom>
          <a:noFill/>
          <a:ln>
            <a:noFill/>
          </a:ln>
        </p:spPr>
        <p:txBody>
          <a:bodyPr lIns="90000" tIns="45000" rIns="90000" bIns="45000">
            <a:noAutofit/>
          </a:bodyPr>
          <a:lstStyle/>
          <a:p>
            <a:pPr>
              <a:lnSpc>
                <a:spcPct val="90000"/>
              </a:lnSpc>
            </a:pPr>
            <a:r>
              <a:rPr lang="en-US" sz="4400" b="0" strike="noStrike" spc="-1">
                <a:solidFill>
                  <a:srgbClr val="FFFFFF"/>
                </a:solidFill>
                <a:latin typeface="Proxima Nova Black"/>
              </a:rPr>
              <a:t>State hoisting (Lifting State Up)</a:t>
            </a:r>
            <a:endParaRPr lang="en-US" sz="4400" b="0" strike="noStrike" spc="-1">
              <a:latin typeface="Arial"/>
            </a:endParaRPr>
          </a:p>
        </p:txBody>
      </p:sp>
      <p:sp>
        <p:nvSpPr>
          <p:cNvPr id="728" name="TextShape 4"/>
          <p:cNvSpPr txBox="1"/>
          <p:nvPr/>
        </p:nvSpPr>
        <p:spPr>
          <a:xfrm>
            <a:off x="1188720" y="2360520"/>
            <a:ext cx="9784080" cy="1550298"/>
          </a:xfrm>
          <a:prstGeom prst="rect">
            <a:avLst/>
          </a:prstGeom>
          <a:noFill/>
          <a:ln>
            <a:noFill/>
          </a:ln>
        </p:spPr>
        <p:txBody>
          <a:bodyPr lIns="90000" tIns="45000" rIns="90000" bIns="45000">
            <a:noAutofit/>
          </a:bodyPr>
          <a:lstStyle/>
          <a:p>
            <a:pPr marL="285750" indent="-285750">
              <a:lnSpc>
                <a:spcPct val="150000"/>
              </a:lnSpc>
              <a:buFont typeface="Arial" panose="020B0604020202020204" pitchFamily="34" charset="0"/>
              <a:buChar char="•"/>
            </a:pPr>
            <a:r>
              <a:rPr lang="en-US" sz="1800" b="0" strike="noStrike" spc="-1" dirty="0">
                <a:solidFill>
                  <a:schemeClr val="bg1"/>
                </a:solidFill>
                <a:latin typeface="Arial"/>
              </a:rPr>
              <a:t>One of the React patterns is called state hoisting. As we know stateless functions don’t hold state and events are changes in state. Their data needs to be passed to stateful container components parents. This is a perfect situation to use state hoisting and it’s accomplished by passing a callback from a container component to a child component.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30" name="CustomShape 2"/>
          <p:cNvSpPr/>
          <p:nvPr/>
        </p:nvSpPr>
        <p:spPr>
          <a:xfrm>
            <a:off x="73152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31" name="TextShape 3"/>
          <p:cNvSpPr txBox="1"/>
          <p:nvPr/>
        </p:nvSpPr>
        <p:spPr>
          <a:xfrm>
            <a:off x="1005840" y="457200"/>
            <a:ext cx="10363320" cy="822960"/>
          </a:xfrm>
          <a:prstGeom prst="rect">
            <a:avLst/>
          </a:prstGeom>
          <a:noFill/>
          <a:ln>
            <a:noFill/>
          </a:ln>
        </p:spPr>
        <p:txBody>
          <a:bodyPr lIns="90000" tIns="45000" rIns="90000" bIns="45000">
            <a:noAutofit/>
          </a:bodyPr>
          <a:lstStyle/>
          <a:p>
            <a:pPr>
              <a:lnSpc>
                <a:spcPct val="90000"/>
              </a:lnSpc>
            </a:pPr>
            <a:r>
              <a:rPr lang="en-US" sz="4400" b="0" strike="noStrike" spc="-1">
                <a:solidFill>
                  <a:srgbClr val="FFFFFF"/>
                </a:solidFill>
                <a:latin typeface="Proxima Nova Black"/>
              </a:rPr>
              <a:t>State hoisting (Lifting State Up)</a:t>
            </a:r>
            <a:endParaRPr lang="en-US" sz="4400" b="0" strike="noStrike" spc="-1">
              <a:latin typeface="Arial"/>
            </a:endParaRPr>
          </a:p>
        </p:txBody>
      </p:sp>
      <p:pic>
        <p:nvPicPr>
          <p:cNvPr id="732" name="Рисунок 731"/>
          <p:cNvPicPr/>
          <p:nvPr/>
        </p:nvPicPr>
        <p:blipFill>
          <a:blip r:embed="rId2"/>
          <a:stretch/>
        </p:blipFill>
        <p:spPr>
          <a:xfrm>
            <a:off x="8047080" y="1604880"/>
            <a:ext cx="3474360" cy="4741920"/>
          </a:xfrm>
          <a:prstGeom prst="rect">
            <a:avLst/>
          </a:prstGeom>
          <a:ln>
            <a:noFill/>
          </a:ln>
        </p:spPr>
      </p:pic>
      <p:pic>
        <p:nvPicPr>
          <p:cNvPr id="733" name="Рисунок 732"/>
          <p:cNvPicPr/>
          <p:nvPr/>
        </p:nvPicPr>
        <p:blipFill>
          <a:blip r:embed="rId3"/>
          <a:stretch/>
        </p:blipFill>
        <p:spPr>
          <a:xfrm>
            <a:off x="4298400" y="5480640"/>
            <a:ext cx="2056680" cy="866160"/>
          </a:xfrm>
          <a:prstGeom prst="rect">
            <a:avLst/>
          </a:prstGeom>
          <a:ln>
            <a:noFill/>
          </a:ln>
        </p:spPr>
      </p:pic>
      <p:pic>
        <p:nvPicPr>
          <p:cNvPr id="734" name="Рисунок 733"/>
          <p:cNvPicPr/>
          <p:nvPr/>
        </p:nvPicPr>
        <p:blipFill>
          <a:blip r:embed="rId4"/>
          <a:stretch/>
        </p:blipFill>
        <p:spPr>
          <a:xfrm>
            <a:off x="1098000" y="1554480"/>
            <a:ext cx="5904720" cy="1866240"/>
          </a:xfrm>
          <a:prstGeom prst="rect">
            <a:avLst/>
          </a:prstGeom>
          <a:ln>
            <a:noFill/>
          </a:ln>
        </p:spPr>
      </p:pic>
      <p:pic>
        <p:nvPicPr>
          <p:cNvPr id="735" name="Рисунок 734"/>
          <p:cNvPicPr/>
          <p:nvPr/>
        </p:nvPicPr>
        <p:blipFill>
          <a:blip r:embed="rId5"/>
          <a:stretch/>
        </p:blipFill>
        <p:spPr>
          <a:xfrm>
            <a:off x="1148040" y="3750840"/>
            <a:ext cx="6076080" cy="113292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37" name="CustomShape 2"/>
          <p:cNvSpPr/>
          <p:nvPr/>
        </p:nvSpPr>
        <p:spPr>
          <a:xfrm>
            <a:off x="73152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38" name="TextShape 3"/>
          <p:cNvSpPr txBox="1"/>
          <p:nvPr/>
        </p:nvSpPr>
        <p:spPr>
          <a:xfrm>
            <a:off x="1005840" y="457200"/>
            <a:ext cx="10363320" cy="822960"/>
          </a:xfrm>
          <a:prstGeom prst="rect">
            <a:avLst/>
          </a:prstGeom>
          <a:noFill/>
          <a:ln>
            <a:noFill/>
          </a:ln>
        </p:spPr>
        <p:txBody>
          <a:bodyPr lIns="90000" tIns="45000" rIns="90000" bIns="45000">
            <a:noAutofit/>
          </a:bodyPr>
          <a:lstStyle/>
          <a:p>
            <a:pPr algn="ctr">
              <a:lnSpc>
                <a:spcPct val="90000"/>
              </a:lnSpc>
            </a:pPr>
            <a:r>
              <a:rPr lang="en-US" sz="4400" b="0" strike="noStrike" spc="-1" dirty="0">
                <a:solidFill>
                  <a:srgbClr val="FFFFFF"/>
                </a:solidFill>
                <a:latin typeface="Proxima Nova Black"/>
              </a:rPr>
              <a:t>Proxy component</a:t>
            </a:r>
            <a:endParaRPr lang="en-US" sz="4400" b="0" strike="noStrike" spc="-1" dirty="0">
              <a:latin typeface="Arial"/>
            </a:endParaRPr>
          </a:p>
        </p:txBody>
      </p:sp>
      <p:sp>
        <p:nvSpPr>
          <p:cNvPr id="739" name="TextShape 4"/>
          <p:cNvSpPr txBox="1"/>
          <p:nvPr/>
        </p:nvSpPr>
        <p:spPr>
          <a:xfrm>
            <a:off x="478302" y="1272240"/>
            <a:ext cx="10981938" cy="602280"/>
          </a:xfrm>
          <a:prstGeom prst="rect">
            <a:avLst/>
          </a:prstGeom>
          <a:noFill/>
          <a:ln>
            <a:noFill/>
          </a:ln>
        </p:spPr>
        <p:txBody>
          <a:bodyPr lIns="90000" tIns="45000" rIns="90000" bIns="45000">
            <a:noAutofit/>
          </a:bodyPr>
          <a:lstStyle/>
          <a:p>
            <a:r>
              <a:rPr lang="en-US" sz="1800" b="0" strike="noStrike" spc="-1" dirty="0">
                <a:solidFill>
                  <a:schemeClr val="bg1"/>
                </a:solidFill>
                <a:latin typeface="Arial"/>
              </a:rPr>
              <a:t>Buttons are everywhere in web apps. And every one of them must have the type attribute set to "button".</a:t>
            </a:r>
          </a:p>
        </p:txBody>
      </p:sp>
      <p:pic>
        <p:nvPicPr>
          <p:cNvPr id="740" name="Рисунок 739"/>
          <p:cNvPicPr/>
          <p:nvPr/>
        </p:nvPicPr>
        <p:blipFill>
          <a:blip r:embed="rId2"/>
          <a:stretch/>
        </p:blipFill>
        <p:spPr>
          <a:xfrm>
            <a:off x="640680" y="1809900"/>
            <a:ext cx="2838240" cy="495000"/>
          </a:xfrm>
          <a:prstGeom prst="rect">
            <a:avLst/>
          </a:prstGeom>
          <a:ln>
            <a:noFill/>
          </a:ln>
        </p:spPr>
      </p:pic>
      <p:sp>
        <p:nvSpPr>
          <p:cNvPr id="741" name="TextShape 5"/>
          <p:cNvSpPr txBox="1"/>
          <p:nvPr/>
        </p:nvSpPr>
        <p:spPr>
          <a:xfrm>
            <a:off x="576257" y="2458322"/>
            <a:ext cx="10981937" cy="365760"/>
          </a:xfrm>
          <a:prstGeom prst="rect">
            <a:avLst/>
          </a:prstGeom>
          <a:noFill/>
          <a:ln>
            <a:noFill/>
          </a:ln>
        </p:spPr>
        <p:txBody>
          <a:bodyPr lIns="90000" tIns="45000" rIns="90000" bIns="45000">
            <a:noAutofit/>
          </a:bodyPr>
          <a:lstStyle/>
          <a:p>
            <a:r>
              <a:rPr lang="en-US" b="0" strike="noStrike" spc="-1" dirty="0">
                <a:solidFill>
                  <a:schemeClr val="bg1"/>
                </a:solidFill>
                <a:latin typeface="Arial"/>
              </a:rPr>
              <a:t>Writing this attribute hundreds of times is error prone. We can write a higher level component to proxy props to a lower-level button component.</a:t>
            </a:r>
          </a:p>
        </p:txBody>
      </p:sp>
      <p:pic>
        <p:nvPicPr>
          <p:cNvPr id="742" name="Рисунок 741"/>
          <p:cNvPicPr/>
          <p:nvPr/>
        </p:nvPicPr>
        <p:blipFill>
          <a:blip r:embed="rId3"/>
          <a:stretch/>
        </p:blipFill>
        <p:spPr>
          <a:xfrm>
            <a:off x="640680" y="3188278"/>
            <a:ext cx="4343040" cy="685440"/>
          </a:xfrm>
          <a:prstGeom prst="rect">
            <a:avLst/>
          </a:prstGeom>
          <a:ln>
            <a:noFill/>
          </a:ln>
        </p:spPr>
      </p:pic>
      <p:sp>
        <p:nvSpPr>
          <p:cNvPr id="743" name="TextShape 6"/>
          <p:cNvSpPr txBox="1"/>
          <p:nvPr/>
        </p:nvSpPr>
        <p:spPr>
          <a:xfrm>
            <a:off x="576258" y="4008113"/>
            <a:ext cx="10819800" cy="415440"/>
          </a:xfrm>
          <a:prstGeom prst="rect">
            <a:avLst/>
          </a:prstGeom>
          <a:noFill/>
          <a:ln>
            <a:noFill/>
          </a:ln>
        </p:spPr>
        <p:txBody>
          <a:bodyPr lIns="90000" tIns="45000" rIns="90000" bIns="45000">
            <a:noAutofit/>
          </a:bodyPr>
          <a:lstStyle/>
          <a:p>
            <a:r>
              <a:rPr lang="en-US" b="0" strike="noStrike" spc="-1" dirty="0">
                <a:solidFill>
                  <a:schemeClr val="bg1"/>
                </a:solidFill>
                <a:latin typeface="Arial"/>
              </a:rPr>
              <a:t>We can use Button in place of button and ensure that the type attribute is consistently applied everywhere.</a:t>
            </a:r>
          </a:p>
        </p:txBody>
      </p:sp>
      <p:pic>
        <p:nvPicPr>
          <p:cNvPr id="744" name="Рисунок 743"/>
          <p:cNvPicPr/>
          <p:nvPr/>
        </p:nvPicPr>
        <p:blipFill>
          <a:blip r:embed="rId4"/>
          <a:stretch/>
        </p:blipFill>
        <p:spPr>
          <a:xfrm>
            <a:off x="640680" y="4724702"/>
            <a:ext cx="6752880" cy="140940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46" name="CustomShape 2"/>
          <p:cNvSpPr/>
          <p:nvPr/>
        </p:nvSpPr>
        <p:spPr>
          <a:xfrm>
            <a:off x="731520" y="2057400"/>
            <a:ext cx="10819800" cy="3428280"/>
          </a:xfrm>
          <a:prstGeom prst="rect">
            <a:avLst/>
          </a:prstGeom>
          <a:noFill/>
          <a:ln>
            <a:noFill/>
          </a:ln>
        </p:spPr>
        <p:style>
          <a:lnRef idx="0">
            <a:scrgbClr r="0" g="0" b="0"/>
          </a:lnRef>
          <a:fillRef idx="0">
            <a:scrgbClr r="0" g="0" b="0"/>
          </a:fillRef>
          <a:effectRef idx="0">
            <a:scrgbClr r="0" g="0" b="0"/>
          </a:effectRef>
          <a:fontRef idx="minor"/>
        </p:style>
      </p:sp>
      <p:sp>
        <p:nvSpPr>
          <p:cNvPr id="747" name="TextShape 3"/>
          <p:cNvSpPr txBox="1"/>
          <p:nvPr/>
        </p:nvSpPr>
        <p:spPr>
          <a:xfrm>
            <a:off x="914040" y="205380"/>
            <a:ext cx="10363320" cy="822960"/>
          </a:xfrm>
          <a:prstGeom prst="rect">
            <a:avLst/>
          </a:prstGeom>
          <a:noFill/>
          <a:ln>
            <a:noFill/>
          </a:ln>
        </p:spPr>
        <p:txBody>
          <a:bodyPr lIns="90000" tIns="45000" rIns="90000" bIns="45000">
            <a:noAutofit/>
          </a:bodyPr>
          <a:lstStyle/>
          <a:p>
            <a:pPr algn="ctr">
              <a:lnSpc>
                <a:spcPct val="90000"/>
              </a:lnSpc>
            </a:pPr>
            <a:r>
              <a:rPr lang="en-US" sz="4400" b="0" strike="noStrike" spc="-1" dirty="0">
                <a:solidFill>
                  <a:srgbClr val="FFFFFF"/>
                </a:solidFill>
                <a:latin typeface="Proxima Nova Black"/>
              </a:rPr>
              <a:t>Style component</a:t>
            </a:r>
            <a:endParaRPr lang="en-US" sz="4400" b="0" strike="noStrike" spc="-1" dirty="0">
              <a:latin typeface="Arial"/>
            </a:endParaRPr>
          </a:p>
        </p:txBody>
      </p:sp>
      <p:sp>
        <p:nvSpPr>
          <p:cNvPr id="748" name="TextShape 4"/>
          <p:cNvSpPr txBox="1"/>
          <p:nvPr/>
        </p:nvSpPr>
        <p:spPr>
          <a:xfrm>
            <a:off x="1005839" y="914400"/>
            <a:ext cx="10670345" cy="602280"/>
          </a:xfrm>
          <a:prstGeom prst="rect">
            <a:avLst/>
          </a:prstGeom>
          <a:noFill/>
          <a:ln>
            <a:noFill/>
          </a:ln>
        </p:spPr>
        <p:txBody>
          <a:bodyPr lIns="90000" tIns="45000" rIns="90000" bIns="45000">
            <a:noAutofit/>
          </a:bodyPr>
          <a:lstStyle/>
          <a:p>
            <a:r>
              <a:rPr lang="en-US" sz="1800" b="0" strike="noStrike" spc="-1" dirty="0">
                <a:solidFill>
                  <a:schemeClr val="bg1"/>
                </a:solidFill>
                <a:latin typeface="Arial"/>
              </a:rPr>
              <a:t>This is a Proxy component applied to the practices of style. Say we have a button. It uses classes to be styled as a "primary" button.</a:t>
            </a:r>
          </a:p>
        </p:txBody>
      </p:sp>
      <p:pic>
        <p:nvPicPr>
          <p:cNvPr id="749" name="Рисунок 748"/>
          <p:cNvPicPr/>
          <p:nvPr/>
        </p:nvPicPr>
        <p:blipFill>
          <a:blip r:embed="rId2"/>
          <a:stretch/>
        </p:blipFill>
        <p:spPr>
          <a:xfrm>
            <a:off x="1137600" y="1645920"/>
            <a:ext cx="6086160" cy="533160"/>
          </a:xfrm>
          <a:prstGeom prst="rect">
            <a:avLst/>
          </a:prstGeom>
          <a:ln>
            <a:noFill/>
          </a:ln>
        </p:spPr>
      </p:pic>
      <p:sp>
        <p:nvSpPr>
          <p:cNvPr id="750" name="TextShape 5"/>
          <p:cNvSpPr txBox="1"/>
          <p:nvPr/>
        </p:nvSpPr>
        <p:spPr>
          <a:xfrm>
            <a:off x="1005839" y="2270700"/>
            <a:ext cx="9143999" cy="365760"/>
          </a:xfrm>
          <a:prstGeom prst="rect">
            <a:avLst/>
          </a:prstGeom>
          <a:noFill/>
          <a:ln>
            <a:noFill/>
          </a:ln>
        </p:spPr>
        <p:txBody>
          <a:bodyPr lIns="90000" tIns="45000" rIns="90000" bIns="45000">
            <a:noAutofit/>
          </a:bodyPr>
          <a:lstStyle/>
          <a:p>
            <a:r>
              <a:rPr lang="en-US" b="0" strike="noStrike" spc="-1" dirty="0">
                <a:solidFill>
                  <a:schemeClr val="bg1"/>
                </a:solidFill>
                <a:latin typeface="Arial"/>
              </a:rPr>
              <a:t>We can generate this output using a couple single-purpose components.</a:t>
            </a:r>
          </a:p>
        </p:txBody>
      </p:sp>
      <p:pic>
        <p:nvPicPr>
          <p:cNvPr id="751" name="Рисунок 750"/>
          <p:cNvPicPr/>
          <p:nvPr/>
        </p:nvPicPr>
        <p:blipFill>
          <a:blip r:embed="rId3"/>
          <a:stretch/>
        </p:blipFill>
        <p:spPr>
          <a:xfrm>
            <a:off x="1137600" y="2685517"/>
            <a:ext cx="5781240" cy="2400120"/>
          </a:xfrm>
          <a:prstGeom prst="rect">
            <a:avLst/>
          </a:prstGeom>
          <a:ln>
            <a:noFill/>
          </a:ln>
        </p:spPr>
      </p:pic>
      <p:sp>
        <p:nvSpPr>
          <p:cNvPr id="752" name="TextShape 6"/>
          <p:cNvSpPr txBox="1"/>
          <p:nvPr/>
        </p:nvSpPr>
        <p:spPr>
          <a:xfrm>
            <a:off x="1005838" y="5141728"/>
            <a:ext cx="9144000" cy="365760"/>
          </a:xfrm>
          <a:prstGeom prst="rect">
            <a:avLst/>
          </a:prstGeom>
          <a:noFill/>
          <a:ln>
            <a:noFill/>
          </a:ln>
        </p:spPr>
        <p:txBody>
          <a:bodyPr lIns="90000" tIns="45000" rIns="90000" bIns="45000">
            <a:noAutofit/>
          </a:bodyPr>
          <a:lstStyle/>
          <a:p>
            <a:r>
              <a:rPr lang="en-US" sz="1800" b="0" strike="noStrike" spc="-1" dirty="0">
                <a:solidFill>
                  <a:schemeClr val="bg1"/>
                </a:solidFill>
                <a:latin typeface="Arial"/>
              </a:rPr>
              <a:t>Using these components, all of these result in the same output</a:t>
            </a:r>
            <a:r>
              <a:rPr lang="en-US" sz="1800" b="0" strike="noStrike" spc="-1" dirty="0">
                <a:latin typeface="Arial"/>
              </a:rPr>
              <a:t>.</a:t>
            </a:r>
          </a:p>
        </p:txBody>
      </p:sp>
      <p:pic>
        <p:nvPicPr>
          <p:cNvPr id="753" name="Рисунок 752"/>
          <p:cNvPicPr/>
          <p:nvPr/>
        </p:nvPicPr>
        <p:blipFill>
          <a:blip r:embed="rId4"/>
          <a:stretch/>
        </p:blipFill>
        <p:spPr>
          <a:xfrm>
            <a:off x="1137600" y="5582728"/>
            <a:ext cx="6257520" cy="90468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 name="CustomShape 1"/>
          <p:cNvSpPr/>
          <p:nvPr/>
        </p:nvSpPr>
        <p:spPr>
          <a:xfrm>
            <a:off x="685800" y="685800"/>
            <a:ext cx="10819800" cy="685080"/>
          </a:xfrm>
          <a:prstGeom prst="rect">
            <a:avLst/>
          </a:prstGeom>
          <a:noFill/>
          <a:ln>
            <a:noFill/>
          </a:ln>
        </p:spPr>
        <p:style>
          <a:lnRef idx="0">
            <a:scrgbClr r="0" g="0" b="0"/>
          </a:lnRef>
          <a:fillRef idx="0">
            <a:scrgbClr r="0" g="0" b="0"/>
          </a:fillRef>
          <a:effectRef idx="0">
            <a:scrgbClr r="0" g="0" b="0"/>
          </a:effectRef>
          <a:fontRef idx="minor"/>
        </p:style>
      </p:sp>
      <p:sp>
        <p:nvSpPr>
          <p:cNvPr id="755" name="CustomShape 2"/>
          <p:cNvSpPr/>
          <p:nvPr/>
        </p:nvSpPr>
        <p:spPr>
          <a:xfrm>
            <a:off x="685800" y="2057400"/>
            <a:ext cx="3466440" cy="3428280"/>
          </a:xfrm>
          <a:prstGeom prst="rect">
            <a:avLst/>
          </a:prstGeom>
          <a:noFill/>
          <a:ln>
            <a:noFill/>
          </a:ln>
        </p:spPr>
        <p:style>
          <a:lnRef idx="0">
            <a:scrgbClr r="0" g="0" b="0"/>
          </a:lnRef>
          <a:fillRef idx="0">
            <a:scrgbClr r="0" g="0" b="0"/>
          </a:fillRef>
          <a:effectRef idx="0">
            <a:scrgbClr r="0" g="0" b="0"/>
          </a:effectRef>
          <a:fontRef idx="minor"/>
        </p:style>
      </p:sp>
      <p:sp>
        <p:nvSpPr>
          <p:cNvPr id="756" name="CustomShape 3"/>
          <p:cNvSpPr/>
          <p:nvPr/>
        </p:nvSpPr>
        <p:spPr>
          <a:xfrm>
            <a:off x="4363200" y="2057400"/>
            <a:ext cx="3465000" cy="3428280"/>
          </a:xfrm>
          <a:prstGeom prst="rect">
            <a:avLst/>
          </a:prstGeom>
          <a:noFill/>
          <a:ln>
            <a:noFill/>
          </a:ln>
        </p:spPr>
        <p:style>
          <a:lnRef idx="0">
            <a:scrgbClr r="0" g="0" b="0"/>
          </a:lnRef>
          <a:fillRef idx="0">
            <a:scrgbClr r="0" g="0" b="0"/>
          </a:fillRef>
          <a:effectRef idx="0">
            <a:scrgbClr r="0" g="0" b="0"/>
          </a:effectRef>
          <a:fontRef idx="minor"/>
        </p:style>
      </p:sp>
      <p:sp>
        <p:nvSpPr>
          <p:cNvPr id="757" name="CustomShape 4"/>
          <p:cNvSpPr/>
          <p:nvPr/>
        </p:nvSpPr>
        <p:spPr>
          <a:xfrm>
            <a:off x="8039160" y="2057400"/>
            <a:ext cx="3466440" cy="3428280"/>
          </a:xfrm>
          <a:prstGeom prst="rect">
            <a:avLst/>
          </a:prstGeom>
          <a:noFill/>
          <a:ln>
            <a:noFill/>
          </a:ln>
        </p:spPr>
        <p:style>
          <a:lnRef idx="0">
            <a:scrgbClr r="0" g="0" b="0"/>
          </a:lnRef>
          <a:fillRef idx="0">
            <a:scrgbClr r="0" g="0" b="0"/>
          </a:fillRef>
          <a:effectRef idx="0">
            <a:scrgbClr r="0" g="0" b="0"/>
          </a:effectRef>
          <a:fontRef idx="minor"/>
        </p:style>
      </p:sp>
      <p:sp>
        <p:nvSpPr>
          <p:cNvPr id="6" name="TextShape 3">
            <a:extLst>
              <a:ext uri="{FF2B5EF4-FFF2-40B4-BE49-F238E27FC236}">
                <a16:creationId xmlns:a16="http://schemas.microsoft.com/office/drawing/2014/main" id="{0D09E5EA-FD0D-4076-9757-5751B0B284BF}"/>
              </a:ext>
            </a:extLst>
          </p:cNvPr>
          <p:cNvSpPr txBox="1"/>
          <p:nvPr/>
        </p:nvSpPr>
        <p:spPr>
          <a:xfrm>
            <a:off x="914040" y="205380"/>
            <a:ext cx="10363320" cy="822960"/>
          </a:xfrm>
          <a:prstGeom prst="rect">
            <a:avLst/>
          </a:prstGeom>
          <a:noFill/>
          <a:ln>
            <a:noFill/>
          </a:ln>
        </p:spPr>
        <p:txBody>
          <a:bodyPr lIns="90000" tIns="45000" rIns="90000" bIns="45000">
            <a:noAutofit/>
          </a:bodyPr>
          <a:lstStyle/>
          <a:p>
            <a:pPr algn="ctr">
              <a:lnSpc>
                <a:spcPct val="90000"/>
              </a:lnSpc>
            </a:pPr>
            <a:r>
              <a:rPr lang="en-US" sz="4400" spc="-1" dirty="0">
                <a:solidFill>
                  <a:srgbClr val="FFFFFF"/>
                </a:solidFill>
                <a:latin typeface="Proxima Nova Black"/>
              </a:rPr>
              <a:t>Controlled input</a:t>
            </a:r>
            <a:endParaRPr lang="en-US" sz="4400" b="0" strike="noStrike" spc="-1" dirty="0">
              <a:latin typeface="Arial"/>
            </a:endParaRPr>
          </a:p>
        </p:txBody>
      </p:sp>
      <p:sp>
        <p:nvSpPr>
          <p:cNvPr id="2" name="TextBox 1">
            <a:extLst>
              <a:ext uri="{FF2B5EF4-FFF2-40B4-BE49-F238E27FC236}">
                <a16:creationId xmlns:a16="http://schemas.microsoft.com/office/drawing/2014/main" id="{3685B405-7C56-424F-BA10-7918CBD88896}"/>
              </a:ext>
            </a:extLst>
          </p:cNvPr>
          <p:cNvSpPr txBox="1"/>
          <p:nvPr/>
        </p:nvSpPr>
        <p:spPr>
          <a:xfrm>
            <a:off x="1308296" y="4614204"/>
            <a:ext cx="10297551"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Now you can change the value and see the state changes. It only updates the DOM when state has changed. This is very important when creating large UIs.</a:t>
            </a:r>
            <a:endParaRPr lang="uk-UA"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 name="pasted-image.png"/>
          <p:cNvPicPr/>
          <p:nvPr/>
        </p:nvPicPr>
        <p:blipFill>
          <a:blip r:embed="rId2"/>
          <a:stretch/>
        </p:blipFill>
        <p:spPr>
          <a:xfrm>
            <a:off x="0" y="0"/>
            <a:ext cx="12191400" cy="6857280"/>
          </a:xfrm>
          <a:prstGeom prst="rect">
            <a:avLst/>
          </a:prstGeom>
          <a:ln w="1260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TotalTime>
  <Words>315</Words>
  <Application>Microsoft Office PowerPoint</Application>
  <PresentationFormat>Широкоэкранный</PresentationFormat>
  <Paragraphs>27</Paragraphs>
  <Slides>14</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7</vt:i4>
      </vt:variant>
      <vt:variant>
        <vt:lpstr>Заголовки слайдов</vt:lpstr>
      </vt:variant>
      <vt:variant>
        <vt:i4>14</vt:i4>
      </vt:variant>
    </vt:vector>
  </HeadingPairs>
  <TitlesOfParts>
    <vt:vector size="27" baseType="lpstr">
      <vt:lpstr>Arial</vt:lpstr>
      <vt:lpstr>Open Sans Regular</vt:lpstr>
      <vt:lpstr>Proxima Nova Black</vt:lpstr>
      <vt:lpstr>Symbol</vt:lpstr>
      <vt:lpstr>Times New Roman</vt:lpstr>
      <vt:lpstr>Wingdings</vt:lpstr>
      <vt:lpstr>Office Theme</vt:lpstr>
      <vt:lpstr>Office Theme</vt:lpstr>
      <vt:lpstr>Office Theme</vt:lpstr>
      <vt:lpstr>Office Theme</vt:lpstr>
      <vt:lpstr>Office Theme</vt:lpstr>
      <vt:lpstr>Office Theme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Verint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subject/>
  <dc:creator>Strutynska, Viktoriya</dc:creator>
  <dc:description/>
  <cp:lastModifiedBy>Volodymyr Hrytsiv</cp:lastModifiedBy>
  <cp:revision>7</cp:revision>
  <dcterms:created xsi:type="dcterms:W3CDTF">2018-11-02T13:55:27Z</dcterms:created>
  <dcterms:modified xsi:type="dcterms:W3CDTF">2020-04-08T09:05:41Z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false</vt:bool>
  </property>
  <property fmtid="{D5CDD505-2E9C-101B-9397-08002B2CF9AE}" pid="7" name="LinksUpToDate">
    <vt:bool>false</vt:bool>
  </property>
  <property fmtid="{D5CDD505-2E9C-101B-9397-08002B2CF9AE}" pid="8" name="Notes">
    <vt:i4>1</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17</vt:i4>
  </property>
</Properties>
</file>