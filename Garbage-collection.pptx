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700" r:id="rId4"/>
  </p:sldMasterIdLst>
  <p:notesMasterIdLst>
    <p:notesMasterId r:id="rId20"/>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6" r:id="rId19"/>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51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8"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en-US" sz="4400" b="0" strike="noStrike" spc="-1">
                <a:latin typeface="Arial"/>
              </a:rPr>
              <a:t>Click to move the slide</a:t>
            </a:r>
          </a:p>
        </p:txBody>
      </p:sp>
      <p:sp>
        <p:nvSpPr>
          <p:cNvPr id="199" name="PlaceHolder 2"/>
          <p:cNvSpPr>
            <a:spLocks noGrp="1"/>
          </p:cNvSpPr>
          <p:nvPr>
            <p:ph type="body"/>
          </p:nvPr>
        </p:nvSpPr>
        <p:spPr>
          <a:xfrm>
            <a:off x="756000" y="5078520"/>
            <a:ext cx="6047640" cy="4811040"/>
          </a:xfrm>
          <a:prstGeom prst="rect">
            <a:avLst/>
          </a:prstGeom>
        </p:spPr>
        <p:txBody>
          <a:bodyPr lIns="0" tIns="0" rIns="0" bIns="0">
            <a:noAutofit/>
          </a:bodyPr>
          <a:lstStyle/>
          <a:p>
            <a:r>
              <a:rPr lang="en-US" sz="2000" b="0" strike="noStrike" spc="-1">
                <a:latin typeface="Arial"/>
              </a:rPr>
              <a:t>Click to edit the notes format</a:t>
            </a:r>
          </a:p>
        </p:txBody>
      </p:sp>
      <p:sp>
        <p:nvSpPr>
          <p:cNvPr id="200"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a:rPr>
              <a:t>&lt;header&gt;</a:t>
            </a:r>
          </a:p>
        </p:txBody>
      </p:sp>
      <p:sp>
        <p:nvSpPr>
          <p:cNvPr id="201"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a:rPr>
              <a:t>&lt;date/time&gt;</a:t>
            </a:r>
          </a:p>
        </p:txBody>
      </p:sp>
      <p:sp>
        <p:nvSpPr>
          <p:cNvPr id="202"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a:rPr>
              <a:t>&lt;footer&gt;</a:t>
            </a:r>
          </a:p>
        </p:txBody>
      </p:sp>
      <p:sp>
        <p:nvSpPr>
          <p:cNvPr id="203"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62637384-336D-466F-8A0A-C971ADFD7B8E}"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noRot="1" noChangeAspect="1"/>
          </p:cNvSpPr>
          <p:nvPr>
            <p:ph type="sldImg"/>
          </p:nvPr>
        </p:nvSpPr>
        <p:spPr>
          <a:xfrm>
            <a:off x="685800" y="1143000"/>
            <a:ext cx="5482440" cy="3081960"/>
          </a:xfrm>
          <a:prstGeom prst="rect">
            <a:avLst/>
          </a:prstGeom>
        </p:spPr>
      </p:sp>
      <p:sp>
        <p:nvSpPr>
          <p:cNvPr id="292" name="PlaceHolder 2"/>
          <p:cNvSpPr>
            <a:spLocks noGrp="1"/>
          </p:cNvSpPr>
          <p:nvPr>
            <p:ph type="body"/>
          </p:nvPr>
        </p:nvSpPr>
        <p:spPr>
          <a:xfrm>
            <a:off x="685800" y="4400640"/>
            <a:ext cx="5481720" cy="3595680"/>
          </a:xfrm>
          <a:prstGeom prst="rect">
            <a:avLst/>
          </a:prstGeom>
        </p:spPr>
        <p:txBody>
          <a:bodyPr lIns="0" tIns="0" rIns="0" bIns="0">
            <a:noAutofit/>
          </a:bodyPr>
          <a:lstStyle/>
          <a:p>
            <a:endParaRPr lang="en-US" sz="2000" b="0" strike="noStrike" spc="-1">
              <a:latin typeface="Arial"/>
            </a:endParaRPr>
          </a:p>
        </p:txBody>
      </p:sp>
      <p:sp>
        <p:nvSpPr>
          <p:cNvPr id="293" name="CustomShape 3"/>
          <p:cNvSpPr/>
          <p:nvPr/>
        </p:nvSpPr>
        <p:spPr>
          <a:xfrm>
            <a:off x="3884760" y="8685360"/>
            <a:ext cx="2967120" cy="453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pPr>
            <a:fld id="{D413A744-C64D-4D71-9E8F-021D20D9926B}" type="slidenum">
              <a:rPr lang="en-GB" sz="1200" b="0" strike="noStrike" spc="-1">
                <a:solidFill>
                  <a:srgbClr val="000000"/>
                </a:solidFill>
                <a:latin typeface="+mn-lt"/>
                <a:ea typeface="+mn-ea"/>
              </a:rPr>
              <a:t>1</a:t>
            </a:fld>
            <a:endParaRPr lang="en-US" sz="12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217488" y="812800"/>
            <a:ext cx="7124700" cy="4008438"/>
          </a:xfrm>
        </p:spPr>
      </p:sp>
      <p:sp>
        <p:nvSpPr>
          <p:cNvPr id="3" name="Заметки 2"/>
          <p:cNvSpPr>
            <a:spLocks noGrp="1"/>
          </p:cNvSpPr>
          <p:nvPr>
            <p:ph type="body" idx="1"/>
          </p:nvPr>
        </p:nvSpPr>
        <p:spPr/>
        <p:txBody>
          <a:bodyPr/>
          <a:lstStyle/>
          <a:p>
            <a:endParaRPr lang="uk-UA" dirty="0"/>
          </a:p>
        </p:txBody>
      </p:sp>
      <p:sp>
        <p:nvSpPr>
          <p:cNvPr id="4" name="Номер слайда 3"/>
          <p:cNvSpPr>
            <a:spLocks noGrp="1"/>
          </p:cNvSpPr>
          <p:nvPr>
            <p:ph type="sldNum"/>
          </p:nvPr>
        </p:nvSpPr>
        <p:spPr/>
        <p:txBody>
          <a:bodyPr/>
          <a:lstStyle/>
          <a:p>
            <a:pPr algn="r"/>
            <a:fld id="{62637384-336D-466F-8A0A-C971ADFD7B8E}" type="slidenum">
              <a:rPr lang="en-US" sz="1400" b="0" strike="noStrike" spc="-1" smtClean="0">
                <a:latin typeface="Times New Roman"/>
              </a:rPr>
              <a:t>8</a:t>
            </a:fld>
            <a:endParaRPr lang="en-US" sz="1400" b="0" strike="noStrike" spc="-1">
              <a:latin typeface="Times New Roman"/>
            </a:endParaRPr>
          </a:p>
        </p:txBody>
      </p:sp>
    </p:spTree>
    <p:extLst>
      <p:ext uri="{BB962C8B-B14F-4D97-AF65-F5344CB8AC3E}">
        <p14:creationId xmlns:p14="http://schemas.microsoft.com/office/powerpoint/2010/main" val="3811250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PlaceHolder 1"/>
          <p:cNvSpPr>
            <a:spLocks noGrp="1" noRot="1" noChangeAspect="1"/>
          </p:cNvSpPr>
          <p:nvPr>
            <p:ph type="sldImg"/>
          </p:nvPr>
        </p:nvSpPr>
        <p:spPr>
          <a:xfrm>
            <a:off x="217488" y="812800"/>
            <a:ext cx="7123112" cy="4006850"/>
          </a:xfrm>
          <a:prstGeom prst="rect">
            <a:avLst/>
          </a:prstGeom>
        </p:spPr>
      </p:sp>
      <p:sp>
        <p:nvSpPr>
          <p:cNvPr id="295" name="PlaceHolder 2"/>
          <p:cNvSpPr>
            <a:spLocks noGrp="1"/>
          </p:cNvSpPr>
          <p:nvPr>
            <p:ph type="body"/>
          </p:nvPr>
        </p:nvSpPr>
        <p:spPr>
          <a:xfrm>
            <a:off x="756000" y="5078520"/>
            <a:ext cx="6046560" cy="4809960"/>
          </a:xfrm>
          <a:prstGeom prst="rect">
            <a:avLst/>
          </a:prstGeom>
        </p:spPr>
        <p:txBody>
          <a:bodyPr lIns="0" tIns="0" rIns="0" bIns="0">
            <a:noAutofit/>
          </a:bodyPr>
          <a:lstStyle/>
          <a:p>
            <a:pPr marL="216000" indent="-215280">
              <a:lnSpc>
                <a:spcPct val="100000"/>
              </a:lnSpc>
            </a:pPr>
            <a:r>
              <a:rPr lang="en-US" sz="2000" b="0" strike="noStrike" spc="-1">
                <a:solidFill>
                  <a:srgbClr val="000000"/>
                </a:solidFill>
                <a:latin typeface="Arial"/>
              </a:rPr>
              <a:t>While a monolithic application is a single unified unit, a microservices architecture breaks it down into a collection of smaller independent units. These units carry out every application process as a separate service. So all the services have their own logic and the database as well as perform the specific functions.</a:t>
            </a:r>
            <a:endParaRPr lang="en-US" sz="2000" b="0" strike="noStrike" spc="-1">
              <a:latin typeface="Arial"/>
            </a:endParaRPr>
          </a:p>
          <a:p>
            <a:pPr marL="216000" indent="-215280">
              <a:lnSpc>
                <a:spcPct val="100000"/>
              </a:lnSpc>
            </a:pPr>
            <a:r>
              <a:rPr lang="en-US" sz="2000" b="0" strike="noStrike" spc="-1">
                <a:solidFill>
                  <a:srgbClr val="000000"/>
                </a:solidFill>
                <a:latin typeface="Arial"/>
              </a:rPr>
              <a:t>Within a microservices architecture, the entire functionality is split up into independently deployable modules which communicate with each other through defined methods called APIs (Application Programming Interfaces). Each service covers its own scope and can be updated, deployed, and scaled independently.</a:t>
            </a:r>
            <a:endParaRPr lang="en-US" sz="2000" b="0" strike="noStrike" spc="-1">
              <a:latin typeface="Arial"/>
            </a:endParaRPr>
          </a:p>
          <a:p>
            <a:pPr marL="216000" indent="-215280">
              <a:lnSpc>
                <a:spcPct val="100000"/>
              </a:lnSpc>
            </a:pPr>
            <a:endParaRPr lang="en-US" sz="2000" b="0" strike="noStrike" spc="-1">
              <a:latin typeface="Arial"/>
            </a:endParaRPr>
          </a:p>
        </p:txBody>
      </p:sp>
      <p:sp>
        <p:nvSpPr>
          <p:cNvPr id="296" name="CustomShape 3"/>
          <p:cNvSpPr/>
          <p:nvPr/>
        </p:nvSpPr>
        <p:spPr>
          <a:xfrm>
            <a:off x="4278960" y="10157400"/>
            <a:ext cx="3279600" cy="533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7578BBFE-5263-4928-B8CE-3098956BA090}" type="slidenum">
              <a:rPr lang="en-US" sz="1400" b="0" strike="noStrike" spc="-1">
                <a:solidFill>
                  <a:srgbClr val="000000"/>
                </a:solidFill>
                <a:latin typeface="Times New Roman"/>
                <a:ea typeface="+mn-ea"/>
              </a:rPr>
              <a:t>10</a:t>
            </a:fld>
            <a:endParaRPr lang="en-US" sz="1400" b="0" strike="noStrike" spc="-1">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PlaceHolder 1"/>
          <p:cNvSpPr>
            <a:spLocks noGrp="1" noRot="1" noChangeAspect="1"/>
          </p:cNvSpPr>
          <p:nvPr>
            <p:ph type="sldImg"/>
          </p:nvPr>
        </p:nvSpPr>
        <p:spPr>
          <a:xfrm>
            <a:off x="382588" y="695325"/>
            <a:ext cx="6089650" cy="3425825"/>
          </a:xfrm>
          <a:prstGeom prst="rect">
            <a:avLst/>
          </a:prstGeom>
        </p:spPr>
      </p:sp>
      <p:sp>
        <p:nvSpPr>
          <p:cNvPr id="298" name="PlaceHolder 2"/>
          <p:cNvSpPr>
            <a:spLocks noGrp="1"/>
          </p:cNvSpPr>
          <p:nvPr>
            <p:ph type="body"/>
          </p:nvPr>
        </p:nvSpPr>
        <p:spPr>
          <a:xfrm>
            <a:off x="685800" y="4343400"/>
            <a:ext cx="5484240" cy="5098320"/>
          </a:xfrm>
          <a:prstGeom prst="rect">
            <a:avLst/>
          </a:prstGeom>
        </p:spPr>
        <p:txBody>
          <a:bodyPr lIns="0" tIns="0" rIns="0" bIns="0">
            <a:noAutofit/>
          </a:bodyPr>
          <a:lstStyle/>
          <a:p>
            <a:pPr marL="216000" indent="-214560">
              <a:lnSpc>
                <a:spcPct val="100000"/>
              </a:lnSpc>
            </a:pPr>
            <a:r>
              <a:rPr lang="en-US" sz="2000" b="0" strike="noStrike" spc="-1">
                <a:latin typeface="Arial"/>
              </a:rPr>
              <a:t>With microservices, we are also able to adopt technology more quickly, and understand</a:t>
            </a:r>
          </a:p>
          <a:p>
            <a:pPr marL="216000" indent="-214560">
              <a:lnSpc>
                <a:spcPct val="100000"/>
              </a:lnSpc>
            </a:pPr>
            <a:r>
              <a:rPr lang="en-US" sz="2000" b="0" strike="noStrike" spc="-1">
                <a:latin typeface="Arial"/>
              </a:rPr>
              <a:t>how new advancements may help us. One of the biggest barriers to trying out and</a:t>
            </a:r>
          </a:p>
          <a:p>
            <a:pPr marL="216000" indent="-214560">
              <a:lnSpc>
                <a:spcPct val="100000"/>
              </a:lnSpc>
            </a:pPr>
            <a:r>
              <a:rPr lang="en-US" sz="2000" b="0" strike="noStrike" spc="-1">
                <a:latin typeface="Arial"/>
              </a:rPr>
              <a:t>adopting new technology is the risks associated with it. With a monolithic application, if I</a:t>
            </a:r>
          </a:p>
          <a:p>
            <a:pPr marL="216000" indent="-214560">
              <a:lnSpc>
                <a:spcPct val="100000"/>
              </a:lnSpc>
            </a:pPr>
            <a:r>
              <a:rPr lang="en-US" sz="2000" b="0" strike="noStrike" spc="-1">
                <a:latin typeface="Arial"/>
              </a:rPr>
              <a:t>want to try a new programming language, database, or framework, any change will impact</a:t>
            </a:r>
          </a:p>
          <a:p>
            <a:pPr marL="216000" indent="-214560">
              <a:lnSpc>
                <a:spcPct val="100000"/>
              </a:lnSpc>
            </a:pPr>
            <a:r>
              <a:rPr lang="en-US" sz="2000" b="0" strike="noStrike" spc="-1">
                <a:latin typeface="Arial"/>
              </a:rPr>
              <a:t>a large amount of my system. With a system consisting of multiple services, I have</a:t>
            </a:r>
          </a:p>
          <a:p>
            <a:pPr marL="216000" indent="-214560">
              <a:lnSpc>
                <a:spcPct val="100000"/>
              </a:lnSpc>
            </a:pPr>
            <a:r>
              <a:rPr lang="en-US" sz="2000" b="0" strike="noStrike" spc="-1">
                <a:latin typeface="Arial"/>
              </a:rPr>
              <a:t>multiple new places in which to try out a new piece of technology. I can pick a service that</a:t>
            </a:r>
          </a:p>
          <a:p>
            <a:pPr marL="216000" indent="-214560">
              <a:lnSpc>
                <a:spcPct val="100000"/>
              </a:lnSpc>
            </a:pPr>
            <a:r>
              <a:rPr lang="en-US" sz="2000" b="0" strike="noStrike" spc="-1">
                <a:latin typeface="Arial"/>
              </a:rPr>
              <a:t>is perhaps lowest risk and use the technology there, knowing that I can limit any potential</a:t>
            </a:r>
          </a:p>
          <a:p>
            <a:pPr marL="216000" indent="-214560">
              <a:lnSpc>
                <a:spcPct val="100000"/>
              </a:lnSpc>
            </a:pPr>
            <a:r>
              <a:rPr lang="en-US" sz="2000" b="0" strike="noStrike" spc="-1">
                <a:latin typeface="Arial"/>
              </a:rPr>
              <a:t>negative impact. Many organizations find this ability to more quickly absorb new</a:t>
            </a:r>
          </a:p>
          <a:p>
            <a:pPr marL="216000" indent="-214560">
              <a:lnSpc>
                <a:spcPct val="100000"/>
              </a:lnSpc>
            </a:pPr>
            <a:r>
              <a:rPr lang="en-US" sz="2000" b="0" strike="noStrike" spc="-1">
                <a:latin typeface="Arial"/>
              </a:rPr>
              <a:t>technologies to be a real advantage for them.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noRot="1" noChangeAspect="1"/>
          </p:cNvSpPr>
          <p:nvPr>
            <p:ph type="sldImg"/>
          </p:nvPr>
        </p:nvSpPr>
        <p:spPr>
          <a:xfrm>
            <a:off x="217488" y="812800"/>
            <a:ext cx="7123112" cy="4006850"/>
          </a:xfrm>
          <a:prstGeom prst="rect">
            <a:avLst/>
          </a:prstGeom>
        </p:spPr>
      </p:sp>
      <p:sp>
        <p:nvSpPr>
          <p:cNvPr id="300" name="PlaceHolder 2"/>
          <p:cNvSpPr>
            <a:spLocks noGrp="1"/>
          </p:cNvSpPr>
          <p:nvPr>
            <p:ph type="body"/>
          </p:nvPr>
        </p:nvSpPr>
        <p:spPr>
          <a:xfrm>
            <a:off x="756000" y="5078520"/>
            <a:ext cx="6046560" cy="4809960"/>
          </a:xfrm>
          <a:prstGeom prst="rect">
            <a:avLst/>
          </a:prstGeom>
        </p:spPr>
        <p:txBody>
          <a:bodyPr lIns="0" tIns="0" rIns="0" bIns="0">
            <a:noAutofit/>
          </a:bodyPr>
          <a:lstStyle/>
          <a:p>
            <a:pPr marL="216000" indent="-215280">
              <a:lnSpc>
                <a:spcPct val="100000"/>
              </a:lnSpc>
            </a:pPr>
            <a:r>
              <a:rPr lang="en-US" sz="1200" b="0" strike="noStrike" spc="-1">
                <a:solidFill>
                  <a:srgbClr val="000000"/>
                </a:solidFill>
                <a:latin typeface="Arial"/>
                <a:ea typeface="DejaVu Sans"/>
              </a:rPr>
              <a:t>With microservices, we can make a change to a single service and deploy it independently</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of the rest of the system. This allows us to get our code deployed faster. If a</a:t>
            </a:r>
            <a:r>
              <a:rPr lang="uk-UA" sz="1200" b="0" strike="noStrike" spc="-1">
                <a:solidFill>
                  <a:srgbClr val="000000"/>
                </a:solidFill>
                <a:latin typeface="Arial"/>
                <a:ea typeface="DejaVu Sans"/>
              </a:rPr>
              <a:t> </a:t>
            </a:r>
            <a:r>
              <a:rPr lang="en-US" sz="1200" b="0" strike="noStrike" spc="-1">
                <a:solidFill>
                  <a:srgbClr val="000000"/>
                </a:solidFill>
                <a:latin typeface="Arial"/>
                <a:ea typeface="DejaVu Sans"/>
              </a:rPr>
              <a:t>problem does</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occur, it can be isolated quickly to an individual service, making fast rollback easy to</a:t>
            </a:r>
            <a:r>
              <a:rPr lang="uk-UA" sz="1200" b="0" strike="noStrike" spc="-1">
                <a:solidFill>
                  <a:srgbClr val="000000"/>
                </a:solidFill>
                <a:latin typeface="Arial"/>
                <a:ea typeface="+mn-ea"/>
              </a:rPr>
              <a:t> </a:t>
            </a:r>
            <a:r>
              <a:rPr lang="en-US" sz="1200" b="0" strike="noStrike" spc="-1">
                <a:solidFill>
                  <a:srgbClr val="000000"/>
                </a:solidFill>
                <a:latin typeface="Arial"/>
                <a:ea typeface="DejaVu Sans"/>
              </a:rPr>
              <a:t>achieve.</a:t>
            </a:r>
            <a:endParaRPr lang="en-US" sz="1200" b="0" strike="noStrike" spc="-1">
              <a:latin typeface="Arial"/>
            </a:endParaRPr>
          </a:p>
          <a:p>
            <a:pPr marL="216000" indent="-215280">
              <a:lnSpc>
                <a:spcPct val="100000"/>
              </a:lnSpc>
            </a:pPr>
            <a:endParaRPr lang="en-US" sz="1200" b="0" strike="noStrike" spc="-1">
              <a:latin typeface="Arial"/>
            </a:endParaRPr>
          </a:p>
        </p:txBody>
      </p:sp>
      <p:sp>
        <p:nvSpPr>
          <p:cNvPr id="301" name="CustomShape 3"/>
          <p:cNvSpPr/>
          <p:nvPr/>
        </p:nvSpPr>
        <p:spPr>
          <a:xfrm>
            <a:off x="4278960" y="10157400"/>
            <a:ext cx="3279600" cy="53316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E54069D2-308C-4281-BA2A-1A6AAD0684BD}" type="slidenum">
              <a:rPr lang="en-US" sz="1400" b="0" strike="noStrike" spc="-1">
                <a:solidFill>
                  <a:srgbClr val="000000"/>
                </a:solidFill>
                <a:latin typeface="Times New Roman"/>
                <a:ea typeface="+mn-ea"/>
              </a:rPr>
              <a:t>13</a:t>
            </a:fld>
            <a:endParaRPr lang="en-US" sz="1400" b="0" strike="noStrike" spc="-1">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laceHolder 1"/>
          <p:cNvSpPr>
            <a:spLocks noGrp="1" noRot="1" noChangeAspect="1"/>
          </p:cNvSpPr>
          <p:nvPr>
            <p:ph type="sldImg"/>
          </p:nvPr>
        </p:nvSpPr>
        <p:spPr>
          <a:xfrm>
            <a:off x="217488" y="812800"/>
            <a:ext cx="7121525" cy="4005263"/>
          </a:xfrm>
          <a:prstGeom prst="rect">
            <a:avLst/>
          </a:prstGeom>
        </p:spPr>
      </p:sp>
      <p:sp>
        <p:nvSpPr>
          <p:cNvPr id="303" name="PlaceHolder 2"/>
          <p:cNvSpPr>
            <a:spLocks noGrp="1"/>
          </p:cNvSpPr>
          <p:nvPr>
            <p:ph type="body"/>
          </p:nvPr>
        </p:nvSpPr>
        <p:spPr>
          <a:xfrm>
            <a:off x="756000" y="5078520"/>
            <a:ext cx="6045120" cy="4808520"/>
          </a:xfrm>
          <a:prstGeom prst="rect">
            <a:avLst/>
          </a:prstGeom>
        </p:spPr>
        <p:txBody>
          <a:bodyPr lIns="0" tIns="0" rIns="0" bIns="0">
            <a:noAutofit/>
          </a:bodyPr>
          <a:lstStyle/>
          <a:p>
            <a:pPr marL="216000" indent="-215640" algn="just">
              <a:lnSpc>
                <a:spcPct val="100000"/>
              </a:lnSpc>
            </a:pPr>
            <a:r>
              <a:rPr lang="en-US" sz="1800" b="0" strike="noStrike" spc="-1">
                <a:solidFill>
                  <a:srgbClr val="FFFFFF"/>
                </a:solidFill>
                <a:latin typeface="Arial"/>
                <a:ea typeface="DejaVu Sans"/>
              </a:rPr>
              <a:t>Rather than renting a server for your application, setting up the environment, and deploying it, you upload your application to your serverless provider, which takes care of assigning servers, storage, application handling, setup, and execution. </a:t>
            </a:r>
            <a:endParaRPr lang="en-US" sz="1800" b="0" strike="noStrike" spc="-1">
              <a:latin typeface="Arial"/>
            </a:endParaRPr>
          </a:p>
          <a:p>
            <a:pPr marL="216000" indent="-215640" algn="just">
              <a:lnSpc>
                <a:spcPct val="100000"/>
              </a:lnSpc>
            </a:pPr>
            <a:r>
              <a:rPr lang="en-US" sz="1800" b="0" strike="noStrike" spc="-1">
                <a:solidFill>
                  <a:srgbClr val="FFFFFF"/>
                </a:solidFill>
                <a:latin typeface="Arial"/>
                <a:ea typeface="DejaVu Sans"/>
              </a:rPr>
              <a:t>More precisely, the provider stores your application inside a certain container. The</a:t>
            </a:r>
            <a:r>
              <a:rPr lang="uk-UA" sz="1800" b="0" strike="noStrike" spc="-1">
                <a:solidFill>
                  <a:srgbClr val="FFFFFF"/>
                </a:solidFill>
                <a:latin typeface="Arial"/>
                <a:ea typeface="DejaVu Sans"/>
              </a:rPr>
              <a:t> </a:t>
            </a:r>
            <a:r>
              <a:rPr lang="en-US" sz="1800" b="0" strike="noStrike" spc="-1">
                <a:solidFill>
                  <a:srgbClr val="FFFFFF"/>
                </a:solidFill>
                <a:latin typeface="Arial"/>
                <a:ea typeface="DejaVu Sans"/>
              </a:rPr>
              <a:t>container represents an isolated environment that contains everything your application needs to run.</a:t>
            </a:r>
            <a:endParaRPr lang="en-US" sz="1800" b="0" strike="noStrike" spc="-1">
              <a:latin typeface="Arial"/>
            </a:endParaRPr>
          </a:p>
          <a:p>
            <a:pPr marL="216000" indent="-215640">
              <a:lnSpc>
                <a:spcPct val="100000"/>
              </a:lnSpc>
            </a:pPr>
            <a:r>
              <a:rPr lang="en-US" sz="1800" b="0" strike="noStrike" spc="-1">
                <a:solidFill>
                  <a:srgbClr val="FFFFFF"/>
                </a:solidFill>
                <a:latin typeface="Arial"/>
                <a:ea typeface="DejaVu Sans"/>
              </a:rPr>
              <a:t>Finally, serverless providers offer various triggers that can run your functions. The</a:t>
            </a:r>
            <a:r>
              <a:rPr lang="uk-UA" sz="1800" b="0" strike="noStrike" spc="-1">
                <a:solidFill>
                  <a:srgbClr val="FFFFFF"/>
                </a:solidFill>
                <a:latin typeface="Arial"/>
                <a:ea typeface="DejaVu Sans"/>
              </a:rPr>
              <a:t> </a:t>
            </a:r>
            <a:r>
              <a:rPr lang="en-US" sz="1800" b="0" strike="noStrike" spc="-1">
                <a:solidFill>
                  <a:srgbClr val="FFFFFF"/>
                </a:solidFill>
                <a:latin typeface="Arial"/>
                <a:ea typeface="DejaVu Sans"/>
              </a:rPr>
              <a:t>list of triggers</a:t>
            </a:r>
            <a:r>
              <a:rPr lang="uk-UA" sz="1800" b="0" strike="noStrike" spc="-1">
                <a:solidFill>
                  <a:srgbClr val="FFFFFF"/>
                </a:solidFill>
                <a:latin typeface="Arial"/>
                <a:ea typeface="DejaVu Sans"/>
              </a:rPr>
              <a:t> </a:t>
            </a:r>
            <a:r>
              <a:rPr lang="en-US" sz="1800" b="0" strike="noStrike" spc="-1">
                <a:solidFill>
                  <a:srgbClr val="FFFFFF"/>
                </a:solidFill>
                <a:latin typeface="Arial"/>
                <a:ea typeface="DejaVu Sans"/>
              </a:rPr>
              <a:t>depends on the provider and implementation, but some of the most</a:t>
            </a:r>
            <a:r>
              <a:rPr lang="uk-UA" sz="1800" b="0" strike="noStrike" spc="-1">
                <a:solidFill>
                  <a:srgbClr val="FFFFFF"/>
                </a:solidFill>
                <a:latin typeface="Arial"/>
                <a:ea typeface="DejaVu Sans"/>
              </a:rPr>
              <a:t> </a:t>
            </a:r>
            <a:r>
              <a:rPr lang="en-US" sz="1800" b="0" strike="noStrike" spc="-1">
                <a:solidFill>
                  <a:srgbClr val="FFFFFF"/>
                </a:solidFill>
                <a:latin typeface="Arial"/>
                <a:ea typeface="DejaVu Sans"/>
              </a:rPr>
              <a:t>common triggers are HTTP</a:t>
            </a:r>
            <a:r>
              <a:rPr lang="uk-UA" sz="1800" b="0" strike="noStrike" spc="-1">
                <a:solidFill>
                  <a:srgbClr val="FFFFFF"/>
                </a:solidFill>
                <a:latin typeface="Arial"/>
                <a:ea typeface="DejaVu Sans"/>
              </a:rPr>
              <a:t> </a:t>
            </a:r>
            <a:r>
              <a:rPr lang="en-US" sz="1800" b="0" strike="noStrike" spc="-1">
                <a:solidFill>
                  <a:srgbClr val="FFFFFF"/>
                </a:solidFill>
                <a:latin typeface="Arial"/>
                <a:ea typeface="DejaVu Sans"/>
              </a:rPr>
              <a:t>requests, file uploads to file storage, database updates, and</a:t>
            </a:r>
            <a:r>
              <a:rPr lang="uk-UA" sz="1800" b="0" strike="noStrike" spc="-1">
                <a:solidFill>
                  <a:srgbClr val="FFFFFF"/>
                </a:solidFill>
                <a:latin typeface="Arial"/>
                <a:ea typeface="DejaVu Sans"/>
              </a:rPr>
              <a:t> </a:t>
            </a:r>
            <a:r>
              <a:rPr lang="en-US" sz="1800" b="0" strike="noStrike" spc="-1">
                <a:solidFill>
                  <a:srgbClr val="FFFFFF"/>
                </a:solidFill>
                <a:latin typeface="Arial"/>
                <a:ea typeface="DejaVu Sans"/>
              </a:rPr>
              <a:t>Internet of Things (IoT) events. There are </a:t>
            </a:r>
            <a:endParaRPr lang="en-US" sz="1800" b="0" strike="noStrike" spc="-1">
              <a:latin typeface="Arial"/>
            </a:endParaRPr>
          </a:p>
          <a:p>
            <a:pPr marL="216000" indent="-215640">
              <a:lnSpc>
                <a:spcPct val="100000"/>
              </a:lnSpc>
            </a:pPr>
            <a:r>
              <a:rPr lang="en-US" sz="1800" b="0" strike="noStrike" spc="-1">
                <a:solidFill>
                  <a:srgbClr val="FFFFFF"/>
                </a:solidFill>
                <a:latin typeface="Arial"/>
                <a:ea typeface="DejaVu Sans"/>
              </a:rPr>
              <a:t>many more.</a:t>
            </a:r>
            <a:endParaRPr lang="en-US" sz="1800" b="0" strike="noStrike" spc="-1">
              <a:latin typeface="Arial"/>
            </a:endParaRPr>
          </a:p>
        </p:txBody>
      </p:sp>
      <p:sp>
        <p:nvSpPr>
          <p:cNvPr id="304" name="CustomShape 3"/>
          <p:cNvSpPr/>
          <p:nvPr/>
        </p:nvSpPr>
        <p:spPr>
          <a:xfrm>
            <a:off x="4278960" y="10157400"/>
            <a:ext cx="3278160" cy="531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gn="r">
              <a:lnSpc>
                <a:spcPct val="100000"/>
              </a:lnSpc>
            </a:pPr>
            <a:fld id="{229B1746-53AD-4240-9837-C95EBF6E1CE1}" type="slidenum">
              <a:rPr lang="en-US" sz="1400" b="0" strike="noStrike" spc="-1">
                <a:solidFill>
                  <a:srgbClr val="000000"/>
                </a:solidFill>
                <a:latin typeface="Times New Roman"/>
                <a:ea typeface="+mn-ea"/>
              </a:rPr>
              <a:t>14</a:t>
            </a:fld>
            <a:endParaRPr lang="en-US" sz="14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5"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7"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4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0"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5"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6"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5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0"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4"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6"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67"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69"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1"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2"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74"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5"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6"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77"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4"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8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1"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9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9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9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9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9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0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0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0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1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1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1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1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1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1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6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6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7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7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7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7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18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8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18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19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endParaRPr lang="en-US" sz="4400" b="0" strike="noStrike" spc="-1">
              <a:latin typeface="Arial"/>
            </a:endParaRPr>
          </a:p>
        </p:txBody>
      </p:sp>
      <p:sp>
        <p:nvSpPr>
          <p:cNvPr id="19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19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19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19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w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w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4" name="Picture 8"/>
          <p:cNvPicPr/>
          <p:nvPr/>
        </p:nvPicPr>
        <p:blipFill>
          <a:blip r:embed="rId14"/>
          <a:stretch/>
        </p:blipFill>
        <p:spPr>
          <a:xfrm>
            <a:off x="9959040" y="5906880"/>
            <a:ext cx="1542240" cy="260640"/>
          </a:xfrm>
          <a:prstGeom prst="rect">
            <a:avLst/>
          </a:prstGeom>
          <a:ln>
            <a:noFill/>
          </a:ln>
        </p:spPr>
      </p:pic>
      <p:pic>
        <p:nvPicPr>
          <p:cNvPr id="5" name="Picture 7"/>
          <p:cNvPicPr/>
          <p:nvPr/>
        </p:nvPicPr>
        <p:blipFill>
          <a:blip r:embed="rId14"/>
          <a:stretch/>
        </p:blipFill>
        <p:spPr>
          <a:xfrm>
            <a:off x="9959040" y="5906880"/>
            <a:ext cx="1542240" cy="260640"/>
          </a:xfrm>
          <a:prstGeom prst="rect">
            <a:avLst/>
          </a:prstGeom>
          <a:ln>
            <a:noFill/>
          </a:ln>
        </p:spPr>
      </p:pic>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40" name="Picture 8"/>
          <p:cNvPicPr/>
          <p:nvPr/>
        </p:nvPicPr>
        <p:blipFill>
          <a:blip r:embed="rId14"/>
          <a:stretch/>
        </p:blipFill>
        <p:spPr>
          <a:xfrm>
            <a:off x="9959040" y="5906880"/>
            <a:ext cx="1542240" cy="260640"/>
          </a:xfrm>
          <a:prstGeom prst="rect">
            <a:avLst/>
          </a:prstGeom>
          <a:ln>
            <a:noFill/>
          </a:ln>
        </p:spPr>
      </p:pic>
      <p:pic>
        <p:nvPicPr>
          <p:cNvPr id="41" name="Picture 7"/>
          <p:cNvPicPr/>
          <p:nvPr/>
        </p:nvPicPr>
        <p:blipFill>
          <a:blip r:embed="rId14"/>
          <a:stretch/>
        </p:blipFill>
        <p:spPr>
          <a:xfrm>
            <a:off x="9959040" y="5906880"/>
            <a:ext cx="1542240" cy="260640"/>
          </a:xfrm>
          <a:prstGeom prst="rect">
            <a:avLst/>
          </a:prstGeom>
          <a:ln>
            <a:noFill/>
          </a:ln>
        </p:spPr>
      </p:pic>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8F2585"/>
            </a:gs>
            <a:gs pos="100000">
              <a:srgbClr val="F26D26"/>
            </a:gs>
          </a:gsLst>
          <a:lin ang="10800000"/>
        </a:gradFill>
        <a:effectLst/>
      </p:bgPr>
    </p:bg>
    <p:spTree>
      <p:nvGrpSpPr>
        <p:cNvPr id="1" name=""/>
        <p:cNvGrpSpPr/>
        <p:nvPr/>
      </p:nvGrpSpPr>
      <p:grpSpPr>
        <a:xfrm>
          <a:off x="0" y="0"/>
          <a:ext cx="0" cy="0"/>
          <a:chOff x="0" y="0"/>
          <a:chExt cx="0" cy="0"/>
        </a:xfrm>
      </p:grpSpPr>
      <p:pic>
        <p:nvPicPr>
          <p:cNvPr id="80" name="Picture 8"/>
          <p:cNvPicPr/>
          <p:nvPr/>
        </p:nvPicPr>
        <p:blipFill>
          <a:blip r:embed="rId14"/>
          <a:stretch/>
        </p:blipFill>
        <p:spPr>
          <a:xfrm>
            <a:off x="9959040" y="5906880"/>
            <a:ext cx="1542240" cy="260640"/>
          </a:xfrm>
          <a:prstGeom prst="rect">
            <a:avLst/>
          </a:prstGeom>
          <a:ln>
            <a:noFill/>
          </a:ln>
        </p:spPr>
      </p:pic>
      <p:sp>
        <p:nvSpPr>
          <p:cNvPr id="81" name="PlaceHolder 1"/>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82"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58" name="Picture 8"/>
          <p:cNvPicPr/>
          <p:nvPr/>
        </p:nvPicPr>
        <p:blipFill>
          <a:blip r:embed="rId14"/>
          <a:stretch/>
        </p:blipFill>
        <p:spPr>
          <a:xfrm>
            <a:off x="9959040" y="5906880"/>
            <a:ext cx="1542240" cy="260640"/>
          </a:xfrm>
          <a:prstGeom prst="rect">
            <a:avLst/>
          </a:prstGeom>
          <a:ln>
            <a:noFill/>
          </a:ln>
        </p:spPr>
      </p:pic>
      <p:sp>
        <p:nvSpPr>
          <p:cNvPr id="159" name="CustomShape 1"/>
          <p:cNvSpPr/>
          <p:nvPr/>
        </p:nvSpPr>
        <p:spPr>
          <a:xfrm>
            <a:off x="9487080" y="236880"/>
            <a:ext cx="2116800" cy="257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pPr>
            <a:r>
              <a:rPr lang="en-US" sz="1100" b="0" strike="noStrike" spc="-1">
                <a:solidFill>
                  <a:srgbClr val="000000"/>
                </a:solidFill>
                <a:latin typeface="Open Sans Regular"/>
                <a:ea typeface="Open Sans Regular"/>
              </a:rPr>
              <a:t>SoftServe Confidential</a:t>
            </a:r>
            <a:endParaRPr lang="en-US" sz="1100" b="0" strike="noStrike" spc="-1">
              <a:latin typeface="Arial"/>
            </a:endParaRPr>
          </a:p>
        </p:txBody>
      </p:sp>
      <p:sp>
        <p:nvSpPr>
          <p:cNvPr id="160" name="PlaceHolder 2"/>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161" name="PlaceHolder 3"/>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FFFFFF"/>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FFFFFF"/>
              </a:buClr>
              <a:buSzPct val="75000"/>
              <a:buFont typeface="Symbol" charset="2"/>
              <a:buChar char=""/>
            </a:pPr>
            <a:r>
              <a:rPr lang="en-US" sz="2800" b="0" strike="noStrike" spc="-1">
                <a:latin typeface="Arial"/>
              </a:rPr>
              <a:t>Second Outline Level</a:t>
            </a:r>
          </a:p>
          <a:p>
            <a:pPr marL="1296000" lvl="2" indent="-288000">
              <a:spcBef>
                <a:spcPts val="850"/>
              </a:spcBef>
              <a:buClr>
                <a:srgbClr val="FFFFFF"/>
              </a:buClr>
              <a:buSzPct val="45000"/>
              <a:buFont typeface="Wingdings" charset="2"/>
              <a:buChar char=""/>
            </a:pPr>
            <a:r>
              <a:rPr lang="en-US" sz="2400" b="0" strike="noStrike" spc="-1">
                <a:latin typeface="Arial"/>
              </a:rPr>
              <a:t>Third Outline Level</a:t>
            </a:r>
          </a:p>
          <a:p>
            <a:pPr marL="1728000" lvl="3" indent="-216000">
              <a:spcBef>
                <a:spcPts val="567"/>
              </a:spcBef>
              <a:buClr>
                <a:srgbClr val="FFFFFF"/>
              </a:buClr>
              <a:buSzPct val="75000"/>
              <a:buFont typeface="Symbol" charset="2"/>
              <a:buChar char=""/>
            </a:pPr>
            <a:r>
              <a:rPr lang="en-US" sz="2000" b="0" strike="noStrike" spc="-1">
                <a:latin typeface="Arial"/>
              </a:rPr>
              <a:t>Fourth Outline Level</a:t>
            </a:r>
          </a:p>
          <a:p>
            <a:pPr marL="2160000" lvl="4" indent="-216000">
              <a:spcBef>
                <a:spcPts val="283"/>
              </a:spcBef>
              <a:buClr>
                <a:srgbClr val="FFFFFF"/>
              </a:buClr>
              <a:buSzPct val="45000"/>
              <a:buFont typeface="Wingdings" charset="2"/>
              <a:buChar char=""/>
            </a:pPr>
            <a:r>
              <a:rPr lang="en-US" sz="2000" b="0" strike="noStrike" spc="-1">
                <a:latin typeface="Arial"/>
              </a:rPr>
              <a:t>Fifth Outline Level</a:t>
            </a:r>
          </a:p>
          <a:p>
            <a:pPr marL="2592000" lvl="5" indent="-216000">
              <a:spcBef>
                <a:spcPts val="283"/>
              </a:spcBef>
              <a:buClr>
                <a:srgbClr val="FFFFFF"/>
              </a:buClr>
              <a:buSzPct val="45000"/>
              <a:buFont typeface="Wingdings" charset="2"/>
              <a:buChar char=""/>
            </a:pPr>
            <a:r>
              <a:rPr lang="en-US" sz="2000" b="0" strike="noStrike" spc="-1">
                <a:latin typeface="Arial"/>
              </a:rPr>
              <a:t>Sixth Outline Level</a:t>
            </a:r>
          </a:p>
          <a:p>
            <a:pPr marL="3024000" lvl="6" indent="-216000">
              <a:spcBef>
                <a:spcPts val="283"/>
              </a:spcBef>
              <a:buClr>
                <a:srgbClr val="FFFFFF"/>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5.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5.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CustomShape 1"/>
          <p:cNvSpPr/>
          <p:nvPr/>
        </p:nvSpPr>
        <p:spPr>
          <a:xfrm>
            <a:off x="685800" y="5915160"/>
            <a:ext cx="3462480" cy="290520"/>
          </a:xfrm>
          <a:prstGeom prst="rect">
            <a:avLst/>
          </a:prstGeom>
          <a:noFill/>
          <a:ln>
            <a:noFill/>
          </a:ln>
        </p:spPr>
        <p:style>
          <a:lnRef idx="0">
            <a:scrgbClr r="0" g="0" b="0"/>
          </a:lnRef>
          <a:fillRef idx="0">
            <a:scrgbClr r="0" g="0" b="0"/>
          </a:fillRef>
          <a:effectRef idx="0">
            <a:scrgbClr r="0" g="0" b="0"/>
          </a:effectRef>
          <a:fontRef idx="minor"/>
        </p:style>
      </p:sp>
      <p:sp>
        <p:nvSpPr>
          <p:cNvPr id="205" name="CustomShape 2"/>
          <p:cNvSpPr/>
          <p:nvPr/>
        </p:nvSpPr>
        <p:spPr>
          <a:xfrm>
            <a:off x="199440" y="329760"/>
            <a:ext cx="12386160" cy="66783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100000"/>
              </a:lnSpc>
            </a:pPr>
            <a:r>
              <a:rPr lang="en-US" sz="6600" b="0" strike="noStrike" spc="-1">
                <a:solidFill>
                  <a:srgbClr val="FFFFFF"/>
                </a:solidFill>
                <a:latin typeface="Arial"/>
                <a:ea typeface="DejaVu Sans"/>
              </a:rPr>
              <a:t>Memory management. </a:t>
            </a:r>
            <a:endParaRPr lang="en-US" sz="6600" b="0" strike="noStrike" spc="-1">
              <a:latin typeface="Arial"/>
            </a:endParaRPr>
          </a:p>
          <a:p>
            <a:pPr>
              <a:lnSpc>
                <a:spcPct val="100000"/>
              </a:lnSpc>
            </a:pPr>
            <a:r>
              <a:rPr lang="en-US" sz="6600" b="0" strike="noStrike" spc="-1">
                <a:solidFill>
                  <a:srgbClr val="FFFFFF"/>
                </a:solidFill>
                <a:latin typeface="Arial"/>
                <a:ea typeface="DejaVu Sans"/>
              </a:rPr>
              <a:t>Garbage collection.</a:t>
            </a:r>
            <a:endParaRPr lang="en-US" sz="66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TextShape 1"/>
          <p:cNvSpPr txBox="1"/>
          <p:nvPr/>
        </p:nvSpPr>
        <p:spPr>
          <a:xfrm>
            <a:off x="457200" y="640080"/>
            <a:ext cx="11565360" cy="525600"/>
          </a:xfrm>
          <a:prstGeom prst="rect">
            <a:avLst/>
          </a:prstGeom>
          <a:noFill/>
          <a:ln>
            <a:noFill/>
          </a:ln>
        </p:spPr>
        <p:txBody>
          <a:bodyPr lIns="90000" tIns="45000" rIns="90000" bIns="45000">
            <a:noAutofit/>
          </a:bodyPr>
          <a:lstStyle/>
          <a:p>
            <a:pPr>
              <a:lnSpc>
                <a:spcPct val="90000"/>
              </a:lnSpc>
            </a:pPr>
            <a:r>
              <a:rPr lang="en-US" sz="3600" b="1" strike="noStrike" spc="-1" dirty="0">
                <a:solidFill>
                  <a:schemeClr val="bg1"/>
                </a:solidFill>
                <a:latin typeface="Proxima Nova Black"/>
              </a:rPr>
              <a:t>Main concepts</a:t>
            </a:r>
            <a:endParaRPr lang="en-US" sz="3600" b="0" strike="noStrike" spc="-1" dirty="0">
              <a:solidFill>
                <a:schemeClr val="bg1"/>
              </a:solidFill>
              <a:latin typeface="Arial"/>
            </a:endParaRPr>
          </a:p>
        </p:txBody>
      </p:sp>
      <p:sp>
        <p:nvSpPr>
          <p:cNvPr id="207" name="TextShape 2"/>
          <p:cNvSpPr txBox="1"/>
          <p:nvPr/>
        </p:nvSpPr>
        <p:spPr>
          <a:xfrm>
            <a:off x="471540" y="1463040"/>
            <a:ext cx="11248920" cy="3931920"/>
          </a:xfrm>
          <a:prstGeom prst="rect">
            <a:avLst/>
          </a:prstGeom>
          <a:noFill/>
          <a:ln>
            <a:noFill/>
          </a:ln>
        </p:spPr>
        <p:txBody>
          <a:bodyPr lIns="90000" tIns="45000" rIns="90000" bIns="45000">
            <a:noAutofit/>
          </a:bodyPr>
          <a:lstStyle/>
          <a:p>
            <a:pPr>
              <a:lnSpc>
                <a:spcPct val="90000"/>
              </a:lnSpc>
              <a:spcBef>
                <a:spcPts val="1001"/>
              </a:spcBef>
              <a:spcAft>
                <a:spcPts val="1199"/>
              </a:spcAft>
            </a:pPr>
            <a:r>
              <a:rPr lang="en-US" sz="2400" b="0" strike="noStrike" spc="-1" dirty="0">
                <a:solidFill>
                  <a:schemeClr val="bg1"/>
                </a:solidFill>
                <a:latin typeface="Calibri"/>
              </a:rPr>
              <a:t>Languages, like C, have low-level memory management primitives such as </a:t>
            </a:r>
            <a:r>
              <a:rPr lang="en-US" sz="2400" b="0" i="1" strike="noStrike" spc="-1" dirty="0">
                <a:solidFill>
                  <a:schemeClr val="bg1"/>
                </a:solidFill>
                <a:latin typeface="Calibri"/>
              </a:rPr>
              <a:t>malloc() </a:t>
            </a:r>
            <a:r>
              <a:rPr lang="en-US" sz="2400" b="0" strike="noStrike" spc="-1" dirty="0">
                <a:solidFill>
                  <a:schemeClr val="bg1"/>
                </a:solidFill>
                <a:latin typeface="Calibri"/>
              </a:rPr>
              <a:t>and </a:t>
            </a:r>
            <a:r>
              <a:rPr lang="en-US" sz="2400" b="0" i="1" strike="noStrike" spc="-1" dirty="0">
                <a:solidFill>
                  <a:schemeClr val="bg1"/>
                </a:solidFill>
                <a:latin typeface="Calibri"/>
              </a:rPr>
              <a:t>free()</a:t>
            </a:r>
            <a:r>
              <a:rPr lang="en-US" sz="2400" b="0" strike="noStrike" spc="-1" dirty="0">
                <a:solidFill>
                  <a:schemeClr val="bg1"/>
                </a:solidFill>
                <a:latin typeface="Calibri"/>
              </a:rPr>
              <a:t>. These primitives are used by the developer to explicitly allocate and free memory from and to the operating system.</a:t>
            </a:r>
            <a:endParaRPr lang="en-US" sz="2400" b="0" strike="noStrike" spc="-1" dirty="0">
              <a:solidFill>
                <a:schemeClr val="bg1"/>
              </a:solidFill>
              <a:latin typeface="Arial"/>
            </a:endParaRPr>
          </a:p>
          <a:p>
            <a:pPr>
              <a:lnSpc>
                <a:spcPct val="90000"/>
              </a:lnSpc>
              <a:spcBef>
                <a:spcPts val="1001"/>
              </a:spcBef>
              <a:spcAft>
                <a:spcPts val="1199"/>
              </a:spcAft>
            </a:pPr>
            <a:r>
              <a:rPr lang="en-US" sz="2400" b="0" strike="noStrike" spc="-1" dirty="0">
                <a:solidFill>
                  <a:schemeClr val="bg1"/>
                </a:solidFill>
                <a:latin typeface="Calibri"/>
              </a:rPr>
              <a:t>At the same time, JavaScript allocates memory when things (objects, functions, etc.) are created and "</a:t>
            </a:r>
            <a:r>
              <a:rPr lang="en-US" sz="2400" b="1" strike="noStrike" spc="-1" dirty="0">
                <a:solidFill>
                  <a:schemeClr val="bg1"/>
                </a:solidFill>
                <a:latin typeface="Calibri"/>
              </a:rPr>
              <a:t>automatically</a:t>
            </a:r>
            <a:r>
              <a:rPr lang="en-US" sz="2400" b="0" strike="noStrike" spc="-1" dirty="0">
                <a:solidFill>
                  <a:schemeClr val="bg1"/>
                </a:solidFill>
                <a:latin typeface="Calibri"/>
              </a:rPr>
              <a:t>" frees it up when they are not used anymore, a process called </a:t>
            </a:r>
            <a:r>
              <a:rPr lang="en-US" sz="2400" b="1" strike="noStrike" spc="-1" dirty="0">
                <a:solidFill>
                  <a:schemeClr val="bg1"/>
                </a:solidFill>
                <a:latin typeface="Calibri"/>
              </a:rPr>
              <a:t>garbage collection</a:t>
            </a:r>
            <a:r>
              <a:rPr lang="en-US" sz="2400" b="0" strike="noStrike" spc="-1" dirty="0">
                <a:solidFill>
                  <a:schemeClr val="bg1"/>
                </a:solidFill>
                <a:latin typeface="Calibri"/>
              </a:rPr>
              <a:t>. </a:t>
            </a:r>
            <a:endParaRPr lang="en-US" sz="2400" b="0" strike="noStrike" spc="-1" dirty="0">
              <a:solidFill>
                <a:schemeClr val="bg1"/>
              </a:solidFill>
              <a:latin typeface="Arial"/>
            </a:endParaRPr>
          </a:p>
          <a:p>
            <a:pPr>
              <a:lnSpc>
                <a:spcPct val="90000"/>
              </a:lnSpc>
              <a:spcBef>
                <a:spcPts val="1001"/>
              </a:spcBef>
            </a:pPr>
            <a:r>
              <a:rPr lang="en-US" sz="2400" b="0" strike="noStrike" spc="-1" dirty="0">
                <a:solidFill>
                  <a:schemeClr val="bg1"/>
                </a:solidFill>
                <a:latin typeface="Calibri"/>
              </a:rPr>
              <a:t>This seemingly "</a:t>
            </a:r>
            <a:r>
              <a:rPr lang="en-US" sz="2400" b="0" strike="noStrike" spc="-1" dirty="0" err="1">
                <a:solidFill>
                  <a:schemeClr val="bg1"/>
                </a:solidFill>
                <a:latin typeface="Calibri"/>
              </a:rPr>
              <a:t>automatical</a:t>
            </a:r>
            <a:r>
              <a:rPr lang="en-US" sz="2400" b="0" strike="noStrike" spc="-1" dirty="0">
                <a:solidFill>
                  <a:schemeClr val="bg1"/>
                </a:solidFill>
                <a:latin typeface="Calibri"/>
              </a:rPr>
              <a:t>" nature of freeing up resources is a source of confusion and gives JavaScript (and other high-level-language) developers the false impression they can choose not to care about memory management.</a:t>
            </a:r>
            <a:r>
              <a:rPr lang="en-US" sz="2400" b="1" strike="noStrike" spc="-1" dirty="0">
                <a:solidFill>
                  <a:schemeClr val="bg1"/>
                </a:solidFill>
                <a:latin typeface="Calibri"/>
              </a:rPr>
              <a:t> This is a mistake.</a:t>
            </a:r>
            <a:endParaRPr lang="en-US" sz="2400" b="0" strike="noStrike" spc="-1" dirty="0">
              <a:solidFill>
                <a:schemeClr val="bg1"/>
              </a:solidFill>
              <a:latin typeface="Arial"/>
            </a:endParaRPr>
          </a:p>
          <a:p>
            <a:pPr>
              <a:lnSpc>
                <a:spcPct val="90000"/>
              </a:lnSpc>
              <a:spcBef>
                <a:spcPts val="1001"/>
              </a:spcBef>
            </a:pPr>
            <a:endParaRPr lang="en-US" sz="2400" b="0" strike="noStrike" spc="-1" dirty="0">
              <a:latin typeface="Arial"/>
            </a:endParaRPr>
          </a:p>
          <a:p>
            <a:pPr>
              <a:lnSpc>
                <a:spcPct val="90000"/>
              </a:lnSpc>
              <a:spcBef>
                <a:spcPts val="1001"/>
              </a:spcBef>
            </a:pPr>
            <a:endParaRPr lang="en-US" sz="2400" b="0" strike="noStrike" spc="-1" dirty="0">
              <a:latin typeface="Arial"/>
            </a:endParaRPr>
          </a:p>
          <a:p>
            <a:pPr>
              <a:lnSpc>
                <a:spcPct val="90000"/>
              </a:lnSpc>
              <a:spcBef>
                <a:spcPts val="1001"/>
              </a:spcBef>
            </a:pPr>
            <a:endParaRPr lang="en-US" sz="2400" b="0" strike="noStrike" spc="-1" dirty="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TextShape 1"/>
          <p:cNvSpPr txBox="1"/>
          <p:nvPr/>
        </p:nvSpPr>
        <p:spPr>
          <a:xfrm>
            <a:off x="362880" y="274320"/>
            <a:ext cx="11565360" cy="525600"/>
          </a:xfrm>
          <a:prstGeom prst="rect">
            <a:avLst/>
          </a:prstGeom>
          <a:noFill/>
          <a:ln>
            <a:noFill/>
          </a:ln>
        </p:spPr>
        <p:txBody>
          <a:bodyPr lIns="90000" tIns="45000" rIns="90000" bIns="45000">
            <a:noAutofit/>
          </a:bodyPr>
          <a:lstStyle/>
          <a:p>
            <a:pPr>
              <a:lnSpc>
                <a:spcPct val="90000"/>
              </a:lnSpc>
            </a:pPr>
            <a:r>
              <a:rPr lang="en-US" sz="3600" b="1" strike="noStrike" spc="-1" dirty="0">
                <a:solidFill>
                  <a:schemeClr val="bg1"/>
                </a:solidFill>
                <a:latin typeface="Proxima Nova Black"/>
              </a:rPr>
              <a:t>Memory life cycle</a:t>
            </a:r>
            <a:br>
              <a:rPr dirty="0">
                <a:solidFill>
                  <a:schemeClr val="bg1"/>
                </a:solidFill>
              </a:rPr>
            </a:br>
            <a:endParaRPr lang="en-US" sz="3600" b="0" strike="noStrike" spc="-1" dirty="0">
              <a:solidFill>
                <a:schemeClr val="bg1"/>
              </a:solidFill>
              <a:latin typeface="Arial"/>
            </a:endParaRPr>
          </a:p>
        </p:txBody>
      </p:sp>
      <p:sp>
        <p:nvSpPr>
          <p:cNvPr id="209" name="TextShape 2"/>
          <p:cNvSpPr txBox="1"/>
          <p:nvPr/>
        </p:nvSpPr>
        <p:spPr>
          <a:xfrm>
            <a:off x="274320" y="761760"/>
            <a:ext cx="11631600" cy="6827760"/>
          </a:xfrm>
          <a:prstGeom prst="rect">
            <a:avLst/>
          </a:prstGeom>
          <a:noFill/>
          <a:ln>
            <a:noFill/>
          </a:ln>
        </p:spPr>
        <p:txBody>
          <a:bodyPr lIns="90000" tIns="45000" rIns="90000" bIns="45000">
            <a:noAutofit/>
          </a:bodyPr>
          <a:lstStyle/>
          <a:p>
            <a:pPr lvl="1" indent="-228240" algn="just">
              <a:lnSpc>
                <a:spcPct val="90000"/>
              </a:lnSpc>
              <a:spcBef>
                <a:spcPts val="499"/>
              </a:spcBef>
              <a:spcAft>
                <a:spcPts val="601"/>
              </a:spcAft>
              <a:buClr>
                <a:srgbClr val="FFFFFF"/>
              </a:buClr>
              <a:buFont typeface="Tahoma"/>
              <a:buChar char="▪"/>
            </a:pPr>
            <a:r>
              <a:rPr lang="en-US" sz="2400" b="0" strike="noStrike" spc="-1" dirty="0">
                <a:solidFill>
                  <a:schemeClr val="bg1"/>
                </a:solidFill>
                <a:latin typeface="Calibri"/>
              </a:rPr>
              <a:t>No matter what programming language you’re using, memory life cycle is pretty much always the same:</a:t>
            </a:r>
            <a:endParaRPr lang="en-US" sz="2400" b="0" strike="noStrike" spc="-1" dirty="0">
              <a:solidFill>
                <a:schemeClr val="bg1"/>
              </a:solidFill>
              <a:latin typeface="Arial"/>
            </a:endParaRPr>
          </a:p>
          <a:p>
            <a:endParaRPr lang="en-US" sz="2400" b="0" strike="noStrike" spc="-1" dirty="0">
              <a:solidFill>
                <a:schemeClr val="bg1"/>
              </a:solidFill>
              <a:latin typeface="Arial"/>
            </a:endParaRPr>
          </a:p>
          <a:p>
            <a:endParaRPr lang="en-US" sz="2400" b="0" strike="noStrike" spc="-1" dirty="0">
              <a:solidFill>
                <a:schemeClr val="bg1"/>
              </a:solidFill>
              <a:latin typeface="Arial"/>
            </a:endParaRPr>
          </a:p>
          <a:p>
            <a:endParaRPr lang="en-US" sz="2400" b="0" strike="noStrike" spc="-1" dirty="0">
              <a:solidFill>
                <a:schemeClr val="bg1"/>
              </a:solidFill>
              <a:latin typeface="Arial"/>
            </a:endParaRPr>
          </a:p>
          <a:p>
            <a:pPr marL="457200" indent="-456840">
              <a:lnSpc>
                <a:spcPct val="90000"/>
              </a:lnSpc>
              <a:spcBef>
                <a:spcPts val="1001"/>
              </a:spcBef>
              <a:buClr>
                <a:srgbClr val="7030A0"/>
              </a:buClr>
              <a:buFont typeface="Calibri Light"/>
              <a:buAutoNum type="arabicPeriod"/>
            </a:pPr>
            <a:r>
              <a:rPr lang="en-US" sz="2400" b="1" strike="noStrike" spc="-1" dirty="0">
                <a:solidFill>
                  <a:schemeClr val="bg1"/>
                </a:solidFill>
                <a:latin typeface="Calibri"/>
              </a:rPr>
              <a:t>Allocate memory </a:t>
            </a:r>
            <a:r>
              <a:rPr lang="en-US" sz="2400" b="0" strike="noStrike" spc="-1" dirty="0">
                <a:solidFill>
                  <a:schemeClr val="bg1"/>
                </a:solidFill>
                <a:latin typeface="Calibri"/>
              </a:rPr>
              <a:t>— memory is allocated by the operating system which allows your program to use it. In low-level languages (e.g. C) this is an explicit operation that you as a developer should handle. In high-level languages, however, this is taken care of for you.</a:t>
            </a:r>
            <a:endParaRPr lang="en-US" sz="2400" b="0" strike="noStrike" spc="-1" dirty="0">
              <a:solidFill>
                <a:schemeClr val="bg1"/>
              </a:solidFill>
              <a:latin typeface="Arial"/>
            </a:endParaRPr>
          </a:p>
          <a:p>
            <a:pPr marL="457200" indent="-456840">
              <a:lnSpc>
                <a:spcPct val="90000"/>
              </a:lnSpc>
              <a:spcBef>
                <a:spcPts val="1001"/>
              </a:spcBef>
              <a:buClr>
                <a:srgbClr val="7030A0"/>
              </a:buClr>
              <a:buFont typeface="Calibri Light"/>
              <a:buAutoNum type="arabicPeriod"/>
            </a:pPr>
            <a:r>
              <a:rPr lang="en-US" sz="2400" b="1" strike="noStrike" spc="-1" dirty="0">
                <a:solidFill>
                  <a:schemeClr val="bg1"/>
                </a:solidFill>
                <a:latin typeface="Calibri"/>
              </a:rPr>
              <a:t>Use memory — </a:t>
            </a:r>
            <a:r>
              <a:rPr lang="en-US" sz="2400" b="0" strike="noStrike" spc="-1" dirty="0">
                <a:solidFill>
                  <a:schemeClr val="bg1"/>
                </a:solidFill>
                <a:latin typeface="Calibri"/>
              </a:rPr>
              <a:t>this is the time when your program actually makes use of the previously allocated memory. </a:t>
            </a:r>
            <a:r>
              <a:rPr lang="en-US" sz="2400" b="1" strike="noStrike" spc="-1" dirty="0">
                <a:solidFill>
                  <a:schemeClr val="bg1"/>
                </a:solidFill>
                <a:latin typeface="Calibri"/>
              </a:rPr>
              <a:t>Read</a:t>
            </a:r>
            <a:r>
              <a:rPr lang="en-US" sz="2400" b="0" strike="noStrike" spc="-1" dirty="0">
                <a:solidFill>
                  <a:schemeClr val="bg1"/>
                </a:solidFill>
                <a:latin typeface="Calibri"/>
              </a:rPr>
              <a:t> and </a:t>
            </a:r>
            <a:r>
              <a:rPr lang="en-US" sz="2400" b="1" strike="noStrike" spc="-1" dirty="0">
                <a:solidFill>
                  <a:schemeClr val="bg1"/>
                </a:solidFill>
                <a:latin typeface="Calibri"/>
              </a:rPr>
              <a:t>write</a:t>
            </a:r>
            <a:r>
              <a:rPr lang="en-US" sz="2400" b="0" strike="noStrike" spc="-1" dirty="0">
                <a:solidFill>
                  <a:schemeClr val="bg1"/>
                </a:solidFill>
                <a:latin typeface="Calibri"/>
              </a:rPr>
              <a:t> operations are taking place as you’re using the allocated variables in your code.</a:t>
            </a:r>
            <a:endParaRPr lang="en-US" sz="2400" b="0" strike="noStrike" spc="-1" dirty="0">
              <a:solidFill>
                <a:schemeClr val="bg1"/>
              </a:solidFill>
              <a:latin typeface="Arial"/>
            </a:endParaRPr>
          </a:p>
          <a:p>
            <a:pPr marL="457200" indent="-456840">
              <a:lnSpc>
                <a:spcPct val="90000"/>
              </a:lnSpc>
              <a:spcBef>
                <a:spcPts val="1001"/>
              </a:spcBef>
              <a:buClr>
                <a:srgbClr val="7030A0"/>
              </a:buClr>
              <a:buFont typeface="Calibri Light"/>
              <a:buAutoNum type="arabicPeriod"/>
            </a:pPr>
            <a:r>
              <a:rPr lang="en-US" sz="2400" b="1" strike="noStrike" spc="-1" dirty="0">
                <a:solidFill>
                  <a:schemeClr val="bg1"/>
                </a:solidFill>
                <a:latin typeface="Calibri"/>
              </a:rPr>
              <a:t>Release memory</a:t>
            </a:r>
            <a:r>
              <a:rPr lang="en-US" sz="2400" b="0" strike="noStrike" spc="-1" dirty="0">
                <a:solidFill>
                  <a:schemeClr val="bg1"/>
                </a:solidFill>
                <a:latin typeface="Calibri"/>
              </a:rPr>
              <a:t> — now is the time to release the entire memory that you don’t need so that it can become free and available again. As with the </a:t>
            </a:r>
            <a:r>
              <a:rPr lang="en-US" sz="2400" b="1" strike="noStrike" spc="-1" dirty="0">
                <a:solidFill>
                  <a:schemeClr val="bg1"/>
                </a:solidFill>
                <a:latin typeface="Calibri"/>
              </a:rPr>
              <a:t>Allocate memory </a:t>
            </a:r>
            <a:r>
              <a:rPr lang="en-US" sz="2400" b="0" strike="noStrike" spc="-1" dirty="0">
                <a:solidFill>
                  <a:schemeClr val="bg1"/>
                </a:solidFill>
                <a:latin typeface="Calibri"/>
              </a:rPr>
              <a:t>operation, this one is explicit in low-level languages.</a:t>
            </a:r>
            <a:endParaRPr lang="en-US" sz="2400" b="0" strike="noStrike" spc="-1" dirty="0">
              <a:solidFill>
                <a:schemeClr val="bg1"/>
              </a:solidFill>
              <a:latin typeface="Arial"/>
            </a:endParaRPr>
          </a:p>
          <a:p>
            <a:endParaRPr lang="en-US" sz="2400" b="0" strike="noStrike" spc="-1" dirty="0">
              <a:solidFill>
                <a:schemeClr val="bg1"/>
              </a:solidFill>
              <a:latin typeface="Arial"/>
            </a:endParaRPr>
          </a:p>
        </p:txBody>
      </p:sp>
      <p:sp>
        <p:nvSpPr>
          <p:cNvPr id="210" name="CustomShape 3"/>
          <p:cNvSpPr/>
          <p:nvPr/>
        </p:nvSpPr>
        <p:spPr>
          <a:xfrm>
            <a:off x="1853460" y="1496825"/>
            <a:ext cx="1679760" cy="1126800"/>
          </a:xfrm>
          <a:prstGeom prst="roundRect">
            <a:avLst>
              <a:gd name="adj" fmla="val 16667"/>
            </a:avLst>
          </a:prstGeom>
          <a:gradFill rotWithShape="0">
            <a:gsLst>
              <a:gs pos="0">
                <a:srgbClr val="CF9FDD"/>
              </a:gs>
              <a:gs pos="100000">
                <a:srgbClr val="C592D3"/>
              </a:gs>
            </a:gsLst>
            <a:lin ang="5400000"/>
          </a:gradFill>
          <a:ln/>
        </p:spPr>
        <p:style>
          <a:lnRef idx="1">
            <a:schemeClr val="accent2"/>
          </a:lnRef>
          <a:fillRef idx="2">
            <a:schemeClr val="accent2"/>
          </a:fillRef>
          <a:effectRef idx="1">
            <a:schemeClr val="accent2"/>
          </a:effectRef>
          <a:fontRef idx="minor"/>
        </p:style>
        <p:txBody>
          <a:bodyPr lIns="90000" tIns="45000" rIns="90000" bIns="45000" anchor="ctr">
            <a:noAutofit/>
          </a:bodyPr>
          <a:lstStyle/>
          <a:p>
            <a:pPr algn="ctr">
              <a:lnSpc>
                <a:spcPct val="100000"/>
              </a:lnSpc>
            </a:pPr>
            <a:r>
              <a:rPr lang="en-US" sz="2400" b="1" strike="noStrike" spc="-1" dirty="0">
                <a:solidFill>
                  <a:schemeClr val="bg1"/>
                </a:solidFill>
                <a:latin typeface="Calibri"/>
              </a:rPr>
              <a:t>Allocate memory</a:t>
            </a:r>
            <a:endParaRPr lang="en-US" sz="2400" b="0" strike="noStrike" spc="-1" dirty="0">
              <a:solidFill>
                <a:schemeClr val="bg1"/>
              </a:solidFill>
              <a:latin typeface="Arial"/>
            </a:endParaRPr>
          </a:p>
        </p:txBody>
      </p:sp>
      <p:sp>
        <p:nvSpPr>
          <p:cNvPr id="211" name="CustomShape 4"/>
          <p:cNvSpPr/>
          <p:nvPr/>
        </p:nvSpPr>
        <p:spPr>
          <a:xfrm>
            <a:off x="4930020" y="1496825"/>
            <a:ext cx="1679760" cy="1126800"/>
          </a:xfrm>
          <a:prstGeom prst="roundRect">
            <a:avLst>
              <a:gd name="adj" fmla="val 16667"/>
            </a:avLst>
          </a:prstGeom>
          <a:gradFill rotWithShape="0">
            <a:gsLst>
              <a:gs pos="0">
                <a:srgbClr val="CF9FDD"/>
              </a:gs>
              <a:gs pos="100000">
                <a:srgbClr val="C592D3"/>
              </a:gs>
            </a:gsLst>
            <a:lin ang="5400000"/>
          </a:gradFill>
          <a:ln/>
        </p:spPr>
        <p:style>
          <a:lnRef idx="1">
            <a:schemeClr val="accent2"/>
          </a:lnRef>
          <a:fillRef idx="2">
            <a:schemeClr val="accent2"/>
          </a:fillRef>
          <a:effectRef idx="1">
            <a:schemeClr val="accent2"/>
          </a:effectRef>
          <a:fontRef idx="minor"/>
        </p:style>
        <p:txBody>
          <a:bodyPr lIns="90000" tIns="45000" rIns="90000" bIns="45000" anchor="ctr">
            <a:noAutofit/>
          </a:bodyPr>
          <a:lstStyle/>
          <a:p>
            <a:pPr algn="ctr">
              <a:lnSpc>
                <a:spcPct val="100000"/>
              </a:lnSpc>
            </a:pPr>
            <a:r>
              <a:rPr lang="en-US" sz="2400" b="1" strike="noStrike" spc="-1">
                <a:solidFill>
                  <a:schemeClr val="bg1"/>
                </a:solidFill>
                <a:latin typeface="Calibri"/>
              </a:rPr>
              <a:t>Use memory</a:t>
            </a:r>
            <a:endParaRPr lang="en-US" sz="2400" b="0" strike="noStrike" spc="-1">
              <a:solidFill>
                <a:schemeClr val="bg1"/>
              </a:solidFill>
              <a:latin typeface="Arial"/>
            </a:endParaRPr>
          </a:p>
        </p:txBody>
      </p:sp>
      <p:sp>
        <p:nvSpPr>
          <p:cNvPr id="212" name="CustomShape 5"/>
          <p:cNvSpPr/>
          <p:nvPr/>
        </p:nvSpPr>
        <p:spPr>
          <a:xfrm>
            <a:off x="8002620" y="1496825"/>
            <a:ext cx="1679760" cy="1126800"/>
          </a:xfrm>
          <a:prstGeom prst="roundRect">
            <a:avLst>
              <a:gd name="adj" fmla="val 16667"/>
            </a:avLst>
          </a:prstGeom>
          <a:gradFill rotWithShape="0">
            <a:gsLst>
              <a:gs pos="0">
                <a:srgbClr val="CF9FDD"/>
              </a:gs>
              <a:gs pos="100000">
                <a:srgbClr val="C592D3"/>
              </a:gs>
            </a:gsLst>
            <a:lin ang="5400000"/>
          </a:gradFill>
          <a:ln/>
        </p:spPr>
        <p:style>
          <a:lnRef idx="1">
            <a:schemeClr val="accent2"/>
          </a:lnRef>
          <a:fillRef idx="2">
            <a:schemeClr val="accent2"/>
          </a:fillRef>
          <a:effectRef idx="1">
            <a:schemeClr val="accent2"/>
          </a:effectRef>
          <a:fontRef idx="minor"/>
        </p:style>
        <p:txBody>
          <a:bodyPr lIns="90000" tIns="45000" rIns="90000" bIns="45000" anchor="ctr">
            <a:noAutofit/>
          </a:bodyPr>
          <a:lstStyle/>
          <a:p>
            <a:pPr algn="ctr">
              <a:lnSpc>
                <a:spcPct val="100000"/>
              </a:lnSpc>
            </a:pPr>
            <a:r>
              <a:rPr lang="en-US" sz="2400" b="1" strike="noStrike" spc="-1">
                <a:solidFill>
                  <a:schemeClr val="bg1"/>
                </a:solidFill>
                <a:latin typeface="Calibri"/>
              </a:rPr>
              <a:t>Release memory</a:t>
            </a:r>
            <a:endParaRPr lang="en-US" sz="2400" b="0" strike="noStrike" spc="-1">
              <a:solidFill>
                <a:schemeClr val="bg1"/>
              </a:solidFill>
              <a:latin typeface="Arial"/>
            </a:endParaRPr>
          </a:p>
        </p:txBody>
      </p:sp>
      <p:sp>
        <p:nvSpPr>
          <p:cNvPr id="213" name="CustomShape 6"/>
          <p:cNvSpPr/>
          <p:nvPr/>
        </p:nvSpPr>
        <p:spPr>
          <a:xfrm>
            <a:off x="3756780" y="1932785"/>
            <a:ext cx="935280" cy="329400"/>
          </a:xfrm>
          <a:prstGeom prst="rightArrow">
            <a:avLst>
              <a:gd name="adj1" fmla="val 50000"/>
              <a:gd name="adj2" fmla="val 50000"/>
            </a:avLst>
          </a:prstGeom>
          <a:gradFill rotWithShape="0">
            <a:gsLst>
              <a:gs pos="0">
                <a:srgbClr val="EF9EAD"/>
              </a:gs>
              <a:gs pos="100000">
                <a:srgbClr val="EA91A1"/>
              </a:gs>
            </a:gsLst>
            <a:lin ang="5400000"/>
          </a:gradFill>
          <a:ln/>
        </p:spPr>
        <p:style>
          <a:lnRef idx="1">
            <a:schemeClr val="accent5"/>
          </a:lnRef>
          <a:fillRef idx="2">
            <a:schemeClr val="accent5"/>
          </a:fillRef>
          <a:effectRef idx="1">
            <a:schemeClr val="accent5"/>
          </a:effectRef>
          <a:fontRef idx="minor"/>
        </p:style>
      </p:sp>
      <p:sp>
        <p:nvSpPr>
          <p:cNvPr id="214" name="CustomShape 7"/>
          <p:cNvSpPr/>
          <p:nvPr/>
        </p:nvSpPr>
        <p:spPr>
          <a:xfrm>
            <a:off x="6854220" y="1932785"/>
            <a:ext cx="935280" cy="329400"/>
          </a:xfrm>
          <a:prstGeom prst="rightArrow">
            <a:avLst>
              <a:gd name="adj1" fmla="val 50000"/>
              <a:gd name="adj2" fmla="val 50000"/>
            </a:avLst>
          </a:prstGeom>
          <a:gradFill rotWithShape="0">
            <a:gsLst>
              <a:gs pos="0">
                <a:srgbClr val="EF9EAD"/>
              </a:gs>
              <a:gs pos="100000">
                <a:srgbClr val="EA91A1"/>
              </a:gs>
            </a:gsLst>
            <a:lin ang="5400000"/>
          </a:gradFill>
          <a:ln/>
        </p:spPr>
        <p:style>
          <a:lnRef idx="1">
            <a:schemeClr val="accent5"/>
          </a:lnRef>
          <a:fillRef idx="2">
            <a:schemeClr val="accent5"/>
          </a:fillRef>
          <a:effectRef idx="1">
            <a:schemeClr val="accent5"/>
          </a:effectRef>
          <a:fontRef idx="minor"/>
        </p:style>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TextShape 1"/>
          <p:cNvSpPr txBox="1"/>
          <p:nvPr/>
        </p:nvSpPr>
        <p:spPr>
          <a:xfrm>
            <a:off x="362880" y="156960"/>
            <a:ext cx="11565360" cy="525600"/>
          </a:xfrm>
          <a:prstGeom prst="rect">
            <a:avLst/>
          </a:prstGeom>
          <a:noFill/>
          <a:ln>
            <a:noFill/>
          </a:ln>
        </p:spPr>
        <p:txBody>
          <a:bodyPr lIns="90000" tIns="45000" rIns="90000" bIns="45000">
            <a:noAutofit/>
          </a:bodyPr>
          <a:lstStyle/>
          <a:p>
            <a:pPr>
              <a:lnSpc>
                <a:spcPct val="90000"/>
              </a:lnSpc>
            </a:pPr>
            <a:r>
              <a:rPr lang="en-US" sz="3600" b="1" strike="noStrike" spc="-1" dirty="0">
                <a:solidFill>
                  <a:schemeClr val="bg1"/>
                </a:solidFill>
                <a:latin typeface="Proxima Nova Black"/>
              </a:rPr>
              <a:t>Release</a:t>
            </a:r>
            <a:r>
              <a:rPr lang="en-US" sz="3600" b="1" strike="noStrike" spc="-1" dirty="0">
                <a:solidFill>
                  <a:schemeClr val="bg1"/>
                </a:solidFill>
                <a:latin typeface="Calibri Light"/>
              </a:rPr>
              <a:t> </a:t>
            </a:r>
            <a:r>
              <a:rPr lang="en-US" sz="3600" b="1" strike="noStrike" spc="-1" dirty="0">
                <a:solidFill>
                  <a:schemeClr val="bg1"/>
                </a:solidFill>
                <a:latin typeface="Proxima Nova Black"/>
              </a:rPr>
              <a:t>memory</a:t>
            </a:r>
            <a:endParaRPr lang="en-US" sz="3600" b="1" strike="noStrike" spc="-1" dirty="0">
              <a:solidFill>
                <a:schemeClr val="bg1"/>
              </a:solidFill>
              <a:latin typeface="Arial"/>
            </a:endParaRPr>
          </a:p>
        </p:txBody>
      </p:sp>
      <p:sp>
        <p:nvSpPr>
          <p:cNvPr id="216" name="TextShape 2"/>
          <p:cNvSpPr txBox="1"/>
          <p:nvPr/>
        </p:nvSpPr>
        <p:spPr>
          <a:xfrm>
            <a:off x="443280" y="1175997"/>
            <a:ext cx="11320440" cy="3504517"/>
          </a:xfrm>
          <a:prstGeom prst="rect">
            <a:avLst/>
          </a:prstGeom>
          <a:noFill/>
          <a:ln>
            <a:noFill/>
          </a:ln>
        </p:spPr>
        <p:txBody>
          <a:bodyPr lIns="90000" tIns="45000" rIns="90000" bIns="45000">
            <a:noAutofit/>
          </a:bodyPr>
          <a:lstStyle/>
          <a:p>
            <a:pPr marL="342900" indent="-342900" algn="just">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The basic idea is simple: figure out which</a:t>
            </a:r>
            <a:r>
              <a:rPr lang="uk-UA" sz="2400" b="0" strike="noStrike" spc="-1" dirty="0">
                <a:solidFill>
                  <a:schemeClr val="bg1"/>
                </a:solidFill>
                <a:latin typeface="Calibri" panose="020F0502020204030204" pitchFamily="34" charset="0"/>
                <a:cs typeface="Calibri" panose="020F0502020204030204" pitchFamily="34" charset="0"/>
              </a:rPr>
              <a:t> </a:t>
            </a:r>
            <a:r>
              <a:rPr lang="en-US" sz="2400" b="0" strike="noStrike" spc="-1" dirty="0">
                <a:solidFill>
                  <a:schemeClr val="bg1"/>
                </a:solidFill>
                <a:latin typeface="Calibri" panose="020F0502020204030204" pitchFamily="34" charset="0"/>
                <a:cs typeface="Calibri" panose="020F0502020204030204" pitchFamily="34" charset="0"/>
              </a:rPr>
              <a:t>variables aren’t going to be used and free the memory associated</a:t>
            </a:r>
            <a:r>
              <a:rPr lang="uk-UA" sz="2400" b="0" strike="noStrike" spc="-1" dirty="0">
                <a:solidFill>
                  <a:schemeClr val="bg1"/>
                </a:solidFill>
                <a:latin typeface="Calibri" panose="020F0502020204030204" pitchFamily="34" charset="0"/>
                <a:cs typeface="Calibri" panose="020F0502020204030204" pitchFamily="34" charset="0"/>
              </a:rPr>
              <a:t> </a:t>
            </a:r>
            <a:r>
              <a:rPr lang="en-US" sz="2400" b="0" strike="noStrike" spc="-1" dirty="0">
                <a:solidFill>
                  <a:schemeClr val="bg1"/>
                </a:solidFill>
                <a:latin typeface="Calibri" panose="020F0502020204030204" pitchFamily="34" charset="0"/>
                <a:cs typeface="Calibri" panose="020F0502020204030204" pitchFamily="34" charset="0"/>
              </a:rPr>
              <a:t>with them. This process is periodic,</a:t>
            </a:r>
            <a:r>
              <a:rPr lang="uk-UA" sz="2400" b="0" strike="noStrike" spc="-1" dirty="0">
                <a:solidFill>
                  <a:schemeClr val="bg1"/>
                </a:solidFill>
                <a:latin typeface="Calibri" panose="020F0502020204030204" pitchFamily="34" charset="0"/>
                <a:cs typeface="Calibri" panose="020F0502020204030204" pitchFamily="34" charset="0"/>
              </a:rPr>
              <a:t> </a:t>
            </a:r>
            <a:r>
              <a:rPr lang="en-US" sz="2400" b="0" strike="noStrike" spc="-1" dirty="0">
                <a:solidFill>
                  <a:schemeClr val="bg1"/>
                </a:solidFill>
                <a:latin typeface="Calibri" panose="020F0502020204030204" pitchFamily="34" charset="0"/>
                <a:cs typeface="Calibri" panose="020F0502020204030204" pitchFamily="34" charset="0"/>
              </a:rPr>
              <a:t>with the garbage collector running at specified intervals (or at predefined collection moments in code</a:t>
            </a:r>
            <a:r>
              <a:rPr lang="uk-UA" sz="2400" b="0" strike="noStrike" spc="-1" dirty="0">
                <a:solidFill>
                  <a:schemeClr val="bg1"/>
                </a:solidFill>
                <a:latin typeface="Calibri" panose="020F0502020204030204" pitchFamily="34" charset="0"/>
                <a:cs typeface="Calibri" panose="020F0502020204030204" pitchFamily="34" charset="0"/>
              </a:rPr>
              <a:t> </a:t>
            </a:r>
            <a:r>
              <a:rPr lang="en-US" sz="2400" b="0" strike="noStrike" spc="-1" dirty="0">
                <a:solidFill>
                  <a:schemeClr val="bg1"/>
                </a:solidFill>
                <a:latin typeface="Calibri" panose="020F0502020204030204" pitchFamily="34" charset="0"/>
                <a:cs typeface="Calibri" panose="020F0502020204030204" pitchFamily="34" charset="0"/>
              </a:rPr>
              <a:t>execution). The process of garbage collection is an approximate and imperfect solution because the</a:t>
            </a:r>
            <a:r>
              <a:rPr lang="uk-UA" sz="2400" b="0" strike="noStrike" spc="-1" dirty="0">
                <a:solidFill>
                  <a:schemeClr val="bg1"/>
                </a:solidFill>
                <a:latin typeface="Calibri" panose="020F0502020204030204" pitchFamily="34" charset="0"/>
                <a:cs typeface="Calibri" panose="020F0502020204030204" pitchFamily="34" charset="0"/>
              </a:rPr>
              <a:t> </a:t>
            </a:r>
            <a:r>
              <a:rPr lang="en-US" sz="2400" b="0" strike="noStrike" spc="-1" dirty="0">
                <a:solidFill>
                  <a:schemeClr val="bg1"/>
                </a:solidFill>
                <a:latin typeface="Calibri" panose="020F0502020204030204" pitchFamily="34" charset="0"/>
                <a:cs typeface="Calibri" panose="020F0502020204030204" pitchFamily="34" charset="0"/>
              </a:rPr>
              <a:t>general problem of knowing whether some piece of memory is needed is “ undecidable ,” meaning it</a:t>
            </a:r>
            <a:r>
              <a:rPr lang="uk-UA" sz="2400" b="0" strike="noStrike" spc="-1" dirty="0">
                <a:solidFill>
                  <a:schemeClr val="bg1"/>
                </a:solidFill>
                <a:latin typeface="Calibri" panose="020F0502020204030204" pitchFamily="34" charset="0"/>
                <a:cs typeface="Calibri" panose="020F0502020204030204" pitchFamily="34" charset="0"/>
              </a:rPr>
              <a:t> </a:t>
            </a:r>
            <a:r>
              <a:rPr lang="en-US" sz="2400" b="0" strike="noStrike" spc="-1" dirty="0">
                <a:solidFill>
                  <a:schemeClr val="bg1"/>
                </a:solidFill>
                <a:latin typeface="Calibri" panose="020F0502020204030204" pitchFamily="34" charset="0"/>
                <a:cs typeface="Calibri" panose="020F0502020204030204" pitchFamily="34" charset="0"/>
              </a:rPr>
              <a:t>cannot be solved by an algorithm.</a:t>
            </a:r>
          </a:p>
        </p:txBody>
      </p:sp>
      <p:sp>
        <p:nvSpPr>
          <p:cNvPr id="217" name="TextShape 3"/>
          <p:cNvSpPr txBox="1"/>
          <p:nvPr/>
        </p:nvSpPr>
        <p:spPr>
          <a:xfrm>
            <a:off x="542400" y="3929744"/>
            <a:ext cx="11206320" cy="834344"/>
          </a:xfrm>
          <a:prstGeom prst="rect">
            <a:avLst/>
          </a:prstGeom>
          <a:noFill/>
          <a:ln>
            <a:noFill/>
          </a:ln>
        </p:spPr>
        <p:txBody>
          <a:bodyPr lIns="90000" tIns="45000" rIns="90000" bIns="45000">
            <a:noAutofit/>
          </a:bodyPr>
          <a:lstStyle/>
          <a:p>
            <a:pPr marL="342900" indent="-342900" algn="just">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The strategy for identifying the unused variables</a:t>
            </a:r>
            <a:r>
              <a:rPr lang="uk-UA" sz="2400" b="0" strike="noStrike" spc="-1" dirty="0">
                <a:solidFill>
                  <a:schemeClr val="bg1"/>
                </a:solidFill>
                <a:latin typeface="Calibri" panose="020F0502020204030204" pitchFamily="34" charset="0"/>
                <a:cs typeface="Calibri" panose="020F0502020204030204" pitchFamily="34" charset="0"/>
              </a:rPr>
              <a:t> </a:t>
            </a:r>
            <a:r>
              <a:rPr lang="en-US" sz="2400" b="0" strike="noStrike" spc="-1" dirty="0">
                <a:solidFill>
                  <a:schemeClr val="bg1"/>
                </a:solidFill>
                <a:latin typeface="Calibri" panose="020F0502020204030204" pitchFamily="34" charset="0"/>
                <a:cs typeface="Calibri" panose="020F0502020204030204" pitchFamily="34" charset="0"/>
              </a:rPr>
              <a:t>may differ on an implementation basis, though two</a:t>
            </a:r>
            <a:r>
              <a:rPr lang="uk-UA" sz="2400" b="0" strike="noStrike" spc="-1" dirty="0">
                <a:solidFill>
                  <a:schemeClr val="bg1"/>
                </a:solidFill>
                <a:latin typeface="Calibri" panose="020F0502020204030204" pitchFamily="34" charset="0"/>
                <a:cs typeface="Calibri" panose="020F0502020204030204" pitchFamily="34" charset="0"/>
              </a:rPr>
              <a:t> </a:t>
            </a:r>
            <a:r>
              <a:rPr lang="en-US" sz="2400" b="0" strike="noStrike" spc="-1" dirty="0">
                <a:solidFill>
                  <a:schemeClr val="bg1"/>
                </a:solidFill>
                <a:latin typeface="Calibri" panose="020F0502020204030204" pitchFamily="34" charset="0"/>
                <a:cs typeface="Calibri" panose="020F0502020204030204" pitchFamily="34" charset="0"/>
              </a:rPr>
              <a:t>strategies have traditionally been used in browsers: mark-and-sweep, and reference counting.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extShape 1"/>
          <p:cNvSpPr txBox="1"/>
          <p:nvPr/>
        </p:nvSpPr>
        <p:spPr>
          <a:xfrm>
            <a:off x="548640" y="147710"/>
            <a:ext cx="4828652" cy="676329"/>
          </a:xfrm>
          <a:prstGeom prst="rect">
            <a:avLst/>
          </a:prstGeom>
          <a:noFill/>
          <a:ln>
            <a:noFill/>
          </a:ln>
        </p:spPr>
        <p:txBody>
          <a:bodyPr lIns="90000" tIns="45000" rIns="90000" bIns="45000">
            <a:noAutofit/>
          </a:bodyPr>
          <a:lstStyle/>
          <a:p>
            <a:r>
              <a:rPr lang="en-US" sz="3600" b="1" strike="noStrike" spc="-1" dirty="0">
                <a:solidFill>
                  <a:schemeClr val="bg1"/>
                </a:solidFill>
                <a:latin typeface="Proxima Nova Black"/>
              </a:rPr>
              <a:t>Mark-and-Sweep</a:t>
            </a:r>
          </a:p>
        </p:txBody>
      </p:sp>
      <p:sp>
        <p:nvSpPr>
          <p:cNvPr id="219" name="TextShape 2"/>
          <p:cNvSpPr txBox="1"/>
          <p:nvPr/>
        </p:nvSpPr>
        <p:spPr>
          <a:xfrm>
            <a:off x="548640" y="1049123"/>
            <a:ext cx="11226018" cy="1300182"/>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2200" b="0" strike="noStrike" spc="-1" dirty="0">
                <a:solidFill>
                  <a:schemeClr val="bg1"/>
                </a:solidFill>
                <a:latin typeface="Calibri" panose="020F0502020204030204" pitchFamily="34" charset="0"/>
                <a:cs typeface="Calibri" panose="020F0502020204030204" pitchFamily="34" charset="0"/>
              </a:rPr>
              <a:t>When a variable comes into context, such as when a variable is declared inside a function, it is flagged as being in context. Variables that are in context, logically, should never have their memory freed, because they may be used as long as execution continues in that context. When a variable goes out of context, it is also flagged as being out of context.</a:t>
            </a:r>
          </a:p>
        </p:txBody>
      </p:sp>
      <p:sp>
        <p:nvSpPr>
          <p:cNvPr id="220" name="TextShape 3"/>
          <p:cNvSpPr txBox="1"/>
          <p:nvPr/>
        </p:nvSpPr>
        <p:spPr>
          <a:xfrm>
            <a:off x="548640" y="2644729"/>
            <a:ext cx="11226018" cy="3024552"/>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2200" b="0" strike="noStrike" spc="-1" dirty="0">
                <a:solidFill>
                  <a:schemeClr val="bg1"/>
                </a:solidFill>
                <a:latin typeface="Calibri" panose="020F0502020204030204" pitchFamily="34" charset="0"/>
                <a:cs typeface="Calibri" panose="020F0502020204030204" pitchFamily="34" charset="0"/>
              </a:rPr>
              <a:t>Variables can be flagged in any number of ways. There may be a specific bit that is flipped when a variable is in context, or there may be an “in-context” variable list and an “out-of-context” variable list between which variables are moved. The implementation of the flagging is unimportant; it’s really the theory that is key. When the garbage collector runs, it marks all variables stored in memory (once again, in any number of ways). It then clears its mark off of variables that are in context and variables that are referenced by in-context variables. The variables that are marked after that are considered ready for deletion, because they can’t be reached by any in-context variables. The garbage collector then does a memory sweep, destroying each of the marked values and reclaiming the memory associated with them.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TextShape 1"/>
          <p:cNvSpPr txBox="1"/>
          <p:nvPr/>
        </p:nvSpPr>
        <p:spPr>
          <a:xfrm>
            <a:off x="640080" y="476280"/>
            <a:ext cx="4452425" cy="424052"/>
          </a:xfrm>
          <a:prstGeom prst="rect">
            <a:avLst/>
          </a:prstGeom>
          <a:noFill/>
          <a:ln>
            <a:noFill/>
          </a:ln>
        </p:spPr>
        <p:txBody>
          <a:bodyPr lIns="90000" tIns="45000" rIns="90000" bIns="45000">
            <a:noAutofit/>
          </a:bodyPr>
          <a:lstStyle/>
          <a:p>
            <a:r>
              <a:rPr lang="en-US" sz="3600" b="0" strike="noStrike" spc="-1" dirty="0">
                <a:solidFill>
                  <a:schemeClr val="bg1"/>
                </a:solidFill>
                <a:latin typeface="Proxima Nova Black"/>
              </a:rPr>
              <a:t>Reference Counting</a:t>
            </a:r>
          </a:p>
        </p:txBody>
      </p:sp>
      <p:sp>
        <p:nvSpPr>
          <p:cNvPr id="222" name="TextShape 2"/>
          <p:cNvSpPr txBox="1"/>
          <p:nvPr/>
        </p:nvSpPr>
        <p:spPr>
          <a:xfrm>
            <a:off x="457199" y="1135079"/>
            <a:ext cx="11106443" cy="3014889"/>
          </a:xfrm>
          <a:prstGeom prst="rect">
            <a:avLst/>
          </a:prstGeom>
          <a:noFill/>
          <a:ln>
            <a:noFill/>
          </a:ln>
        </p:spPr>
        <p:txBody>
          <a:bodyPr lIns="90000" tIns="45000" rIns="90000" bIns="45000">
            <a:noAutofit/>
          </a:bodyPr>
          <a:lstStyle/>
          <a:p>
            <a:pPr marL="342900" indent="-342900" algn="just">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The idea is that every value keeps track of how many references are made to it. When a variable is declared and a reference value is assigned, the reference count is one. If another variable is then assigned to the same value, the reference count is incremented. Likewise, if a variable with a reference to that value is overwritten with another value, then the reference count is decremented. When the reference count of a value reaches zero, there is no way to reach that value and it is safe to reclaim the associated memory. The garbage collector frees the memory for values with a reference count of zero the next time it runs.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TextShape 1"/>
          <p:cNvSpPr txBox="1"/>
          <p:nvPr/>
        </p:nvSpPr>
        <p:spPr>
          <a:xfrm>
            <a:off x="906418" y="436508"/>
            <a:ext cx="8504282" cy="808092"/>
          </a:xfrm>
          <a:prstGeom prst="rect">
            <a:avLst/>
          </a:prstGeom>
          <a:noFill/>
          <a:ln>
            <a:noFill/>
          </a:ln>
        </p:spPr>
        <p:txBody>
          <a:bodyPr lIns="90000" tIns="45000" rIns="90000" bIns="45000">
            <a:noAutofit/>
          </a:bodyPr>
          <a:lstStyle/>
          <a:p>
            <a:r>
              <a:rPr lang="en-US" sz="3600" b="0" strike="noStrike" spc="-1" dirty="0">
                <a:solidFill>
                  <a:schemeClr val="bg1"/>
                </a:solidFill>
                <a:latin typeface="Proxima Nova Black"/>
              </a:rPr>
              <a:t>Serious issue: circular references</a:t>
            </a:r>
          </a:p>
        </p:txBody>
      </p:sp>
      <p:pic>
        <p:nvPicPr>
          <p:cNvPr id="225" name="Рисунок 224"/>
          <p:cNvPicPr/>
          <p:nvPr/>
        </p:nvPicPr>
        <p:blipFill>
          <a:blip r:embed="rId2"/>
          <a:stretch/>
        </p:blipFill>
        <p:spPr>
          <a:xfrm>
            <a:off x="906418" y="2034456"/>
            <a:ext cx="3171600" cy="1266480"/>
          </a:xfrm>
          <a:prstGeom prst="rect">
            <a:avLst/>
          </a:prstGeom>
          <a:ln>
            <a:noFill/>
          </a:ln>
        </p:spPr>
      </p:pic>
      <p:sp>
        <p:nvSpPr>
          <p:cNvPr id="226" name="TextShape 2"/>
          <p:cNvSpPr txBox="1"/>
          <p:nvPr/>
        </p:nvSpPr>
        <p:spPr>
          <a:xfrm>
            <a:off x="754018" y="3557064"/>
            <a:ext cx="10714082" cy="1942036"/>
          </a:xfrm>
          <a:prstGeom prst="rect">
            <a:avLst/>
          </a:prstGeom>
          <a:noFill/>
          <a:ln>
            <a:noFill/>
          </a:ln>
        </p:spPr>
        <p:txBody>
          <a:bodyPr lIns="90000" tIns="45000" rIns="90000" bIns="45000">
            <a:noAutofit/>
          </a:bodyPr>
          <a:lstStyle/>
          <a:p>
            <a:pPr marL="342900" indent="-342900" algn="just">
              <a:buFont typeface="Arial" panose="020B0604020202020204" pitchFamily="34" charset="0"/>
              <a:buChar char="•"/>
            </a:pPr>
            <a:r>
              <a:rPr lang="en-US" sz="2000" b="0" strike="noStrike" spc="-1" dirty="0">
                <a:solidFill>
                  <a:schemeClr val="bg1"/>
                </a:solidFill>
                <a:latin typeface="Calibri" panose="020F0502020204030204" pitchFamily="34" charset="0"/>
                <a:cs typeface="Calibri" panose="020F0502020204030204" pitchFamily="34" charset="0"/>
              </a:rPr>
              <a:t>In this example, </a:t>
            </a:r>
            <a:r>
              <a:rPr lang="en-US" sz="2000" b="0" strike="noStrike" spc="-1" dirty="0" err="1">
                <a:solidFill>
                  <a:schemeClr val="bg1"/>
                </a:solidFill>
                <a:latin typeface="Calibri" panose="020F0502020204030204" pitchFamily="34" charset="0"/>
                <a:cs typeface="Calibri" panose="020F0502020204030204" pitchFamily="34" charset="0"/>
              </a:rPr>
              <a:t>objectA</a:t>
            </a:r>
            <a:r>
              <a:rPr lang="en-US" sz="2000" b="0" strike="noStrike" spc="-1" dirty="0">
                <a:solidFill>
                  <a:schemeClr val="bg1"/>
                </a:solidFill>
                <a:latin typeface="Calibri" panose="020F0502020204030204" pitchFamily="34" charset="0"/>
                <a:cs typeface="Calibri" panose="020F0502020204030204" pitchFamily="34" charset="0"/>
              </a:rPr>
              <a:t> and </a:t>
            </a:r>
            <a:r>
              <a:rPr lang="en-US" sz="2000" b="0" strike="noStrike" spc="-1" dirty="0" err="1">
                <a:solidFill>
                  <a:schemeClr val="bg1"/>
                </a:solidFill>
                <a:latin typeface="Calibri" panose="020F0502020204030204" pitchFamily="34" charset="0"/>
                <a:cs typeface="Calibri" panose="020F0502020204030204" pitchFamily="34" charset="0"/>
              </a:rPr>
              <a:t>objectB</a:t>
            </a:r>
            <a:r>
              <a:rPr lang="en-US" sz="2000" b="0" strike="noStrike" spc="-1" dirty="0">
                <a:solidFill>
                  <a:schemeClr val="bg1"/>
                </a:solidFill>
                <a:latin typeface="Calibri" panose="020F0502020204030204" pitchFamily="34" charset="0"/>
                <a:cs typeface="Calibri" panose="020F0502020204030204" pitchFamily="34" charset="0"/>
              </a:rPr>
              <a:t> reference each other through their properties, meaning that each has a reference count of two. In a mark-and-sweep system, this wouldn’t be a problem because both objects go out of scope after the function has completed. In a reference-counting system, however, </a:t>
            </a:r>
            <a:r>
              <a:rPr lang="en-US" sz="2000" b="0" strike="noStrike" spc="-1" dirty="0" err="1">
                <a:solidFill>
                  <a:schemeClr val="bg1"/>
                </a:solidFill>
                <a:latin typeface="Calibri" panose="020F0502020204030204" pitchFamily="34" charset="0"/>
                <a:cs typeface="Calibri" panose="020F0502020204030204" pitchFamily="34" charset="0"/>
              </a:rPr>
              <a:t>objectA</a:t>
            </a:r>
            <a:r>
              <a:rPr lang="en-US" sz="2000" b="0" strike="noStrike" spc="-1" dirty="0">
                <a:solidFill>
                  <a:schemeClr val="bg1"/>
                </a:solidFill>
                <a:latin typeface="Calibri" panose="020F0502020204030204" pitchFamily="34" charset="0"/>
                <a:cs typeface="Calibri" panose="020F0502020204030204" pitchFamily="34" charset="0"/>
              </a:rPr>
              <a:t> and </a:t>
            </a:r>
            <a:r>
              <a:rPr lang="en-US" sz="2000" b="0" strike="noStrike" spc="-1" dirty="0" err="1">
                <a:solidFill>
                  <a:schemeClr val="bg1"/>
                </a:solidFill>
                <a:latin typeface="Calibri" panose="020F0502020204030204" pitchFamily="34" charset="0"/>
                <a:cs typeface="Calibri" panose="020F0502020204030204" pitchFamily="34" charset="0"/>
              </a:rPr>
              <a:t>objectB</a:t>
            </a:r>
            <a:r>
              <a:rPr lang="en-US" sz="2000" b="0" strike="noStrike" spc="-1" dirty="0">
                <a:solidFill>
                  <a:schemeClr val="bg1"/>
                </a:solidFill>
                <a:latin typeface="Calibri" panose="020F0502020204030204" pitchFamily="34" charset="0"/>
                <a:cs typeface="Calibri" panose="020F0502020204030204" pitchFamily="34" charset="0"/>
              </a:rPr>
              <a:t> will continue to exist after the function has exited because their reference counts will never reach zero. If this function were called repeatedly, it would lead to a large amount of memory never being reclaimed</a:t>
            </a:r>
          </a:p>
        </p:txBody>
      </p:sp>
      <p:sp>
        <p:nvSpPr>
          <p:cNvPr id="6" name="TextBox 5">
            <a:extLst>
              <a:ext uri="{FF2B5EF4-FFF2-40B4-BE49-F238E27FC236}">
                <a16:creationId xmlns:a16="http://schemas.microsoft.com/office/drawing/2014/main" id="{DA370149-39F1-48B6-B18A-3233FCF474A2}"/>
              </a:ext>
            </a:extLst>
          </p:cNvPr>
          <p:cNvSpPr txBox="1"/>
          <p:nvPr/>
        </p:nvSpPr>
        <p:spPr>
          <a:xfrm>
            <a:off x="754018" y="1100797"/>
            <a:ext cx="10802982" cy="707886"/>
          </a:xfrm>
          <a:prstGeom prst="rect">
            <a:avLst/>
          </a:prstGeom>
          <a:noFill/>
        </p:spPr>
        <p:txBody>
          <a:bodyPr wrap="square">
            <a:spAutoFit/>
          </a:bodyPr>
          <a:lstStyle/>
          <a:p>
            <a:pPr marL="342900" indent="-342900">
              <a:buFont typeface="Arial" panose="020B0604020202020204" pitchFamily="34" charset="0"/>
              <a:buChar char="•"/>
            </a:pPr>
            <a:r>
              <a:rPr lang="en-US" sz="2000" b="0" strike="noStrike" spc="-1" dirty="0">
                <a:solidFill>
                  <a:schemeClr val="bg1"/>
                </a:solidFill>
                <a:latin typeface="Calibri" panose="020F0502020204030204" pitchFamily="34" charset="0"/>
                <a:cs typeface="Calibri" panose="020F0502020204030204" pitchFamily="34" charset="0"/>
              </a:rPr>
              <a:t>A circular reference occurs when object A has a pointer to object B and object B has a reference to object A, as in the following example: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TextShape 1"/>
          <p:cNvSpPr txBox="1"/>
          <p:nvPr/>
        </p:nvSpPr>
        <p:spPr>
          <a:xfrm>
            <a:off x="433440" y="365760"/>
            <a:ext cx="3033660" cy="548640"/>
          </a:xfrm>
          <a:prstGeom prst="rect">
            <a:avLst/>
          </a:prstGeom>
          <a:noFill/>
          <a:ln>
            <a:noFill/>
          </a:ln>
        </p:spPr>
        <p:txBody>
          <a:bodyPr lIns="90000" tIns="45000" rIns="90000" bIns="45000">
            <a:noAutofit/>
          </a:bodyPr>
          <a:lstStyle/>
          <a:p>
            <a:r>
              <a:rPr lang="en-US" sz="3600" b="0" strike="noStrike" spc="-1" dirty="0">
                <a:solidFill>
                  <a:schemeClr val="bg1"/>
                </a:solidFill>
                <a:latin typeface="Proxima Nova Black"/>
              </a:rPr>
              <a:t>Performance</a:t>
            </a:r>
          </a:p>
        </p:txBody>
      </p:sp>
      <p:sp>
        <p:nvSpPr>
          <p:cNvPr id="228" name="TextShape 2"/>
          <p:cNvSpPr txBox="1"/>
          <p:nvPr/>
        </p:nvSpPr>
        <p:spPr>
          <a:xfrm>
            <a:off x="433440" y="968950"/>
            <a:ext cx="10831460" cy="858600"/>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2000" b="0" strike="noStrike" spc="-1" dirty="0">
                <a:solidFill>
                  <a:schemeClr val="bg1"/>
                </a:solidFill>
                <a:latin typeface="Calibri" panose="020F0502020204030204" pitchFamily="34" charset="0"/>
                <a:cs typeface="Calibri" panose="020F0502020204030204" pitchFamily="34" charset="0"/>
              </a:rPr>
              <a:t>You cannot know when garbage collection is coming, so the best strategy is to organize your code in such a way that it allows garbage collection to do its job to the best of its ability whenever it is scheduled to run.</a:t>
            </a:r>
          </a:p>
        </p:txBody>
      </p:sp>
      <p:sp>
        <p:nvSpPr>
          <p:cNvPr id="229" name="TextShape 3"/>
          <p:cNvSpPr txBox="1"/>
          <p:nvPr/>
        </p:nvSpPr>
        <p:spPr>
          <a:xfrm>
            <a:off x="433440" y="1892340"/>
            <a:ext cx="10971160" cy="858600"/>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2000" b="0" strike="noStrike" spc="-1" dirty="0">
                <a:solidFill>
                  <a:schemeClr val="bg1"/>
                </a:solidFill>
                <a:latin typeface="Calibri" panose="020F0502020204030204" pitchFamily="34" charset="0"/>
                <a:cs typeface="Calibri" panose="020F0502020204030204" pitchFamily="34" charset="0"/>
              </a:rPr>
              <a:t>Modern garbage collectors decide when to run based on a collection of heuristics that are measured</a:t>
            </a:r>
            <a:r>
              <a:rPr lang="en-US" sz="2000" spc="-1" dirty="0">
                <a:solidFill>
                  <a:schemeClr val="bg1"/>
                </a:solidFill>
                <a:latin typeface="Calibri" panose="020F0502020204030204" pitchFamily="34" charset="0"/>
                <a:cs typeface="Calibri" panose="020F0502020204030204" pitchFamily="34" charset="0"/>
              </a:rPr>
              <a:t> </a:t>
            </a:r>
            <a:r>
              <a:rPr lang="en-US" sz="2000" b="0" strike="noStrike" spc="-1" dirty="0">
                <a:solidFill>
                  <a:schemeClr val="bg1"/>
                </a:solidFill>
                <a:latin typeface="Calibri" panose="020F0502020204030204" pitchFamily="34" charset="0"/>
                <a:cs typeface="Calibri" panose="020F0502020204030204" pitchFamily="34" charset="0"/>
              </a:rPr>
              <a:t>from the JavaScript runtime environment. These heuristics will vary by engine, but they will all be approximately based upon the size and number of objects that have been allocated.</a:t>
            </a:r>
          </a:p>
        </p:txBody>
      </p:sp>
      <p:sp>
        <p:nvSpPr>
          <p:cNvPr id="230" name="TextShape 4"/>
          <p:cNvSpPr txBox="1"/>
          <p:nvPr/>
        </p:nvSpPr>
        <p:spPr>
          <a:xfrm>
            <a:off x="365760" y="3017520"/>
            <a:ext cx="11229340" cy="1089541"/>
          </a:xfrm>
          <a:prstGeom prst="rect">
            <a:avLst/>
          </a:prstGeom>
          <a:noFill/>
          <a:ln>
            <a:noFill/>
          </a:ln>
        </p:spPr>
        <p:txBody>
          <a:bodyPr lIns="90000" tIns="45000" rIns="90000" bIns="45000">
            <a:noAutofit/>
          </a:bodyPr>
          <a:lstStyle/>
          <a:p>
            <a:pPr marL="285750" indent="-285750">
              <a:buFont typeface="Arial" panose="020B0604020202020204" pitchFamily="34" charset="0"/>
              <a:buChar char="•"/>
            </a:pPr>
            <a:r>
              <a:rPr lang="en-US" sz="2000" b="0" strike="noStrike" spc="-1" dirty="0">
                <a:solidFill>
                  <a:schemeClr val="bg1"/>
                </a:solidFill>
                <a:latin typeface="Calibri" panose="020F0502020204030204" pitchFamily="34" charset="0"/>
                <a:cs typeface="Calibri" panose="020F0502020204030204" pitchFamily="34" charset="0"/>
              </a:rPr>
              <a:t>Internet Explorer was infamous for its performance issues related to how often the garbage collector ran</a:t>
            </a:r>
            <a:r>
              <a:rPr lang="en-US" sz="2000" spc="-1" dirty="0">
                <a:solidFill>
                  <a:schemeClr val="bg1"/>
                </a:solidFill>
                <a:latin typeface="Calibri" panose="020F0502020204030204" pitchFamily="34" charset="0"/>
                <a:cs typeface="Calibri" panose="020F0502020204030204" pitchFamily="34" charset="0"/>
              </a:rPr>
              <a:t> - </a:t>
            </a:r>
            <a:r>
              <a:rPr lang="en-US" sz="2000" b="0" strike="noStrike" spc="-1" dirty="0">
                <a:solidFill>
                  <a:schemeClr val="bg1"/>
                </a:solidFill>
                <a:latin typeface="Calibri" panose="020F0502020204030204" pitchFamily="34" charset="0"/>
                <a:cs typeface="Calibri" panose="020F0502020204030204" pitchFamily="34" charset="0"/>
              </a:rPr>
              <a:t>it ran based on the number of allocations, specifically 256 variable allocations, 4,096 object/ array literals and array slots, or 64KB of strings. If any of these thresholds were reached, the garbage collector would run.</a:t>
            </a:r>
          </a:p>
        </p:txBody>
      </p:sp>
      <p:sp>
        <p:nvSpPr>
          <p:cNvPr id="231" name="TextShape 5"/>
          <p:cNvSpPr txBox="1"/>
          <p:nvPr/>
        </p:nvSpPr>
        <p:spPr>
          <a:xfrm>
            <a:off x="365760" y="4270400"/>
            <a:ext cx="11140440" cy="1370520"/>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2000" b="0" strike="noStrike" spc="-1" dirty="0">
                <a:solidFill>
                  <a:schemeClr val="bg1"/>
                </a:solidFill>
                <a:latin typeface="Calibri" panose="020F0502020204030204" pitchFamily="34" charset="0"/>
                <a:cs typeface="Calibri" panose="020F0502020204030204" pitchFamily="34" charset="0"/>
              </a:rPr>
              <a:t>The Internet Explorer 7 thresholds start out equal to those in Internet Explorer 6. If the garbage-collection routine reclaims less than 15 percent of the allocations, the threshold for variables, literals, and/or array slots doubles. If the routine ever reclaims 85 percent of the allocations, then the threshold is reset to the default. This simple change greatly improved the performance of the browser on JavaScript-heavy web pages.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TextShape 1"/>
          <p:cNvSpPr txBox="1"/>
          <p:nvPr/>
        </p:nvSpPr>
        <p:spPr>
          <a:xfrm>
            <a:off x="548640" y="365760"/>
            <a:ext cx="3782060" cy="561340"/>
          </a:xfrm>
          <a:prstGeom prst="rect">
            <a:avLst/>
          </a:prstGeom>
          <a:noFill/>
          <a:ln>
            <a:noFill/>
          </a:ln>
        </p:spPr>
        <p:txBody>
          <a:bodyPr lIns="90000" tIns="45000" rIns="90000" bIns="45000">
            <a:noAutofit/>
          </a:bodyPr>
          <a:lstStyle/>
          <a:p>
            <a:r>
              <a:rPr lang="en-US" sz="3200" b="0" strike="noStrike" spc="-1" dirty="0">
                <a:solidFill>
                  <a:schemeClr val="bg1"/>
                </a:solidFill>
                <a:latin typeface="Proxima Nova Black"/>
              </a:rPr>
              <a:t>Managing Memory</a:t>
            </a:r>
          </a:p>
        </p:txBody>
      </p:sp>
      <p:sp>
        <p:nvSpPr>
          <p:cNvPr id="233" name="TextShape 2"/>
          <p:cNvSpPr txBox="1"/>
          <p:nvPr/>
        </p:nvSpPr>
        <p:spPr>
          <a:xfrm>
            <a:off x="444500" y="1165780"/>
            <a:ext cx="11010900" cy="1114200"/>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1800" b="0" strike="noStrike" spc="-1" dirty="0">
                <a:solidFill>
                  <a:schemeClr val="bg1"/>
                </a:solidFill>
                <a:latin typeface="Calibri" panose="020F0502020204030204" pitchFamily="34" charset="0"/>
                <a:cs typeface="Calibri" panose="020F0502020204030204" pitchFamily="34" charset="0"/>
              </a:rPr>
              <a:t>Keeping the amount of used memory to a minimum leads to better page performance. The best way to optimize memory usage is to ensure that you’re keeping around only data that is necessary for the execution of your </a:t>
            </a:r>
            <a:r>
              <a:rPr lang="en-US" sz="1800" b="0" strike="noStrike" spc="-1" dirty="0" err="1">
                <a:solidFill>
                  <a:schemeClr val="bg1"/>
                </a:solidFill>
                <a:latin typeface="Calibri" panose="020F0502020204030204" pitchFamily="34" charset="0"/>
                <a:cs typeface="Calibri" panose="020F0502020204030204" pitchFamily="34" charset="0"/>
              </a:rPr>
              <a:t>code.When</a:t>
            </a:r>
            <a:r>
              <a:rPr lang="en-US" sz="1800" b="0" strike="noStrike" spc="-1" dirty="0">
                <a:solidFill>
                  <a:schemeClr val="bg1"/>
                </a:solidFill>
                <a:latin typeface="Calibri" panose="020F0502020204030204" pitchFamily="34" charset="0"/>
                <a:cs typeface="Calibri" panose="020F0502020204030204" pitchFamily="34" charset="0"/>
              </a:rPr>
              <a:t> data is no longer necessary, it’s best to set the value to null , freeing up the reference—this is called dereferencing the value</a:t>
            </a:r>
          </a:p>
        </p:txBody>
      </p:sp>
      <p:pic>
        <p:nvPicPr>
          <p:cNvPr id="234" name="Рисунок 233"/>
          <p:cNvPicPr/>
          <p:nvPr/>
        </p:nvPicPr>
        <p:blipFill>
          <a:blip r:embed="rId2"/>
          <a:stretch/>
        </p:blipFill>
        <p:spPr>
          <a:xfrm>
            <a:off x="587780" y="2627820"/>
            <a:ext cx="3742920" cy="1914120"/>
          </a:xfrm>
          <a:prstGeom prst="rect">
            <a:avLst/>
          </a:prstGeom>
          <a:ln>
            <a:noFill/>
          </a:ln>
        </p:spPr>
      </p:pic>
      <p:sp>
        <p:nvSpPr>
          <p:cNvPr id="235" name="TextShape 3"/>
          <p:cNvSpPr txBox="1"/>
          <p:nvPr/>
        </p:nvSpPr>
        <p:spPr>
          <a:xfrm>
            <a:off x="548640" y="4833620"/>
            <a:ext cx="11010900" cy="858600"/>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1800" b="0" strike="noStrike" spc="-1" dirty="0">
                <a:solidFill>
                  <a:schemeClr val="bg1"/>
                </a:solidFill>
                <a:latin typeface="Calibri" panose="020F0502020204030204" pitchFamily="34" charset="0"/>
                <a:cs typeface="Calibri" panose="020F0502020204030204" pitchFamily="34" charset="0"/>
              </a:rPr>
              <a:t>Keep in mind that dereferencing a value doesn’t automatically reclaim the memory associated with it. The point of dereferencing is to make sure the value is out of context and will be reclaimed the next time garbage collection occurs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CustomShape 1"/>
          <p:cNvSpPr/>
          <p:nvPr/>
        </p:nvSpPr>
        <p:spPr>
          <a:xfrm>
            <a:off x="-299720" y="338400"/>
            <a:ext cx="11795760" cy="64487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3600" b="1" strike="noStrike" spc="-1" dirty="0">
                <a:solidFill>
                  <a:srgbClr val="FFFFFF"/>
                </a:solidFill>
                <a:latin typeface="Proxima Nova Black"/>
                <a:ea typeface="DejaVu Sans"/>
              </a:rPr>
              <a:t>Performance with const and let Declarations</a:t>
            </a:r>
            <a:endParaRPr lang="en-US" sz="3600" b="0" strike="noStrike" spc="-1" dirty="0">
              <a:latin typeface="Proxima Nova Black"/>
            </a:endParaRPr>
          </a:p>
        </p:txBody>
      </p:sp>
      <p:sp>
        <p:nvSpPr>
          <p:cNvPr id="237" name="TextShape 2"/>
          <p:cNvSpPr txBox="1"/>
          <p:nvPr/>
        </p:nvSpPr>
        <p:spPr>
          <a:xfrm>
            <a:off x="365760" y="1545400"/>
            <a:ext cx="11343640" cy="2302700"/>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2400" b="0" strike="noStrike" spc="-1" dirty="0">
                <a:solidFill>
                  <a:schemeClr val="bg1"/>
                </a:solidFill>
                <a:latin typeface="Calibri" panose="020F0502020204030204" pitchFamily="34" charset="0"/>
                <a:cs typeface="Calibri" panose="020F0502020204030204" pitchFamily="34" charset="0"/>
              </a:rPr>
              <a:t>The introduction of these keywords in ES6 isn’t just a boon for your code style but also for the garbage collection process. Because const and let are scoped to a block instead of a function, depending on how your code is organized this may signal to the garbage collector that an allocated variable is eligible for cleanup far sooner than it would have been when using var . This would occur in situations when the block scope terminates far sooner than the function scope.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ustomShape 1"/>
          <p:cNvSpPr/>
          <p:nvPr/>
        </p:nvSpPr>
        <p:spPr>
          <a:xfrm>
            <a:off x="614160" y="324720"/>
            <a:ext cx="10815840" cy="681120"/>
          </a:xfrm>
          <a:prstGeom prst="rect">
            <a:avLst/>
          </a:prstGeom>
          <a:noFill/>
          <a:ln>
            <a:noFill/>
          </a:ln>
        </p:spPr>
        <p:style>
          <a:lnRef idx="0">
            <a:scrgbClr r="0" g="0" b="0"/>
          </a:lnRef>
          <a:fillRef idx="0">
            <a:scrgbClr r="0" g="0" b="0"/>
          </a:fillRef>
          <a:effectRef idx="0">
            <a:scrgbClr r="0" g="0" b="0"/>
          </a:effectRef>
          <a:fontRef idx="minor"/>
        </p:style>
      </p:sp>
      <p:sp>
        <p:nvSpPr>
          <p:cNvPr id="239" name="CustomShape 2"/>
          <p:cNvSpPr/>
          <p:nvPr/>
        </p:nvSpPr>
        <p:spPr>
          <a:xfrm>
            <a:off x="685800" y="2057400"/>
            <a:ext cx="10815840" cy="3424320"/>
          </a:xfrm>
          <a:prstGeom prst="rect">
            <a:avLst/>
          </a:prstGeom>
          <a:noFill/>
          <a:ln>
            <a:noFill/>
          </a:ln>
        </p:spPr>
        <p:style>
          <a:lnRef idx="0">
            <a:scrgbClr r="0" g="0" b="0"/>
          </a:lnRef>
          <a:fillRef idx="0">
            <a:scrgbClr r="0" g="0" b="0"/>
          </a:fillRef>
          <a:effectRef idx="0">
            <a:scrgbClr r="0" g="0" b="0"/>
          </a:effectRef>
          <a:fontRef idx="minor"/>
        </p:style>
      </p:sp>
      <p:sp>
        <p:nvSpPr>
          <p:cNvPr id="240" name="CustomShape 3"/>
          <p:cNvSpPr/>
          <p:nvPr/>
        </p:nvSpPr>
        <p:spPr>
          <a:xfrm>
            <a:off x="494280" y="405720"/>
            <a:ext cx="10935720" cy="1966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just">
              <a:lnSpc>
                <a:spcPct val="100000"/>
              </a:lnSpc>
            </a:pPr>
            <a:r>
              <a:rPr lang="en-US" sz="3600" b="1" strike="noStrike" spc="-1" dirty="0">
                <a:solidFill>
                  <a:srgbClr val="FFFFFF"/>
                </a:solidFill>
                <a:latin typeface="Proxima Nova Black"/>
                <a:ea typeface="DejaVu Sans"/>
              </a:rPr>
              <a:t>Hidden Classes and the delete Operation</a:t>
            </a:r>
            <a:endParaRPr lang="en-US" sz="3600" b="1" strike="noStrike" spc="-1" dirty="0">
              <a:latin typeface="Proxima Nova Black"/>
            </a:endParaRPr>
          </a:p>
          <a:p>
            <a:pPr algn="just">
              <a:lnSpc>
                <a:spcPct val="100000"/>
              </a:lnSpc>
            </a:pPr>
            <a:endParaRPr lang="en-US" sz="1800" b="0" strike="noStrike" spc="-1" dirty="0">
              <a:latin typeface="Arial"/>
            </a:endParaRPr>
          </a:p>
          <a:p>
            <a:pPr marL="285750" indent="-285750" algn="just">
              <a:lnSpc>
                <a:spcPct val="100000"/>
              </a:lnSpc>
              <a:buFont typeface="Arial" panose="020B0604020202020204" pitchFamily="34" charset="0"/>
              <a:buChar char="•"/>
            </a:pPr>
            <a:r>
              <a:rPr lang="en-US" b="0" strike="noStrike" spc="-1" dirty="0">
                <a:solidFill>
                  <a:srgbClr val="FFFFFF"/>
                </a:solidFill>
                <a:latin typeface="Calibri" panose="020F0502020204030204" pitchFamily="34" charset="0"/>
                <a:ea typeface="DejaVu Sans"/>
                <a:cs typeface="Calibri" panose="020F0502020204030204" pitchFamily="34" charset="0"/>
              </a:rPr>
              <a:t>As of 2017, the most popular web browser is Google Chrome, which uses the V8 JavaScript engine. This engine utilizes “hidden classes” when compiling the interpreted JavaScript code into actual machine code, and if you are writing performance-sensitive code, this might matter to you.</a:t>
            </a:r>
            <a:endParaRPr lang="en-US" b="0" strike="noStrike" spc="-1" dirty="0">
              <a:latin typeface="Calibri" panose="020F0502020204030204" pitchFamily="34" charset="0"/>
              <a:cs typeface="Calibri" panose="020F0502020204030204" pitchFamily="34" charset="0"/>
            </a:endParaRPr>
          </a:p>
        </p:txBody>
      </p:sp>
      <p:sp>
        <p:nvSpPr>
          <p:cNvPr id="241" name="TextShape 4"/>
          <p:cNvSpPr txBox="1"/>
          <p:nvPr/>
        </p:nvSpPr>
        <p:spPr>
          <a:xfrm>
            <a:off x="494280" y="2192760"/>
            <a:ext cx="10935720" cy="858600"/>
          </a:xfrm>
          <a:prstGeom prst="rect">
            <a:avLst/>
          </a:prstGeom>
          <a:noFill/>
          <a:ln>
            <a:noFill/>
          </a:ln>
        </p:spPr>
        <p:txBody>
          <a:bodyPr lIns="90000" tIns="45000" rIns="90000" bIns="45000">
            <a:noAutofit/>
          </a:bodyPr>
          <a:lstStyle/>
          <a:p>
            <a:pPr marL="285750" indent="-285750" algn="just">
              <a:buFont typeface="Arial" panose="020B0604020202020204" pitchFamily="34" charset="0"/>
              <a:buChar char="•"/>
            </a:pPr>
            <a:r>
              <a:rPr lang="en-US" sz="1800" b="0" strike="noStrike" spc="-1" dirty="0">
                <a:solidFill>
                  <a:schemeClr val="bg1"/>
                </a:solidFill>
                <a:latin typeface="Calibri" panose="020F0502020204030204" pitchFamily="34" charset="0"/>
                <a:cs typeface="Calibri" panose="020F0502020204030204" pitchFamily="34" charset="0"/>
              </a:rPr>
              <a:t>During runtime, V8 will associate hidden classes for every object created to keep track of the shape of its properties. Objects that are able to share the same hidden class will have better performance, and V8 will optimize for this but may not always be able to.</a:t>
            </a:r>
          </a:p>
        </p:txBody>
      </p:sp>
      <p:pic>
        <p:nvPicPr>
          <p:cNvPr id="242" name="Рисунок 241"/>
          <p:cNvPicPr/>
          <p:nvPr/>
        </p:nvPicPr>
        <p:blipFill>
          <a:blip r:embed="rId3"/>
          <a:stretch/>
        </p:blipFill>
        <p:spPr>
          <a:xfrm>
            <a:off x="568080" y="3254401"/>
            <a:ext cx="5000400" cy="1104480"/>
          </a:xfrm>
          <a:prstGeom prst="rect">
            <a:avLst/>
          </a:prstGeom>
          <a:ln>
            <a:noFill/>
          </a:ln>
        </p:spPr>
      </p:pic>
      <p:pic>
        <p:nvPicPr>
          <p:cNvPr id="243" name="Рисунок 242"/>
          <p:cNvPicPr/>
          <p:nvPr/>
        </p:nvPicPr>
        <p:blipFill>
          <a:blip r:embed="rId4"/>
          <a:stretch/>
        </p:blipFill>
        <p:spPr>
          <a:xfrm>
            <a:off x="6093720" y="3308040"/>
            <a:ext cx="1685520" cy="304560"/>
          </a:xfrm>
          <a:prstGeom prst="rect">
            <a:avLst/>
          </a:prstGeom>
          <a:ln>
            <a:noFill/>
          </a:ln>
        </p:spPr>
      </p:pic>
      <p:pic>
        <p:nvPicPr>
          <p:cNvPr id="244" name="Рисунок 243"/>
          <p:cNvPicPr/>
          <p:nvPr/>
        </p:nvPicPr>
        <p:blipFill>
          <a:blip r:embed="rId5"/>
          <a:stretch/>
        </p:blipFill>
        <p:spPr>
          <a:xfrm>
            <a:off x="558720" y="4810880"/>
            <a:ext cx="5009760" cy="120924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CustomShape 1"/>
          <p:cNvSpPr/>
          <p:nvPr/>
        </p:nvSpPr>
        <p:spPr>
          <a:xfrm>
            <a:off x="685800" y="685800"/>
            <a:ext cx="10815840" cy="681120"/>
          </a:xfrm>
          <a:prstGeom prst="rect">
            <a:avLst/>
          </a:prstGeom>
          <a:noFill/>
          <a:ln>
            <a:noFill/>
          </a:ln>
        </p:spPr>
        <p:style>
          <a:lnRef idx="0">
            <a:scrgbClr r="0" g="0" b="0"/>
          </a:lnRef>
          <a:fillRef idx="0">
            <a:scrgbClr r="0" g="0" b="0"/>
          </a:fillRef>
          <a:effectRef idx="0">
            <a:scrgbClr r="0" g="0" b="0"/>
          </a:effectRef>
          <a:fontRef idx="minor"/>
        </p:style>
      </p:sp>
      <p:sp>
        <p:nvSpPr>
          <p:cNvPr id="246" name="CustomShape 2"/>
          <p:cNvSpPr/>
          <p:nvPr/>
        </p:nvSpPr>
        <p:spPr>
          <a:xfrm>
            <a:off x="685800" y="2057400"/>
            <a:ext cx="10815840" cy="3424320"/>
          </a:xfrm>
          <a:prstGeom prst="rect">
            <a:avLst/>
          </a:prstGeom>
          <a:noFill/>
          <a:ln>
            <a:noFill/>
          </a:ln>
        </p:spPr>
        <p:style>
          <a:lnRef idx="0">
            <a:scrgbClr r="0" g="0" b="0"/>
          </a:lnRef>
          <a:fillRef idx="0">
            <a:scrgbClr r="0" g="0" b="0"/>
          </a:fillRef>
          <a:effectRef idx="0">
            <a:scrgbClr r="0" g="0" b="0"/>
          </a:effectRef>
          <a:fontRef idx="minor"/>
        </p:style>
      </p:sp>
      <p:sp>
        <p:nvSpPr>
          <p:cNvPr id="247" name="CustomShape 3"/>
          <p:cNvSpPr/>
          <p:nvPr/>
        </p:nvSpPr>
        <p:spPr>
          <a:xfrm>
            <a:off x="268940" y="224820"/>
            <a:ext cx="4341160" cy="739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gn="ctr">
              <a:lnSpc>
                <a:spcPct val="90000"/>
              </a:lnSpc>
            </a:pPr>
            <a:r>
              <a:rPr lang="en-US" sz="3600" b="1" strike="noStrike" spc="-1" dirty="0">
                <a:solidFill>
                  <a:srgbClr val="FFFFFF"/>
                </a:solidFill>
                <a:latin typeface="Proxima Nova Black"/>
                <a:ea typeface="DejaVu Sans"/>
              </a:rPr>
              <a:t>Delete operation</a:t>
            </a:r>
            <a:endParaRPr lang="en-US" sz="3600" b="1" strike="noStrike" spc="-1" dirty="0">
              <a:latin typeface="Arial"/>
            </a:endParaRPr>
          </a:p>
        </p:txBody>
      </p:sp>
      <p:pic>
        <p:nvPicPr>
          <p:cNvPr id="248" name="Рисунок 247"/>
          <p:cNvPicPr/>
          <p:nvPr/>
        </p:nvPicPr>
        <p:blipFill>
          <a:blip r:embed="rId2"/>
          <a:stretch/>
        </p:blipFill>
        <p:spPr>
          <a:xfrm>
            <a:off x="484760" y="1468820"/>
            <a:ext cx="5009760" cy="1542600"/>
          </a:xfrm>
          <a:prstGeom prst="rect">
            <a:avLst/>
          </a:prstGeom>
          <a:ln>
            <a:noFill/>
          </a:ln>
        </p:spPr>
      </p:pic>
      <p:sp>
        <p:nvSpPr>
          <p:cNvPr id="249" name="TextShape 4"/>
          <p:cNvSpPr txBox="1"/>
          <p:nvPr/>
        </p:nvSpPr>
        <p:spPr>
          <a:xfrm>
            <a:off x="459360" y="800280"/>
            <a:ext cx="11463700" cy="602640"/>
          </a:xfrm>
          <a:prstGeom prst="rect">
            <a:avLst/>
          </a:prstGeom>
          <a:noFill/>
          <a:ln>
            <a:noFill/>
          </a:ln>
        </p:spPr>
        <p:txBody>
          <a:bodyPr lIns="90000" tIns="45000" rIns="90000" bIns="45000">
            <a:noAutofit/>
          </a:bodyPr>
          <a:lstStyle/>
          <a:p>
            <a:r>
              <a:rPr lang="en-US" sz="2000" b="0" strike="noStrike" spc="-1" dirty="0">
                <a:solidFill>
                  <a:schemeClr val="bg1"/>
                </a:solidFill>
                <a:latin typeface="Calibri" panose="020F0502020204030204" pitchFamily="34" charset="0"/>
                <a:cs typeface="Calibri" panose="020F0502020204030204" pitchFamily="34" charset="0"/>
              </a:rPr>
              <a:t>Bear in mind though that using the delete keyword can generate the same hidden class fragmentation. This is demonstrated here:</a:t>
            </a:r>
          </a:p>
        </p:txBody>
      </p:sp>
      <p:sp>
        <p:nvSpPr>
          <p:cNvPr id="250" name="TextShape 5"/>
          <p:cNvSpPr txBox="1"/>
          <p:nvPr/>
        </p:nvSpPr>
        <p:spPr>
          <a:xfrm>
            <a:off x="361870" y="3108150"/>
            <a:ext cx="11463700" cy="1370520"/>
          </a:xfrm>
          <a:prstGeom prst="rect">
            <a:avLst/>
          </a:prstGeom>
          <a:noFill/>
          <a:ln>
            <a:noFill/>
          </a:ln>
        </p:spPr>
        <p:txBody>
          <a:bodyPr lIns="90000" tIns="45000" rIns="90000" bIns="45000">
            <a:noAutofit/>
          </a:bodyPr>
          <a:lstStyle/>
          <a:p>
            <a:pPr algn="just"/>
            <a:r>
              <a:rPr lang="en-US" sz="2000" b="0" strike="noStrike" spc="-1" dirty="0">
                <a:solidFill>
                  <a:schemeClr val="bg1"/>
                </a:solidFill>
                <a:latin typeface="Calibri" panose="020F0502020204030204" pitchFamily="34" charset="0"/>
                <a:cs typeface="Calibri" panose="020F0502020204030204" pitchFamily="34" charset="0"/>
              </a:rPr>
              <a:t>At the end of this snippet, the two instances will no longer share a hidden class even though they use a unified constructor. Dynamic deletion of a property will yield the same effect as dynamic addition. Best practices dictate that unwanted properties should be set to null . It will allow the hidden classes to remain intact and shared, and it has the same effect on removing references for the benefit of the garbage collector.</a:t>
            </a:r>
          </a:p>
        </p:txBody>
      </p:sp>
      <p:pic>
        <p:nvPicPr>
          <p:cNvPr id="251" name="Рисунок 250"/>
          <p:cNvPicPr/>
          <p:nvPr/>
        </p:nvPicPr>
        <p:blipFill>
          <a:blip r:embed="rId3"/>
          <a:stretch/>
        </p:blipFill>
        <p:spPr>
          <a:xfrm>
            <a:off x="484760" y="4572360"/>
            <a:ext cx="4990680" cy="159984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CustomShape 1"/>
          <p:cNvSpPr/>
          <p:nvPr/>
        </p:nvSpPr>
        <p:spPr>
          <a:xfrm>
            <a:off x="685800" y="685800"/>
            <a:ext cx="10815840" cy="681120"/>
          </a:xfrm>
          <a:prstGeom prst="rect">
            <a:avLst/>
          </a:prstGeom>
          <a:noFill/>
          <a:ln>
            <a:noFill/>
          </a:ln>
        </p:spPr>
        <p:style>
          <a:lnRef idx="0">
            <a:scrgbClr r="0" g="0" b="0"/>
          </a:lnRef>
          <a:fillRef idx="0">
            <a:scrgbClr r="0" g="0" b="0"/>
          </a:fillRef>
          <a:effectRef idx="0">
            <a:scrgbClr r="0" g="0" b="0"/>
          </a:effectRef>
          <a:fontRef idx="minor"/>
        </p:style>
      </p:sp>
      <p:sp>
        <p:nvSpPr>
          <p:cNvPr id="253" name="CustomShape 2"/>
          <p:cNvSpPr/>
          <p:nvPr/>
        </p:nvSpPr>
        <p:spPr>
          <a:xfrm>
            <a:off x="735840" y="2481120"/>
            <a:ext cx="10815840" cy="3424320"/>
          </a:xfrm>
          <a:prstGeom prst="rect">
            <a:avLst/>
          </a:prstGeom>
          <a:noFill/>
          <a:ln>
            <a:noFill/>
          </a:ln>
        </p:spPr>
        <p:style>
          <a:lnRef idx="0">
            <a:scrgbClr r="0" g="0" b="0"/>
          </a:lnRef>
          <a:fillRef idx="0">
            <a:scrgbClr r="0" g="0" b="0"/>
          </a:fillRef>
          <a:effectRef idx="0">
            <a:scrgbClr r="0" g="0" b="0"/>
          </a:effectRef>
          <a:fontRef idx="minor"/>
        </p:style>
      </p:sp>
      <p:sp>
        <p:nvSpPr>
          <p:cNvPr id="254" name="TextShape 3"/>
          <p:cNvSpPr txBox="1"/>
          <p:nvPr/>
        </p:nvSpPr>
        <p:spPr>
          <a:xfrm>
            <a:off x="731520" y="205920"/>
            <a:ext cx="11565360" cy="525600"/>
          </a:xfrm>
          <a:prstGeom prst="rect">
            <a:avLst/>
          </a:prstGeom>
          <a:noFill/>
          <a:ln>
            <a:noFill/>
          </a:ln>
        </p:spPr>
        <p:txBody>
          <a:bodyPr lIns="90000" tIns="45000" rIns="90000" bIns="45000">
            <a:noAutofit/>
          </a:bodyPr>
          <a:lstStyle/>
          <a:p>
            <a:pPr>
              <a:lnSpc>
                <a:spcPct val="90000"/>
              </a:lnSpc>
            </a:pPr>
            <a:r>
              <a:rPr lang="en-US" sz="3600" b="1" strike="noStrike" spc="-1" dirty="0">
                <a:solidFill>
                  <a:schemeClr val="bg1"/>
                </a:solidFill>
                <a:latin typeface="Proxima Nova Black"/>
              </a:rPr>
              <a:t>Memory Leaks in JavaScript</a:t>
            </a:r>
            <a:endParaRPr lang="en-US" sz="3600" b="0" strike="noStrike" spc="-1" dirty="0">
              <a:solidFill>
                <a:schemeClr val="bg1"/>
              </a:solidFill>
              <a:latin typeface="Arial"/>
            </a:endParaRPr>
          </a:p>
        </p:txBody>
      </p:sp>
      <p:sp>
        <p:nvSpPr>
          <p:cNvPr id="255" name="TextShape 4"/>
          <p:cNvSpPr txBox="1"/>
          <p:nvPr/>
        </p:nvSpPr>
        <p:spPr>
          <a:xfrm>
            <a:off x="437400" y="882360"/>
            <a:ext cx="11297400" cy="1064880"/>
          </a:xfrm>
          <a:prstGeom prst="rect">
            <a:avLst/>
          </a:prstGeom>
          <a:noFill/>
          <a:ln>
            <a:noFill/>
          </a:ln>
        </p:spPr>
        <p:txBody>
          <a:bodyPr lIns="90000" tIns="45000" rIns="90000" bIns="45000">
            <a:noAutofit/>
          </a:bodyPr>
          <a:lstStyle/>
          <a:p>
            <a:r>
              <a:rPr lang="en-US" sz="2200" b="0" strike="noStrike" spc="-1" dirty="0">
                <a:solidFill>
                  <a:schemeClr val="bg1"/>
                </a:solidFill>
                <a:latin typeface="Calibri"/>
              </a:rPr>
              <a:t>In essence, </a:t>
            </a:r>
            <a:r>
              <a:rPr lang="en-US" sz="2200" b="1" strike="noStrike" spc="-1" dirty="0">
                <a:solidFill>
                  <a:schemeClr val="bg1"/>
                </a:solidFill>
                <a:latin typeface="Calibri"/>
              </a:rPr>
              <a:t>memory leaks </a:t>
            </a:r>
            <a:r>
              <a:rPr lang="en-US" sz="2200" b="0" strike="noStrike" spc="-1" dirty="0">
                <a:solidFill>
                  <a:schemeClr val="bg1"/>
                </a:solidFill>
                <a:latin typeface="Calibri"/>
              </a:rPr>
              <a:t>can be defined as memory that is not required by an application anymore that for some reason is not returned to the operating system or the pool of free memory.</a:t>
            </a:r>
            <a:endParaRPr lang="en-US" sz="2200" b="0" strike="noStrike" spc="-1" dirty="0">
              <a:solidFill>
                <a:schemeClr val="bg1"/>
              </a:solidFill>
              <a:latin typeface="Arial"/>
            </a:endParaRPr>
          </a:p>
        </p:txBody>
      </p:sp>
      <p:sp>
        <p:nvSpPr>
          <p:cNvPr id="256" name="TextShape 5"/>
          <p:cNvSpPr txBox="1"/>
          <p:nvPr/>
        </p:nvSpPr>
        <p:spPr>
          <a:xfrm>
            <a:off x="457200" y="2103120"/>
            <a:ext cx="10815840" cy="602640"/>
          </a:xfrm>
          <a:prstGeom prst="rect">
            <a:avLst/>
          </a:prstGeom>
          <a:noFill/>
          <a:ln>
            <a:noFill/>
          </a:ln>
        </p:spPr>
        <p:txBody>
          <a:bodyPr lIns="90000" tIns="45000" rIns="90000" bIns="45000">
            <a:noAutofit/>
          </a:bodyPr>
          <a:lstStyle/>
          <a:p>
            <a:r>
              <a:rPr lang="en-US" sz="2200" b="0" strike="noStrike" spc="-1" dirty="0">
                <a:solidFill>
                  <a:schemeClr val="bg1"/>
                </a:solidFill>
                <a:latin typeface="Calibri" panose="020F0502020204030204" pitchFamily="34" charset="0"/>
                <a:cs typeface="Calibri" panose="020F0502020204030204" pitchFamily="34" charset="0"/>
              </a:rPr>
              <a:t>One of the most common and easily fixed memory leaks is accidentally declaring global variables. In the following code, the variable is not prefixed with a declaration keyword:</a:t>
            </a:r>
          </a:p>
        </p:txBody>
      </p:sp>
      <p:pic>
        <p:nvPicPr>
          <p:cNvPr id="257" name="Рисунок 256"/>
          <p:cNvPicPr/>
          <p:nvPr/>
        </p:nvPicPr>
        <p:blipFill>
          <a:blip r:embed="rId3"/>
          <a:stretch/>
        </p:blipFill>
        <p:spPr>
          <a:xfrm>
            <a:off x="640320" y="3012120"/>
            <a:ext cx="1980720" cy="609120"/>
          </a:xfrm>
          <a:prstGeom prst="rect">
            <a:avLst/>
          </a:prstGeom>
          <a:ln>
            <a:noFill/>
          </a:ln>
        </p:spPr>
      </p:pic>
      <p:pic>
        <p:nvPicPr>
          <p:cNvPr id="258" name="Рисунок 257"/>
          <p:cNvPicPr/>
          <p:nvPr/>
        </p:nvPicPr>
        <p:blipFill>
          <a:blip r:embed="rId4"/>
          <a:stretch/>
        </p:blipFill>
        <p:spPr>
          <a:xfrm>
            <a:off x="551420" y="5033162"/>
            <a:ext cx="1847520" cy="790200"/>
          </a:xfrm>
          <a:prstGeom prst="rect">
            <a:avLst/>
          </a:prstGeom>
          <a:ln>
            <a:noFill/>
          </a:ln>
        </p:spPr>
      </p:pic>
      <p:sp>
        <p:nvSpPr>
          <p:cNvPr id="259" name="TextShape 6"/>
          <p:cNvSpPr txBox="1"/>
          <p:nvPr/>
        </p:nvSpPr>
        <p:spPr>
          <a:xfrm>
            <a:off x="457200" y="3850921"/>
            <a:ext cx="11044440" cy="602640"/>
          </a:xfrm>
          <a:prstGeom prst="rect">
            <a:avLst/>
          </a:prstGeom>
          <a:noFill/>
          <a:ln>
            <a:noFill/>
          </a:ln>
        </p:spPr>
        <p:txBody>
          <a:bodyPr lIns="90000" tIns="45000" rIns="90000" bIns="45000">
            <a:noAutofit/>
          </a:bodyPr>
          <a:lstStyle/>
          <a:p>
            <a:pPr algn="just"/>
            <a:r>
              <a:rPr lang="en-US" sz="2200" b="0" strike="noStrike" spc="-1" dirty="0">
                <a:solidFill>
                  <a:schemeClr val="bg1"/>
                </a:solidFill>
                <a:latin typeface="Calibri" panose="020F0502020204030204" pitchFamily="34" charset="0"/>
                <a:cs typeface="Calibri" panose="020F0502020204030204" pitchFamily="34" charset="0"/>
              </a:rPr>
              <a:t>As long as this interval timer is running, the handler function containing a reference to name remains allocated. The garbage collector recognizes this and therefore is unable to clean up the outer variable.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CustomShape 1"/>
          <p:cNvSpPr/>
          <p:nvPr/>
        </p:nvSpPr>
        <p:spPr>
          <a:xfrm>
            <a:off x="685800" y="2057400"/>
            <a:ext cx="1976400" cy="681120"/>
          </a:xfrm>
          <a:prstGeom prst="rect">
            <a:avLst/>
          </a:prstGeom>
          <a:noFill/>
          <a:ln>
            <a:noFill/>
          </a:ln>
        </p:spPr>
        <p:style>
          <a:lnRef idx="0">
            <a:scrgbClr r="0" g="0" b="0"/>
          </a:lnRef>
          <a:fillRef idx="0">
            <a:scrgbClr r="0" g="0" b="0"/>
          </a:fillRef>
          <a:effectRef idx="0">
            <a:scrgbClr r="0" g="0" b="0"/>
          </a:effectRef>
          <a:fontRef idx="minor"/>
        </p:style>
      </p:sp>
      <p:sp>
        <p:nvSpPr>
          <p:cNvPr id="261" name="CustomShape 2"/>
          <p:cNvSpPr/>
          <p:nvPr/>
        </p:nvSpPr>
        <p:spPr>
          <a:xfrm>
            <a:off x="2895480" y="2057400"/>
            <a:ext cx="1976400" cy="681120"/>
          </a:xfrm>
          <a:prstGeom prst="rect">
            <a:avLst/>
          </a:prstGeom>
          <a:noFill/>
          <a:ln>
            <a:noFill/>
          </a:ln>
        </p:spPr>
        <p:style>
          <a:lnRef idx="0">
            <a:scrgbClr r="0" g="0" b="0"/>
          </a:lnRef>
          <a:fillRef idx="0">
            <a:scrgbClr r="0" g="0" b="0"/>
          </a:fillRef>
          <a:effectRef idx="0">
            <a:scrgbClr r="0" g="0" b="0"/>
          </a:effectRef>
          <a:fontRef idx="minor"/>
        </p:style>
      </p:sp>
      <p:sp>
        <p:nvSpPr>
          <p:cNvPr id="262" name="CustomShape 3"/>
          <p:cNvSpPr/>
          <p:nvPr/>
        </p:nvSpPr>
        <p:spPr>
          <a:xfrm>
            <a:off x="5105520" y="2057400"/>
            <a:ext cx="1976400" cy="681120"/>
          </a:xfrm>
          <a:prstGeom prst="rect">
            <a:avLst/>
          </a:prstGeom>
          <a:noFill/>
          <a:ln>
            <a:noFill/>
          </a:ln>
        </p:spPr>
        <p:style>
          <a:lnRef idx="0">
            <a:scrgbClr r="0" g="0" b="0"/>
          </a:lnRef>
          <a:fillRef idx="0">
            <a:scrgbClr r="0" g="0" b="0"/>
          </a:fillRef>
          <a:effectRef idx="0">
            <a:scrgbClr r="0" g="0" b="0"/>
          </a:effectRef>
          <a:fontRef idx="minor"/>
        </p:style>
      </p:sp>
      <p:sp>
        <p:nvSpPr>
          <p:cNvPr id="263" name="CustomShape 4"/>
          <p:cNvSpPr/>
          <p:nvPr/>
        </p:nvSpPr>
        <p:spPr>
          <a:xfrm>
            <a:off x="7315200" y="2057400"/>
            <a:ext cx="1976400" cy="681120"/>
          </a:xfrm>
          <a:prstGeom prst="rect">
            <a:avLst/>
          </a:prstGeom>
          <a:noFill/>
          <a:ln>
            <a:noFill/>
          </a:ln>
        </p:spPr>
        <p:style>
          <a:lnRef idx="0">
            <a:scrgbClr r="0" g="0" b="0"/>
          </a:lnRef>
          <a:fillRef idx="0">
            <a:scrgbClr r="0" g="0" b="0"/>
          </a:fillRef>
          <a:effectRef idx="0">
            <a:scrgbClr r="0" g="0" b="0"/>
          </a:effectRef>
          <a:fontRef idx="minor"/>
        </p:style>
      </p:sp>
      <p:sp>
        <p:nvSpPr>
          <p:cNvPr id="264" name="CustomShape 5"/>
          <p:cNvSpPr/>
          <p:nvPr/>
        </p:nvSpPr>
        <p:spPr>
          <a:xfrm>
            <a:off x="9524880" y="2057400"/>
            <a:ext cx="1976400" cy="681120"/>
          </a:xfrm>
          <a:prstGeom prst="rect">
            <a:avLst/>
          </a:prstGeom>
          <a:noFill/>
          <a:ln>
            <a:noFill/>
          </a:ln>
        </p:spPr>
        <p:style>
          <a:lnRef idx="0">
            <a:scrgbClr r="0" g="0" b="0"/>
          </a:lnRef>
          <a:fillRef idx="0">
            <a:scrgbClr r="0" g="0" b="0"/>
          </a:fillRef>
          <a:effectRef idx="0">
            <a:scrgbClr r="0" g="0" b="0"/>
          </a:effectRef>
          <a:fontRef idx="minor"/>
        </p:style>
      </p:sp>
      <p:sp>
        <p:nvSpPr>
          <p:cNvPr id="265" name="CustomShape 6"/>
          <p:cNvSpPr/>
          <p:nvPr/>
        </p:nvSpPr>
        <p:spPr>
          <a:xfrm>
            <a:off x="685800" y="685800"/>
            <a:ext cx="10815840" cy="1033200"/>
          </a:xfrm>
          <a:prstGeom prst="rect">
            <a:avLst/>
          </a:prstGeom>
          <a:noFill/>
          <a:ln>
            <a:noFill/>
          </a:ln>
        </p:spPr>
        <p:style>
          <a:lnRef idx="0">
            <a:scrgbClr r="0" g="0" b="0"/>
          </a:lnRef>
          <a:fillRef idx="0">
            <a:scrgbClr r="0" g="0" b="0"/>
          </a:fillRef>
          <a:effectRef idx="0">
            <a:scrgbClr r="0" g="0" b="0"/>
          </a:effectRef>
          <a:fontRef idx="minor"/>
        </p:style>
      </p:sp>
      <p:sp>
        <p:nvSpPr>
          <p:cNvPr id="266" name="CustomShape 7"/>
          <p:cNvSpPr/>
          <p:nvPr/>
        </p:nvSpPr>
        <p:spPr>
          <a:xfrm>
            <a:off x="2141280" y="592920"/>
            <a:ext cx="7051680" cy="739080"/>
          </a:xfrm>
          <a:prstGeom prst="rect">
            <a:avLst/>
          </a:prstGeom>
          <a:noFill/>
          <a:ln>
            <a:noFill/>
          </a:ln>
        </p:spPr>
        <p:style>
          <a:lnRef idx="0">
            <a:scrgbClr r="0" g="0" b="0"/>
          </a:lnRef>
          <a:fillRef idx="0">
            <a:scrgbClr r="0" g="0" b="0"/>
          </a:fillRef>
          <a:effectRef idx="0">
            <a:scrgbClr r="0" g="0" b="0"/>
          </a:effectRef>
          <a:fontRef idx="minor"/>
        </p:style>
      </p:sp>
      <p:sp>
        <p:nvSpPr>
          <p:cNvPr id="267" name="CustomShape 8"/>
          <p:cNvSpPr/>
          <p:nvPr/>
        </p:nvSpPr>
        <p:spPr>
          <a:xfrm>
            <a:off x="1519200" y="1744560"/>
            <a:ext cx="8295840" cy="1402920"/>
          </a:xfrm>
          <a:prstGeom prst="rect">
            <a:avLst/>
          </a:prstGeom>
          <a:noFill/>
          <a:ln>
            <a:noFill/>
          </a:ln>
        </p:spPr>
        <p:style>
          <a:lnRef idx="0">
            <a:scrgbClr r="0" g="0" b="0"/>
          </a:lnRef>
          <a:fillRef idx="0">
            <a:scrgbClr r="0" g="0" b="0"/>
          </a:fillRef>
          <a:effectRef idx="0">
            <a:scrgbClr r="0" g="0" b="0"/>
          </a:effectRef>
          <a:fontRef idx="minor"/>
        </p:style>
      </p:sp>
      <p:sp>
        <p:nvSpPr>
          <p:cNvPr id="268" name="TextShape 9"/>
          <p:cNvSpPr txBox="1"/>
          <p:nvPr/>
        </p:nvSpPr>
        <p:spPr>
          <a:xfrm>
            <a:off x="685800" y="924760"/>
            <a:ext cx="11061700" cy="525600"/>
          </a:xfrm>
          <a:prstGeom prst="rect">
            <a:avLst/>
          </a:prstGeom>
          <a:noFill/>
          <a:ln>
            <a:noFill/>
          </a:ln>
        </p:spPr>
        <p:txBody>
          <a:bodyPr lIns="90000" tIns="45000" rIns="90000" bIns="45000">
            <a:noAutofit/>
          </a:bodyPr>
          <a:lstStyle/>
          <a:p>
            <a:r>
              <a:rPr lang="en-US" sz="2400" b="0" strike="noStrike" spc="-1" dirty="0">
                <a:solidFill>
                  <a:schemeClr val="bg1"/>
                </a:solidFill>
                <a:latin typeface="Calibri" panose="020F0502020204030204" pitchFamily="34" charset="0"/>
                <a:cs typeface="Calibri" panose="020F0502020204030204" pitchFamily="34" charset="0"/>
              </a:rPr>
              <a:t>JavaScript closures are an exceedingly common way to leak memory without realizing it</a:t>
            </a:r>
          </a:p>
        </p:txBody>
      </p:sp>
      <p:pic>
        <p:nvPicPr>
          <p:cNvPr id="269" name="Рисунок 268"/>
          <p:cNvPicPr/>
          <p:nvPr/>
        </p:nvPicPr>
        <p:blipFill>
          <a:blip r:embed="rId3"/>
          <a:stretch/>
        </p:blipFill>
        <p:spPr>
          <a:xfrm>
            <a:off x="731520" y="1492380"/>
            <a:ext cx="2342880" cy="1104480"/>
          </a:xfrm>
          <a:prstGeom prst="rect">
            <a:avLst/>
          </a:prstGeom>
          <a:ln>
            <a:noFill/>
          </a:ln>
        </p:spPr>
      </p:pic>
      <p:sp>
        <p:nvSpPr>
          <p:cNvPr id="270" name="TextShape 10"/>
          <p:cNvSpPr txBox="1"/>
          <p:nvPr/>
        </p:nvSpPr>
        <p:spPr>
          <a:xfrm>
            <a:off x="581800" y="3004921"/>
            <a:ext cx="11269700" cy="1114560"/>
          </a:xfrm>
          <a:prstGeom prst="rect">
            <a:avLst/>
          </a:prstGeom>
          <a:noFill/>
          <a:ln>
            <a:noFill/>
          </a:ln>
        </p:spPr>
        <p:txBody>
          <a:bodyPr lIns="90000" tIns="45000" rIns="90000" bIns="45000">
            <a:noAutofit/>
          </a:bodyPr>
          <a:lstStyle/>
          <a:p>
            <a:pPr algn="just"/>
            <a:r>
              <a:rPr lang="en-US" sz="2400" b="0" strike="noStrike" spc="-1" dirty="0">
                <a:solidFill>
                  <a:schemeClr val="bg1"/>
                </a:solidFill>
                <a:latin typeface="Calibri" panose="020F0502020204030204" pitchFamily="34" charset="0"/>
                <a:cs typeface="Calibri" panose="020F0502020204030204" pitchFamily="34" charset="0"/>
              </a:rPr>
              <a:t>This leaks the memory allocated for name . This code creates an internal closure, so as long as the outer function exists, the name variable cannot be cleaned up because there will be a persistent reference to it through that closure. If the contents of the name variable were extremely large instead of just a short string, major problems could result.</a:t>
            </a:r>
          </a:p>
        </p:txBody>
      </p:sp>
      <p:sp>
        <p:nvSpPr>
          <p:cNvPr id="13" name="TextShape 3">
            <a:extLst>
              <a:ext uri="{FF2B5EF4-FFF2-40B4-BE49-F238E27FC236}">
                <a16:creationId xmlns:a16="http://schemas.microsoft.com/office/drawing/2014/main" id="{415067AD-78CB-4F04-8E56-93A7F0324053}"/>
              </a:ext>
            </a:extLst>
          </p:cNvPr>
          <p:cNvSpPr txBox="1"/>
          <p:nvPr/>
        </p:nvSpPr>
        <p:spPr>
          <a:xfrm>
            <a:off x="731520" y="205920"/>
            <a:ext cx="11565360" cy="525600"/>
          </a:xfrm>
          <a:prstGeom prst="rect">
            <a:avLst/>
          </a:prstGeom>
          <a:noFill/>
          <a:ln>
            <a:noFill/>
          </a:ln>
        </p:spPr>
        <p:txBody>
          <a:bodyPr lIns="90000" tIns="45000" rIns="90000" bIns="45000">
            <a:noAutofit/>
          </a:bodyPr>
          <a:lstStyle/>
          <a:p>
            <a:pPr>
              <a:lnSpc>
                <a:spcPct val="90000"/>
              </a:lnSpc>
            </a:pPr>
            <a:r>
              <a:rPr lang="en-US" sz="3600" b="1" strike="noStrike" spc="-1" dirty="0">
                <a:solidFill>
                  <a:schemeClr val="bg1"/>
                </a:solidFill>
                <a:latin typeface="Proxima Nova Black"/>
              </a:rPr>
              <a:t>Memory Leaks in JavaScript</a:t>
            </a:r>
            <a:endParaRPr lang="en-US" sz="3600" b="0" strike="noStrike" spc="-1" dirty="0">
              <a:solidFill>
                <a:schemeClr val="bg1"/>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0" name="pasted-image.png"/>
          <p:cNvPicPr/>
          <p:nvPr/>
        </p:nvPicPr>
        <p:blipFill>
          <a:blip r:embed="rId2"/>
          <a:stretch/>
        </p:blipFill>
        <p:spPr>
          <a:xfrm>
            <a:off x="0" y="0"/>
            <a:ext cx="12187440" cy="6853320"/>
          </a:xfrm>
          <a:prstGeom prst="rect">
            <a:avLst/>
          </a:prstGeom>
          <a:ln w="1260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1902</TotalTime>
  <Words>2153</Words>
  <Application>Microsoft Office PowerPoint</Application>
  <PresentationFormat>Широкоэкранный</PresentationFormat>
  <Paragraphs>74</Paragraphs>
  <Slides>15</Slides>
  <Notes>6</Notes>
  <HiddenSlides>0</HiddenSlides>
  <MMClips>0</MMClips>
  <ScaleCrop>false</ScaleCrop>
  <HeadingPairs>
    <vt:vector size="6" baseType="variant">
      <vt:variant>
        <vt:lpstr>Использованные шрифты</vt:lpstr>
      </vt:variant>
      <vt:variant>
        <vt:i4>9</vt:i4>
      </vt:variant>
      <vt:variant>
        <vt:lpstr>Тема</vt:lpstr>
      </vt:variant>
      <vt:variant>
        <vt:i4>4</vt:i4>
      </vt:variant>
      <vt:variant>
        <vt:lpstr>Заголовки слайдов</vt:lpstr>
      </vt:variant>
      <vt:variant>
        <vt:i4>15</vt:i4>
      </vt:variant>
    </vt:vector>
  </HeadingPairs>
  <TitlesOfParts>
    <vt:vector size="28" baseType="lpstr">
      <vt:lpstr>Arial</vt:lpstr>
      <vt:lpstr>Calibri</vt:lpstr>
      <vt:lpstr>Calibri Light</vt:lpstr>
      <vt:lpstr>Open Sans Regular</vt:lpstr>
      <vt:lpstr>Proxima Nova Black</vt:lpstr>
      <vt:lpstr>Symbol</vt:lpstr>
      <vt:lpstr>Tahoma</vt:lpstr>
      <vt:lpstr>Times New Roman</vt:lpstr>
      <vt:lpstr>Wingdings</vt:lpstr>
      <vt:lpstr>Office Theme</vt:lpstr>
      <vt:lpstr>Office Theme</vt:lpstr>
      <vt:lpstr>Office Theme</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Verint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508/WCAG SERVICE</dc:title>
  <dc:subject/>
  <dc:creator>Strutynska, Viktoriya</dc:creator>
  <dc:description/>
  <cp:lastModifiedBy>Volodymyr Hrytsiv</cp:lastModifiedBy>
  <cp:revision>64</cp:revision>
  <dcterms:created xsi:type="dcterms:W3CDTF">2018-11-02T13:55:27Z</dcterms:created>
  <dcterms:modified xsi:type="dcterms:W3CDTF">2020-06-12T04:46:36Z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Verint Systems</vt:lpwstr>
  </property>
  <property fmtid="{D5CDD505-2E9C-101B-9397-08002B2CF9AE}" pid="4" name="ContentTypeId">
    <vt:lpwstr>0x0101004195FC54A15F344D83577B1CDDD67A5D</vt:lpwstr>
  </property>
  <property fmtid="{D5CDD505-2E9C-101B-9397-08002B2CF9AE}" pid="5" name="HiddenSlides">
    <vt:i4>0</vt:i4>
  </property>
  <property fmtid="{D5CDD505-2E9C-101B-9397-08002B2CF9AE}" pid="6" name="HyperlinksChanged">
    <vt:bool>false</vt:bool>
  </property>
  <property fmtid="{D5CDD505-2E9C-101B-9397-08002B2CF9AE}" pid="7" name="LinksUpToDate">
    <vt:bool>false</vt:bool>
  </property>
  <property fmtid="{D5CDD505-2E9C-101B-9397-08002B2CF9AE}" pid="8" name="MMClips">
    <vt:i4>0</vt:i4>
  </property>
  <property fmtid="{D5CDD505-2E9C-101B-9397-08002B2CF9AE}" pid="9" name="Notes">
    <vt:i4>6</vt:i4>
  </property>
  <property fmtid="{D5CDD505-2E9C-101B-9397-08002B2CF9AE}" pid="10" name="PresentationFormat">
    <vt:lpwstr>Широкоэкранный</vt:lpwstr>
  </property>
  <property fmtid="{D5CDD505-2E9C-101B-9397-08002B2CF9AE}" pid="11" name="ScaleCrop">
    <vt:bool>false</vt:bool>
  </property>
  <property fmtid="{D5CDD505-2E9C-101B-9397-08002B2CF9AE}" pid="12" name="ShareDoc">
    <vt:bool>false</vt:bool>
  </property>
  <property fmtid="{D5CDD505-2E9C-101B-9397-08002B2CF9AE}" pid="13" name="Slides">
    <vt:i4>21</vt:i4>
  </property>
</Properties>
</file>