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777" r:id="rId4"/>
    <p:sldMasterId id="2147484789" r:id="rId5"/>
    <p:sldMasterId id="2147484842" r:id="rId6"/>
  </p:sldMasterIdLst>
  <p:notesMasterIdLst>
    <p:notesMasterId r:id="rId37"/>
  </p:notesMasterIdLst>
  <p:sldIdLst>
    <p:sldId id="1229" r:id="rId7"/>
    <p:sldId id="1242" r:id="rId8"/>
    <p:sldId id="1230" r:id="rId9"/>
    <p:sldId id="1241" r:id="rId10"/>
    <p:sldId id="1266" r:id="rId11"/>
    <p:sldId id="1231" r:id="rId12"/>
    <p:sldId id="1240" r:id="rId13"/>
    <p:sldId id="1243" r:id="rId14"/>
    <p:sldId id="1244" r:id="rId15"/>
    <p:sldId id="1245" r:id="rId16"/>
    <p:sldId id="1246" r:id="rId17"/>
    <p:sldId id="1247" r:id="rId18"/>
    <p:sldId id="1248" r:id="rId19"/>
    <p:sldId id="1250" r:id="rId20"/>
    <p:sldId id="1251" r:id="rId21"/>
    <p:sldId id="1252" r:id="rId22"/>
    <p:sldId id="1259" r:id="rId23"/>
    <p:sldId id="1253" r:id="rId24"/>
    <p:sldId id="1254" r:id="rId25"/>
    <p:sldId id="1255" r:id="rId26"/>
    <p:sldId id="1256" r:id="rId27"/>
    <p:sldId id="1257" r:id="rId28"/>
    <p:sldId id="1258" r:id="rId29"/>
    <p:sldId id="1260" r:id="rId30"/>
    <p:sldId id="1261" r:id="rId31"/>
    <p:sldId id="1262" r:id="rId32"/>
    <p:sldId id="1263" r:id="rId33"/>
    <p:sldId id="1264" r:id="rId34"/>
    <p:sldId id="1265" r:id="rId35"/>
    <p:sldId id="1206" r:id="rId36"/>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1pPr>
    <a:lvl2pPr marL="4572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2pPr>
    <a:lvl3pPr marL="9144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3pPr>
    <a:lvl4pPr marL="13716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4pPr>
    <a:lvl5pPr marL="1828800" algn="l" rtl="0" eaLnBrk="0" fontAlgn="base" hangingPunct="0">
      <a:spcBef>
        <a:spcPct val="0"/>
      </a:spcBef>
      <a:spcAft>
        <a:spcPct val="0"/>
      </a:spcAft>
      <a:defRPr kern="1200">
        <a:solidFill>
          <a:schemeClr val="tx1"/>
        </a:solidFill>
        <a:latin typeface="Open Sans" panose="020B0606030504020204" pitchFamily="34" charset="0"/>
        <a:ea typeface="+mn-ea"/>
        <a:cs typeface="+mn-cs"/>
      </a:defRPr>
    </a:lvl5pPr>
    <a:lvl6pPr marL="2286000" algn="l" defTabSz="914400" rtl="0" eaLnBrk="1" latinLnBrk="0" hangingPunct="1">
      <a:defRPr kern="1200">
        <a:solidFill>
          <a:schemeClr val="tx1"/>
        </a:solidFill>
        <a:latin typeface="Open Sans" panose="020B0606030504020204" pitchFamily="34" charset="0"/>
        <a:ea typeface="+mn-ea"/>
        <a:cs typeface="+mn-cs"/>
      </a:defRPr>
    </a:lvl6pPr>
    <a:lvl7pPr marL="2743200" algn="l" defTabSz="914400" rtl="0" eaLnBrk="1" latinLnBrk="0" hangingPunct="1">
      <a:defRPr kern="1200">
        <a:solidFill>
          <a:schemeClr val="tx1"/>
        </a:solidFill>
        <a:latin typeface="Open Sans" panose="020B0606030504020204" pitchFamily="34" charset="0"/>
        <a:ea typeface="+mn-ea"/>
        <a:cs typeface="+mn-cs"/>
      </a:defRPr>
    </a:lvl7pPr>
    <a:lvl8pPr marL="3200400" algn="l" defTabSz="914400" rtl="0" eaLnBrk="1" latinLnBrk="0" hangingPunct="1">
      <a:defRPr kern="1200">
        <a:solidFill>
          <a:schemeClr val="tx1"/>
        </a:solidFill>
        <a:latin typeface="Open Sans" panose="020B0606030504020204" pitchFamily="34" charset="0"/>
        <a:ea typeface="+mn-ea"/>
        <a:cs typeface="+mn-cs"/>
      </a:defRPr>
    </a:lvl8pPr>
    <a:lvl9pPr marL="3657600" algn="l" defTabSz="914400" rtl="0" eaLnBrk="1" latinLnBrk="0" hangingPunct="1">
      <a:defRPr kern="1200">
        <a:solidFill>
          <a:schemeClr val="tx1"/>
        </a:solidFill>
        <a:latin typeface="Open Sans" panose="020B0606030504020204" pitchFamily="34" charset="0"/>
        <a:ea typeface="+mn-ea"/>
        <a:cs typeface="+mn-cs"/>
      </a:defRPr>
    </a:lvl9pPr>
  </p:defaultTextStyle>
  <p:extLst>
    <p:ext uri="{521415D9-36F7-43E2-AB2F-B90AF26B5E84}">
      <p14:sectionLst xmlns:p14="http://schemas.microsoft.com/office/powerpoint/2010/main">
        <p14:section name="Default Section" id="{5993470C-4786-4D38-90BE-AF14FB3A0120}">
          <p14:sldIdLst>
            <p14:sldId id="1229"/>
            <p14:sldId id="1242"/>
            <p14:sldId id="1230"/>
            <p14:sldId id="1241"/>
            <p14:sldId id="1266"/>
            <p14:sldId id="1231"/>
            <p14:sldId id="1240"/>
            <p14:sldId id="1243"/>
            <p14:sldId id="1244"/>
            <p14:sldId id="1245"/>
            <p14:sldId id="1246"/>
            <p14:sldId id="1247"/>
            <p14:sldId id="1248"/>
            <p14:sldId id="1250"/>
            <p14:sldId id="1251"/>
            <p14:sldId id="1252"/>
            <p14:sldId id="1259"/>
            <p14:sldId id="1253"/>
            <p14:sldId id="1254"/>
            <p14:sldId id="1255"/>
            <p14:sldId id="1256"/>
            <p14:sldId id="1257"/>
            <p14:sldId id="1258"/>
            <p14:sldId id="1260"/>
            <p14:sldId id="1261"/>
            <p14:sldId id="1262"/>
            <p14:sldId id="1263"/>
            <p14:sldId id="1264"/>
            <p14:sldId id="1265"/>
            <p14:sldId id="1206"/>
          </p14:sldIdLst>
        </p14:section>
      </p14:sectionLst>
    </p:ext>
    <p:ext uri="{EFAFB233-063F-42B5-8137-9DF3F51BA10A}">
      <p15:sldGuideLst xmlns:p15="http://schemas.microsoft.com/office/powerpoint/2012/main">
        <p15:guide id="1" orient="horz" pos="1979" userDrawn="1">
          <p15:clr>
            <a:srgbClr val="A4A3A4"/>
          </p15:clr>
        </p15:guide>
        <p15:guide id="2" pos="688" userDrawn="1">
          <p15:clr>
            <a:srgbClr val="A4A3A4"/>
          </p15:clr>
        </p15:guide>
        <p15:guide id="3" orient="horz" pos="1729" userDrawn="1">
          <p15:clr>
            <a:srgbClr val="A4A3A4"/>
          </p15:clr>
        </p15:guide>
        <p15:guide id="4" pos="7242" userDrawn="1">
          <p15:clr>
            <a:srgbClr val="A4A3A4"/>
          </p15:clr>
        </p15:guide>
        <p15:guide id="5" orient="horz" pos="129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iktoriya Shyryayeva" initials="" lastIdx="3" clrIdx="0"/>
  <p:cmAuthor id="2" name="Alona Golopuz" initials="AG" lastIdx="3" clrIdx="1"/>
  <p:cmAuthor id="3" name="Tania Kuz" initials="TK" lastIdx="7" clrIdx="2"/>
  <p:cmAuthor id="4" name="Viktoriya Shyryayeva" initials="VS" lastIdx="29" clrIdx="3"/>
  <p:cmAuthor id="5" name="Shaun Greene" initials="SG" lastIdx="1" clrIdx="4">
    <p:extLst>
      <p:ext uri="{19B8F6BF-5375-455C-9EA6-DF929625EA0E}">
        <p15:presenceInfo xmlns:p15="http://schemas.microsoft.com/office/powerpoint/2012/main" userId="S::sgree@softserveinc.com::aada7fc0-4079-4dff-b590-112c10cd2245"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F2585"/>
    <a:srgbClr val="F26D26"/>
    <a:srgbClr val="BA124A"/>
    <a:srgbClr val="E93BDD"/>
    <a:srgbClr val="F49EEE"/>
    <a:srgbClr val="42D109"/>
    <a:srgbClr val="159B3B"/>
    <a:srgbClr val="0F45B1"/>
    <a:srgbClr val="E3602B"/>
    <a:srgbClr val="F4AB0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15" autoAdjust="0"/>
    <p:restoredTop sz="94660"/>
  </p:normalViewPr>
  <p:slideViewPr>
    <p:cSldViewPr snapToGrid="0">
      <p:cViewPr varScale="1">
        <p:scale>
          <a:sx n="72" d="100"/>
          <a:sy n="72" d="100"/>
        </p:scale>
        <p:origin x="534" y="78"/>
      </p:cViewPr>
      <p:guideLst>
        <p:guide orient="horz" pos="1979"/>
        <p:guide pos="688"/>
        <p:guide orient="horz" pos="1729"/>
        <p:guide pos="7242"/>
        <p:guide orient="horz" pos="129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presProps" Target="presProps.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E746818D-8EB4-40E0-B412-1AB8722040CC}" type="datetimeFigureOut">
              <a:rPr lang="en-GB"/>
              <a:pPr>
                <a:defRPr/>
              </a:pPr>
              <a:t>31/03/2020</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A7524555-7A4A-402C-AA8C-9E148724DB57}" type="slidenum">
              <a:rPr lang="en-GB"/>
              <a:pPr>
                <a:defRPr/>
              </a:pPr>
              <a:t>‹#›</a:t>
            </a:fld>
            <a:endParaRPr lang="en-GB"/>
          </a:p>
        </p:txBody>
      </p:sp>
    </p:spTree>
    <p:extLst>
      <p:ext uri="{BB962C8B-B14F-4D97-AF65-F5344CB8AC3E}">
        <p14:creationId xmlns:p14="http://schemas.microsoft.com/office/powerpoint/2010/main" val="66559136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br>
              <a:rPr lang="uk-UA"/>
            </a:br>
            <a:r>
              <a:rPr lang="en-US"/>
              <a:t>TO</a:t>
            </a:r>
            <a:r>
              <a:rPr lang="uk-UA"/>
              <a:t> </a:t>
            </a:r>
            <a:r>
              <a:rPr lang="en-US"/>
              <a:t>BE</a:t>
            </a:r>
            <a:r>
              <a:rPr lang="uk-UA"/>
              <a:t> </a:t>
            </a:r>
            <a:r>
              <a:rPr lang="en-US"/>
              <a:t>CAPI</a:t>
            </a:r>
            <a:br>
              <a:rPr lang="uk-UA"/>
            </a:br>
            <a:r>
              <a:rPr lang="en-US"/>
              <a:t>TALIZED</a:t>
            </a:r>
          </a:p>
        </p:txBody>
      </p:sp>
    </p:spTree>
    <p:extLst>
      <p:ext uri="{BB962C8B-B14F-4D97-AF65-F5344CB8AC3E}">
        <p14:creationId xmlns:p14="http://schemas.microsoft.com/office/powerpoint/2010/main" val="816532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17924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4_TEXT-ONE-COLUMN-DARK">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CC0A6A9-FB31-4A19-A170-D23A18C938E0}"/>
              </a:ext>
            </a:extLst>
          </p:cNvPr>
          <p:cNvSpPr/>
          <p:nvPr userDrawn="1"/>
        </p:nvSpPr>
        <p:spPr>
          <a:xfrm>
            <a:off x="0" y="0"/>
            <a:ext cx="12192000" cy="6858000"/>
          </a:xfrm>
          <a:prstGeom prst="rect">
            <a:avLst/>
          </a:prstGeom>
          <a:gradFill flip="none" rotWithShape="1">
            <a:gsLst>
              <a:gs pos="0">
                <a:schemeClr val="accent6"/>
              </a:gs>
              <a:gs pos="30000">
                <a:schemeClr val="accent6"/>
              </a:gs>
              <a:gs pos="100000">
                <a:schemeClr val="accent4"/>
              </a:gs>
            </a:gsLst>
            <a:lin ang="10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solidFill>
                  <a:schemeClr val="bg1"/>
                </a:solidFill>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solidFill>
                  <a:schemeClr val="bg1"/>
                </a:solidFill>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solidFill>
                  <a:schemeClr val="bg1"/>
                </a:solidFill>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solidFill>
                  <a:schemeClr val="bg1"/>
                </a:solidFill>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1037844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FOR ICONS">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11512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OR ICON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5045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1328724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67914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77439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br>
              <a:rPr lang="uk-UA"/>
            </a:br>
            <a:r>
              <a:rPr lang="en-US"/>
              <a:t>BE CAPITA</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1799480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3492397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chemeClr val="accent6"/>
            </a:gs>
            <a:gs pos="30000">
              <a:schemeClr val="accent6"/>
            </a:gs>
            <a:gs pos="100000">
              <a:schemeClr val="accent4"/>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2905492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ONE-COLUMN-LIGH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14" name="TextBox 13"/>
          <p:cNvSpPr txBox="1"/>
          <p:nvPr userDrawn="1"/>
        </p:nvSpPr>
        <p:spPr>
          <a:xfrm>
            <a:off x="9486900" y="236808"/>
            <a:ext cx="2121626" cy="261610"/>
          </a:xfrm>
          <a:prstGeom prst="rect">
            <a:avLst/>
          </a:prstGeom>
          <a:noFill/>
        </p:spPr>
        <p:txBody>
          <a:bodyPr wrap="square" rtlCol="0">
            <a:spAutoFit/>
          </a:bodyPr>
          <a:lstStyle/>
          <a:p>
            <a:pPr algn="r"/>
            <a:r>
              <a:rPr lang="en-US" sz="1100" b="0" i="0">
                <a:solidFill>
                  <a:prstClr val="black"/>
                </a:solidFill>
                <a:latin typeface="Open Sans Regular" panose="020B0606030504020204" pitchFamily="34" charset="0"/>
                <a:ea typeface="Open Sans Regular" panose="020B0606030504020204" pitchFamily="34" charset="0"/>
                <a:cs typeface="Open Sans Regular" panose="020B0606030504020204" pitchFamily="34" charset="0"/>
              </a:rPr>
              <a:t>SoftServe Confidential</a:t>
            </a:r>
          </a:p>
        </p:txBody>
      </p:sp>
    </p:spTree>
    <p:extLst>
      <p:ext uri="{BB962C8B-B14F-4D97-AF65-F5344CB8AC3E}">
        <p14:creationId xmlns:p14="http://schemas.microsoft.com/office/powerpoint/2010/main" val="66867217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SLIDE-GRADIENT-1">
    <p:bg>
      <p:bgPr>
        <a:gradFill flip="none" rotWithShape="1">
          <a:gsLst>
            <a:gs pos="0">
              <a:srgbClr val="8F2585"/>
            </a:gs>
            <a:gs pos="100000">
              <a:srgbClr val="F26D26"/>
            </a:gs>
          </a:gsLst>
          <a:lin ang="10800000" scaled="0"/>
          <a:tileRect/>
        </a:gradFill>
        <a:effectLst/>
      </p:bgPr>
    </p:bg>
    <p:spTree>
      <p:nvGrpSpPr>
        <p:cNvPr id="1" name=""/>
        <p:cNvGrpSpPr/>
        <p:nvPr/>
      </p:nvGrpSpPr>
      <p:grpSpPr>
        <a:xfrm>
          <a:off x="0" y="0"/>
          <a:ext cx="0" cy="0"/>
          <a:chOff x="0" y="0"/>
          <a:chExt cx="0" cy="0"/>
        </a:xfrm>
      </p:grpSpPr>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
        <p:nvSpPr>
          <p:cNvPr id="10" name="Title 8">
            <a:extLst>
              <a:ext uri="{FF2B5EF4-FFF2-40B4-BE49-F238E27FC236}">
                <a16:creationId xmlns:a16="http://schemas.microsoft.com/office/drawing/2014/main" id="{353C5CCE-34CF-4745-B8D7-AF744DB56245}"/>
              </a:ext>
            </a:extLst>
          </p:cNvPr>
          <p:cNvSpPr>
            <a:spLocks noGrp="1"/>
          </p:cNvSpPr>
          <p:nvPr>
            <p:ph type="title" hasCustomPrompt="1"/>
          </p:nvPr>
        </p:nvSpPr>
        <p:spPr>
          <a:xfrm>
            <a:off x="-208308" y="174928"/>
            <a:ext cx="12390783" cy="6683071"/>
          </a:xfrm>
          <a:prstGeom prst="rect">
            <a:avLst/>
          </a:prstGeom>
        </p:spPr>
        <p:txBody>
          <a:bodyPr anchor="t">
            <a:noAutofit/>
          </a:bodyPr>
          <a:lstStyle>
            <a:lvl1pPr>
              <a:lnSpc>
                <a:spcPts val="11000"/>
              </a:lnSpc>
              <a:defRPr sz="15000">
                <a:latin typeface="Proxima Nova Black" panose="02000506030000020004" pitchFamily="50" charset="0"/>
              </a:defRPr>
            </a:lvl1pPr>
          </a:lstStyle>
          <a:p>
            <a:r>
              <a:rPr lang="en-US"/>
              <a:t>TITLE</a:t>
            </a:r>
            <a:br>
              <a:rPr lang="uk-UA"/>
            </a:br>
            <a:r>
              <a:rPr lang="en-US"/>
              <a:t>TO</a:t>
            </a:r>
            <a:r>
              <a:rPr lang="uk-UA"/>
              <a:t> </a:t>
            </a:r>
            <a:r>
              <a:rPr lang="en-US"/>
              <a:t>BE</a:t>
            </a:r>
            <a:r>
              <a:rPr lang="uk-UA"/>
              <a:t> </a:t>
            </a:r>
            <a:r>
              <a:rPr lang="en-US"/>
              <a:t>CAPI</a:t>
            </a:r>
            <a:br>
              <a:rPr lang="uk-UA"/>
            </a:br>
            <a:r>
              <a:rPr lang="en-US"/>
              <a:t>TALIZED</a:t>
            </a:r>
          </a:p>
        </p:txBody>
      </p:sp>
    </p:spTree>
    <p:extLst>
      <p:ext uri="{BB962C8B-B14F-4D97-AF65-F5344CB8AC3E}">
        <p14:creationId xmlns:p14="http://schemas.microsoft.com/office/powerpoint/2010/main" val="41998886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TITLE-SLIDE-GRADIENT-2">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7487657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Tree>
    <p:extLst>
      <p:ext uri="{BB962C8B-B14F-4D97-AF65-F5344CB8AC3E}">
        <p14:creationId xmlns:p14="http://schemas.microsoft.com/office/powerpoint/2010/main" val="3124640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FOR ICONS">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870443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227376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ACKGROUND_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1C47469-3B03-E44C-89B5-F697BC2200BB}"/>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424666766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TWO-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763711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EXT-THREE-COLUMN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5723897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DESCRIPTION-SIDETEXT-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br>
              <a:rPr lang="uk-UA"/>
            </a:br>
            <a:r>
              <a:rPr lang="en-US"/>
              <a:t>BE CAPITA</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329673227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70823677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TITLE-SIDETEXT-PROCESS-GRADIENT">
    <p:bg>
      <p:bgPr>
        <a:gradFill>
          <a:gsLst>
            <a:gs pos="0">
              <a:srgbClr val="8F2585"/>
            </a:gs>
            <a:gs pos="100000">
              <a:srgbClr val="F26D26"/>
            </a:gs>
          </a:gsLst>
          <a:lin ang="10800000" scaled="0"/>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2" name="Text Placeholder 6"/>
          <p:cNvSpPr>
            <a:spLocks noGrp="1"/>
          </p:cNvSpPr>
          <p:nvPr>
            <p:ph type="body" sz="quarter" idx="14" hasCustomPrompt="1"/>
          </p:nvPr>
        </p:nvSpPr>
        <p:spPr>
          <a:xfrm>
            <a:off x="28956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3" name="Text Placeholder 6"/>
          <p:cNvSpPr>
            <a:spLocks noGrp="1"/>
          </p:cNvSpPr>
          <p:nvPr>
            <p:ph type="body" sz="quarter" idx="15" hasCustomPrompt="1"/>
          </p:nvPr>
        </p:nvSpPr>
        <p:spPr>
          <a:xfrm>
            <a:off x="51054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4" name="Text Placeholder 6"/>
          <p:cNvSpPr>
            <a:spLocks noGrp="1"/>
          </p:cNvSpPr>
          <p:nvPr>
            <p:ph type="body" sz="quarter" idx="16" hasCustomPrompt="1"/>
          </p:nvPr>
        </p:nvSpPr>
        <p:spPr>
          <a:xfrm>
            <a:off x="7315200" y="2057400"/>
            <a:ext cx="1981200" cy="685801"/>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25" name="Text Placeholder 6"/>
          <p:cNvSpPr>
            <a:spLocks noGrp="1"/>
          </p:cNvSpPr>
          <p:nvPr>
            <p:ph type="body" sz="quarter" idx="17" hasCustomPrompt="1"/>
          </p:nvPr>
        </p:nvSpPr>
        <p:spPr>
          <a:xfrm>
            <a:off x="9525000" y="2057401"/>
            <a:ext cx="1981200" cy="685800"/>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
        <p:nvSpPr>
          <p:cNvPr id="10" name="Title 1">
            <a:extLst>
              <a:ext uri="{FF2B5EF4-FFF2-40B4-BE49-F238E27FC236}">
                <a16:creationId xmlns:a16="http://schemas.microsoft.com/office/drawing/2014/main" id="{B4B68A2E-49F8-4BDA-BD1A-488169336555}"/>
              </a:ext>
            </a:extLst>
          </p:cNvPr>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Tree>
    <p:extLst>
      <p:ext uri="{BB962C8B-B14F-4D97-AF65-F5344CB8AC3E}">
        <p14:creationId xmlns:p14="http://schemas.microsoft.com/office/powerpoint/2010/main" val="366624332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SLIDE-DARK-1">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208308" y="174928"/>
            <a:ext cx="12390783" cy="5459753"/>
          </a:xfrm>
          <a:prstGeom prst="rect">
            <a:avLst/>
          </a:prstGeom>
        </p:spPr>
        <p:txBody>
          <a:bodyPr anchor="t">
            <a:noAutofit/>
          </a:bodyPr>
          <a:lstStyle>
            <a:lvl1pPr>
              <a:lnSpc>
                <a:spcPts val="10500"/>
              </a:lnSpc>
              <a:defRPr sz="15000">
                <a:solidFill>
                  <a:schemeClr val="tx1"/>
                </a:solidFill>
                <a:latin typeface="Proxima Nova Black" panose="02000506030000020004" pitchFamily="50" charset="0"/>
              </a:defRPr>
            </a:lvl1pPr>
          </a:lstStyle>
          <a:p>
            <a:r>
              <a:rPr lang="en-US"/>
              <a:t>TITLE</a:t>
            </a:r>
            <a:br>
              <a:rPr lang="uk-UA"/>
            </a:br>
            <a:r>
              <a:rPr lang="en-US"/>
              <a:t>TO</a:t>
            </a:r>
            <a:r>
              <a:rPr lang="uk-UA"/>
              <a:t> </a:t>
            </a:r>
            <a:r>
              <a:rPr lang="en-US"/>
              <a:t>BE</a:t>
            </a:r>
            <a:r>
              <a:rPr lang="uk-UA"/>
              <a:t> </a:t>
            </a:r>
            <a:r>
              <a:rPr lang="en-US"/>
              <a:t>CAPI</a:t>
            </a:r>
            <a:br>
              <a:rPr lang="uk-UA"/>
            </a:br>
            <a:r>
              <a:rPr lang="en-US"/>
              <a:t>TALIZED</a:t>
            </a:r>
          </a:p>
        </p:txBody>
      </p:sp>
      <p:sp>
        <p:nvSpPr>
          <p:cNvPr id="20"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8" name="Picture 7">
            <a:extLst>
              <a:ext uri="{FF2B5EF4-FFF2-40B4-BE49-F238E27FC236}">
                <a16:creationId xmlns:a16="http://schemas.microsoft.com/office/drawing/2014/main" id="{1CF45043-0DF6-7844-A454-194D648F98F1}"/>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3497061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SLIDE-DARK-2">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9" name="Title 8"/>
          <p:cNvSpPr>
            <a:spLocks noGrp="1"/>
          </p:cNvSpPr>
          <p:nvPr>
            <p:ph type="title" hasCustomPrompt="1"/>
          </p:nvPr>
        </p:nvSpPr>
        <p:spPr>
          <a:xfrm>
            <a:off x="685801" y="685799"/>
            <a:ext cx="10820400" cy="4800601"/>
          </a:xfrm>
          <a:prstGeom prst="rect">
            <a:avLst/>
          </a:prstGeom>
        </p:spPr>
        <p:txBody>
          <a:bodyPr lIns="0" anchor="t">
            <a:noAutofit/>
          </a:bodyPr>
          <a:lstStyle>
            <a:lvl1pPr>
              <a:lnSpc>
                <a:spcPts val="11000"/>
              </a:lnSpc>
              <a:defRPr sz="12500">
                <a:solidFill>
                  <a:schemeClr val="tx1"/>
                </a:solidFill>
                <a:latin typeface="Proxima Nova Black" panose="02000506030000020004" pitchFamily="50" charset="0"/>
              </a:defRPr>
            </a:lvl1pPr>
          </a:lstStyle>
          <a:p>
            <a:r>
              <a:rPr lang="en-US"/>
              <a:t>TITLE TO BE CAPITALIZED</a:t>
            </a:r>
          </a:p>
        </p:txBody>
      </p:sp>
      <p:sp>
        <p:nvSpPr>
          <p:cNvPr id="4" name="Text Placeholder 19"/>
          <p:cNvSpPr>
            <a:spLocks noGrp="1"/>
          </p:cNvSpPr>
          <p:nvPr>
            <p:ph type="body" sz="quarter" idx="10" hasCustomPrompt="1"/>
          </p:nvPr>
        </p:nvSpPr>
        <p:spPr>
          <a:xfrm>
            <a:off x="685800" y="5915025"/>
            <a:ext cx="3467100" cy="295275"/>
          </a:xfrm>
          <a:prstGeom prst="rect">
            <a:avLst/>
          </a:prstGeom>
        </p:spPr>
        <p:txBody>
          <a:bodyPr lIns="0"/>
          <a:lstStyle>
            <a:lvl1pPr marL="0" indent="0">
              <a:buNone/>
              <a:defRPr sz="2000" baseline="0">
                <a:latin typeface="Open Sans" panose="020B0606030504020204" pitchFamily="34" charset="0"/>
                <a:ea typeface="Open Sans" panose="020B0606030504020204" pitchFamily="34" charset="0"/>
                <a:cs typeface="Open Sans" panose="020B0606030504020204" pitchFamily="34" charset="0"/>
              </a:defRPr>
            </a:lvl1pPr>
          </a:lstStyle>
          <a:p>
            <a:pPr lvl="0"/>
            <a:r>
              <a:rPr lang="en-US"/>
              <a:t>by Speaker</a:t>
            </a:r>
          </a:p>
        </p:txBody>
      </p:sp>
      <p:pic>
        <p:nvPicPr>
          <p:cNvPr id="7" name="Picture 6">
            <a:extLst>
              <a:ext uri="{FF2B5EF4-FFF2-40B4-BE49-F238E27FC236}">
                <a16:creationId xmlns:a16="http://schemas.microsoft.com/office/drawing/2014/main" id="{19906801-963A-2748-A48D-2607EEFEA3B7}"/>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3684854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_TEXT-ONE-COLUMN-DARK">
    <p:bg>
      <p:bgPr>
        <a:gradFill flip="none" rotWithShape="1">
          <a:gsLst>
            <a:gs pos="0">
              <a:schemeClr val="accent6"/>
            </a:gs>
            <a:gs pos="30000">
              <a:schemeClr val="accent6"/>
            </a:gs>
            <a:gs pos="100000">
              <a:srgbClr val="7030A0"/>
            </a:gs>
          </a:gsLst>
          <a:lin ang="10800000" scaled="0"/>
          <a:tileRect/>
        </a:gradFill>
        <a:effectLst/>
      </p:bgPr>
    </p:bg>
    <p:spTree>
      <p:nvGrpSpPr>
        <p:cNvPr id="1" name=""/>
        <p:cNvGrpSpPr/>
        <p:nvPr/>
      </p:nvGrpSpPr>
      <p:grpSpPr>
        <a:xfrm>
          <a:off x="0" y="0"/>
          <a:ext cx="0" cy="0"/>
          <a:chOff x="0" y="0"/>
          <a:chExt cx="0" cy="0"/>
        </a:xfrm>
      </p:grpSpPr>
      <p:sp>
        <p:nvSpPr>
          <p:cNvPr id="3" name="Rectangle 2"/>
          <p:cNvSpPr/>
          <p:nvPr userDrawn="1"/>
        </p:nvSpPr>
        <p:spPr>
          <a:xfrm>
            <a:off x="0" y="1744980"/>
            <a:ext cx="12192000" cy="511302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uk-UA"/>
          </a:p>
        </p:txBody>
      </p:sp>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pic>
        <p:nvPicPr>
          <p:cNvPr id="8" name="Picture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961750" y="5906728"/>
            <a:ext cx="1541845" cy="265471"/>
          </a:xfrm>
          <a:prstGeom prst="rect">
            <a:avLst/>
          </a:prstGeom>
        </p:spPr>
      </p:pic>
      <p:sp>
        <p:nvSpPr>
          <p:cNvPr id="6" name="Text Placeholder 6">
            <a:extLst>
              <a:ext uri="{FF2B5EF4-FFF2-40B4-BE49-F238E27FC236}">
                <a16:creationId xmlns:a16="http://schemas.microsoft.com/office/drawing/2014/main" id="{6DDF5AB6-195E-47F9-91E3-98E599C01EFB}"/>
              </a:ext>
            </a:extLst>
          </p:cNvPr>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solidFill>
                  <a:schemeClr val="bg1"/>
                </a:solidFill>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339531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TEXT-ONE-COLUMN-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pic>
        <p:nvPicPr>
          <p:cNvPr id="9" name="Picture 8">
            <a:extLst>
              <a:ext uri="{FF2B5EF4-FFF2-40B4-BE49-F238E27FC236}">
                <a16:creationId xmlns:a16="http://schemas.microsoft.com/office/drawing/2014/main" id="{320D1B1E-8401-8049-8729-0C74A6C1928C}"/>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18536307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2_FOR ICONS">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10820400" cy="3429000"/>
          </a:xfrm>
          <a:prstGeom prst="rect">
            <a:avLst/>
          </a:prstGeom>
        </p:spPr>
        <p:txBody>
          <a:bodyPr lIns="0"/>
          <a:lstStyle>
            <a:lvl1pPr marL="0" indent="0">
              <a:lnSpc>
                <a:spcPct val="100000"/>
              </a:lnSpc>
              <a:buNone/>
              <a:defRPr sz="2000" b="0" i="0">
                <a:latin typeface="Open Sans Regular" panose="020B0606030504020204" pitchFamily="34" charset="0"/>
                <a:ea typeface="Open Sans Regular" panose="020B0606030504020204" pitchFamily="34" charset="0"/>
                <a:cs typeface="Open Sans Regular" panose="020B0606030504020204" pitchFamily="34" charset="0"/>
              </a:defRPr>
            </a:lvl1pPr>
            <a:lvl2pPr marL="457200" indent="0">
              <a:buNone/>
              <a:defRPr sz="1800" b="0" i="0">
                <a:latin typeface="Open Sans Regular" panose="020B0606030504020204" pitchFamily="34" charset="0"/>
                <a:ea typeface="Open Sans Regular" panose="020B0606030504020204" pitchFamily="34" charset="0"/>
                <a:cs typeface="Open Sans Regular" panose="020B0606030504020204" pitchFamily="34" charset="0"/>
              </a:defRPr>
            </a:lvl2pPr>
            <a:lvl3pPr marL="914400" indent="0">
              <a:buNone/>
              <a:defRPr sz="1600" b="0" i="0">
                <a:latin typeface="Open Sans Regular" panose="020B0606030504020204" pitchFamily="34" charset="0"/>
                <a:ea typeface="Open Sans Regular" panose="020B0606030504020204" pitchFamily="34" charset="0"/>
                <a:cs typeface="Open Sans Regular" panose="020B0606030504020204" pitchFamily="34" charset="0"/>
              </a:defRPr>
            </a:lvl3pPr>
            <a:lvl4pPr marL="1371600" indent="0">
              <a:buNone/>
              <a:defRPr sz="1400" b="0" i="0">
                <a:latin typeface="Open Sans Regular" panose="020B0606030504020204" pitchFamily="34" charset="0"/>
                <a:ea typeface="Open Sans Regular" panose="020B0606030504020204" pitchFamily="34" charset="0"/>
                <a:cs typeface="Open Sans Regular" panose="020B0606030504020204" pitchFamily="34" charset="0"/>
              </a:defRPr>
            </a:lvl4pPr>
            <a:lvl5pPr marL="1828800" indent="0">
              <a:buNone/>
              <a:defRPr sz="1200" b="0" i="0">
                <a:latin typeface="Open Sans Regular" panose="020B0606030504020204" pitchFamily="34" charset="0"/>
                <a:ea typeface="Open Sans Regular" panose="020B0606030504020204" pitchFamily="34" charset="0"/>
                <a:cs typeface="Open Sans Regular"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7272068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3956310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EXT-TWO-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5174998"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6330696" y="2057400"/>
            <a:ext cx="5175504"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7112178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EXT-THREE-COLUMNS-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sp>
        <p:nvSpPr>
          <p:cNvPr id="7" name="Text Placeholder 6"/>
          <p:cNvSpPr>
            <a:spLocks noGrp="1"/>
          </p:cNvSpPr>
          <p:nvPr>
            <p:ph type="body" sz="quarter" idx="10" hasCustomPrompt="1"/>
          </p:nvPr>
        </p:nvSpPr>
        <p:spPr>
          <a:xfrm>
            <a:off x="6858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6" name="Text Placeholder 6"/>
          <p:cNvSpPr>
            <a:spLocks noGrp="1"/>
          </p:cNvSpPr>
          <p:nvPr>
            <p:ph type="body" sz="quarter" idx="11" hasCustomPrompt="1"/>
          </p:nvPr>
        </p:nvSpPr>
        <p:spPr>
          <a:xfrm>
            <a:off x="4363212" y="2057400"/>
            <a:ext cx="3465576"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5" name="Text Placeholder 6"/>
          <p:cNvSpPr>
            <a:spLocks noGrp="1"/>
          </p:cNvSpPr>
          <p:nvPr>
            <p:ph type="body" sz="quarter" idx="12" hasCustomPrompt="1"/>
          </p:nvPr>
        </p:nvSpPr>
        <p:spPr>
          <a:xfrm>
            <a:off x="8039100" y="2057400"/>
            <a:ext cx="3467100" cy="34290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9868311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DESCRIPTION-SIDETEXT-GRADIENT">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4381500" y="1382486"/>
            <a:ext cx="7124700" cy="4103914"/>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85800" y="1382486"/>
            <a:ext cx="3467100" cy="1913709"/>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a:t>
            </a:r>
            <a:br>
              <a:rPr lang="uk-UA"/>
            </a:br>
            <a:r>
              <a:rPr lang="en-US"/>
              <a:t>BE CAPITA</a:t>
            </a:r>
            <a:br>
              <a:rPr lang="uk-UA"/>
            </a:br>
            <a:r>
              <a:rPr lang="en-US"/>
              <a:t>LIZED</a:t>
            </a:r>
          </a:p>
        </p:txBody>
      </p:sp>
      <p:sp>
        <p:nvSpPr>
          <p:cNvPr id="8" name="Text Placeholder 6"/>
          <p:cNvSpPr>
            <a:spLocks noGrp="1"/>
          </p:cNvSpPr>
          <p:nvPr>
            <p:ph type="body" sz="quarter" idx="13" hasCustomPrompt="1"/>
          </p:nvPr>
        </p:nvSpPr>
        <p:spPr>
          <a:xfrm>
            <a:off x="685800" y="3429001"/>
            <a:ext cx="3467100" cy="2057400"/>
          </a:xfrm>
          <a:prstGeom prst="rect">
            <a:avLst/>
          </a:prstGeom>
        </p:spPr>
        <p:txBody>
          <a:bodyPr lIns="0"/>
          <a:lstStyle>
            <a:lvl1pPr marL="0" indent="0">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p:txBody>
      </p:sp>
    </p:spTree>
    <p:extLst>
      <p:ext uri="{BB962C8B-B14F-4D97-AF65-F5344CB8AC3E}">
        <p14:creationId xmlns:p14="http://schemas.microsoft.com/office/powerpoint/2010/main" val="252088563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HOTO-LEFT-GRADIENT">
    <p:spTree>
      <p:nvGrpSpPr>
        <p:cNvPr id="1" name=""/>
        <p:cNvGrpSpPr/>
        <p:nvPr/>
      </p:nvGrpSpPr>
      <p:grpSpPr>
        <a:xfrm>
          <a:off x="0" y="0"/>
          <a:ext cx="0" cy="0"/>
          <a:chOff x="0" y="0"/>
          <a:chExt cx="0" cy="0"/>
        </a:xfrm>
      </p:grpSpPr>
      <p:sp>
        <p:nvSpPr>
          <p:cNvPr id="5" name="Text Placeholder 6"/>
          <p:cNvSpPr>
            <a:spLocks noGrp="1"/>
          </p:cNvSpPr>
          <p:nvPr>
            <p:ph type="body" sz="quarter" idx="12" hasCustomPrompt="1"/>
          </p:nvPr>
        </p:nvSpPr>
        <p:spPr>
          <a:xfrm>
            <a:off x="6210300" y="2743200"/>
            <a:ext cx="5295900" cy="2743200"/>
          </a:xfrm>
          <a:prstGeom prst="rect">
            <a:avLst/>
          </a:prstGeom>
        </p:spPr>
        <p:txBody>
          <a:bodyPr lIns="0"/>
          <a:lstStyle>
            <a:lvl1pPr marL="0" indent="0">
              <a:lnSpc>
                <a:spcPct val="100000"/>
              </a:lnSpc>
              <a:buNone/>
              <a:defRPr sz="20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 </a:t>
            </a:r>
          </a:p>
          <a:p>
            <a:pPr lvl="1"/>
            <a:r>
              <a:rPr lang="en-US"/>
              <a:t>Second level</a:t>
            </a:r>
          </a:p>
          <a:p>
            <a:pPr lvl="2"/>
            <a:r>
              <a:rPr lang="en-US"/>
              <a:t>Third level</a:t>
            </a:r>
          </a:p>
          <a:p>
            <a:pPr lvl="3"/>
            <a:r>
              <a:rPr lang="en-US"/>
              <a:t>Fourth level</a:t>
            </a:r>
          </a:p>
          <a:p>
            <a:pPr lvl="4"/>
            <a:r>
              <a:rPr lang="en-US"/>
              <a:t>Fifth level</a:t>
            </a:r>
          </a:p>
        </p:txBody>
      </p:sp>
      <p:sp>
        <p:nvSpPr>
          <p:cNvPr id="3" name="Title 2"/>
          <p:cNvSpPr>
            <a:spLocks noGrp="1"/>
          </p:cNvSpPr>
          <p:nvPr>
            <p:ph type="title" hasCustomPrompt="1"/>
          </p:nvPr>
        </p:nvSpPr>
        <p:spPr>
          <a:xfrm>
            <a:off x="6210300" y="1371601"/>
            <a:ext cx="5295900" cy="1371600"/>
          </a:xfrm>
          <a:prstGeom prst="rect">
            <a:avLst/>
          </a:prstGeom>
        </p:spPr>
        <p:txBody>
          <a:bodyPr lIns="0"/>
          <a:lstStyle>
            <a:lvl1pPr>
              <a:lnSpc>
                <a:spcPct val="80000"/>
              </a:lnSpc>
              <a:defRPr baseline="0">
                <a:latin typeface="Proxima Nova Black" panose="02000506030000020004" pitchFamily="50" charset="0"/>
              </a:defRPr>
            </a:lvl1pPr>
          </a:lstStyle>
          <a:p>
            <a:r>
              <a:rPr lang="en-US"/>
              <a:t>TITLE TO BE CAPITALIZED</a:t>
            </a:r>
          </a:p>
        </p:txBody>
      </p:sp>
      <p:sp>
        <p:nvSpPr>
          <p:cNvPr id="4" name="Picture Placeholder 3"/>
          <p:cNvSpPr>
            <a:spLocks noGrp="1"/>
          </p:cNvSpPr>
          <p:nvPr>
            <p:ph type="pic" sz="quarter" idx="13"/>
          </p:nvPr>
        </p:nvSpPr>
        <p:spPr>
          <a:xfrm>
            <a:off x="0" y="0"/>
            <a:ext cx="5295900" cy="6858000"/>
          </a:xfrm>
          <a:prstGeom prst="rect">
            <a:avLst/>
          </a:prstGeom>
        </p:spPr>
        <p:txBody>
          <a:bodyPr/>
          <a:lstStyle/>
          <a:p>
            <a:r>
              <a:rPr lang="en-US"/>
              <a:t>Click icon to add picture</a:t>
            </a:r>
          </a:p>
        </p:txBody>
      </p:sp>
    </p:spTree>
    <p:extLst>
      <p:ext uri="{BB962C8B-B14F-4D97-AF65-F5344CB8AC3E}">
        <p14:creationId xmlns:p14="http://schemas.microsoft.com/office/powerpoint/2010/main" val="238857533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TIMELINE-DARK">
    <p:bg>
      <p:bgPr>
        <a:gradFill flip="none" rotWithShape="1">
          <a:gsLst>
            <a:gs pos="98000">
              <a:srgbClr val="00BCDE"/>
            </a:gs>
            <a:gs pos="1000">
              <a:srgbClr val="562D7F"/>
            </a:gs>
          </a:gsLst>
          <a:lin ang="10800000" scaled="0"/>
          <a:tileRect/>
        </a:gradFill>
        <a:effectLst/>
      </p:bgPr>
    </p:bg>
    <p:spTree>
      <p:nvGrpSpPr>
        <p:cNvPr id="1" name=""/>
        <p:cNvGrpSpPr/>
        <p:nvPr/>
      </p:nvGrpSpPr>
      <p:grpSpPr>
        <a:xfrm>
          <a:off x="0" y="0"/>
          <a:ext cx="0" cy="0"/>
          <a:chOff x="0" y="0"/>
          <a:chExt cx="0" cy="0"/>
        </a:xfrm>
      </p:grpSpPr>
      <p:sp>
        <p:nvSpPr>
          <p:cNvPr id="20" name="Text Placeholder 6"/>
          <p:cNvSpPr>
            <a:spLocks noGrp="1"/>
          </p:cNvSpPr>
          <p:nvPr>
            <p:ph type="body" sz="quarter" idx="13" hasCustomPrompt="1"/>
          </p:nvPr>
        </p:nvSpPr>
        <p:spPr>
          <a:xfrm>
            <a:off x="6858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21" name="Title 1"/>
          <p:cNvSpPr>
            <a:spLocks noGrp="1"/>
          </p:cNvSpPr>
          <p:nvPr>
            <p:ph type="title" hasCustomPrompt="1"/>
          </p:nvPr>
        </p:nvSpPr>
        <p:spPr>
          <a:xfrm>
            <a:off x="685800" y="685801"/>
            <a:ext cx="10820400" cy="685800"/>
          </a:xfrm>
          <a:prstGeom prst="rect">
            <a:avLst/>
          </a:prstGeom>
        </p:spPr>
        <p:txBody>
          <a:bodyPr lIns="0"/>
          <a:lstStyle>
            <a:lvl1pPr>
              <a:defRPr baseline="0">
                <a:latin typeface="Proxima Nova Black" panose="02000506030000020004" pitchFamily="50" charset="0"/>
              </a:defRPr>
            </a:lvl1pPr>
          </a:lstStyle>
          <a:p>
            <a:r>
              <a:rPr lang="en-US"/>
              <a:t>TITLE TO BE CAPITALIZED</a:t>
            </a:r>
          </a:p>
        </p:txBody>
      </p:sp>
      <p:cxnSp>
        <p:nvCxnSpPr>
          <p:cNvPr id="6" name="Straight Connector 5"/>
          <p:cNvCxnSpPr/>
          <p:nvPr userDrawn="1"/>
        </p:nvCxnSpPr>
        <p:spPr>
          <a:xfrm>
            <a:off x="-28575" y="2743200"/>
            <a:ext cx="12252960"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Oval 6"/>
          <p:cNvSpPr/>
          <p:nvPr userDrawn="1"/>
        </p:nvSpPr>
        <p:spPr>
          <a:xfrm>
            <a:off x="6172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6" name="Oval 25"/>
          <p:cNvSpPr/>
          <p:nvPr userDrawn="1"/>
        </p:nvSpPr>
        <p:spPr>
          <a:xfrm>
            <a:off x="28270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7" name="Oval 26"/>
          <p:cNvSpPr/>
          <p:nvPr userDrawn="1"/>
        </p:nvSpPr>
        <p:spPr>
          <a:xfrm>
            <a:off x="50368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8" name="Oval 27"/>
          <p:cNvSpPr/>
          <p:nvPr userDrawn="1"/>
        </p:nvSpPr>
        <p:spPr>
          <a:xfrm>
            <a:off x="72466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29" name="Oval 28"/>
          <p:cNvSpPr/>
          <p:nvPr userDrawn="1"/>
        </p:nvSpPr>
        <p:spPr>
          <a:xfrm>
            <a:off x="9456420" y="2674620"/>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endParaRPr>
          </a:p>
        </p:txBody>
      </p:sp>
      <p:sp>
        <p:nvSpPr>
          <p:cNvPr id="30" name="Text Placeholder 6"/>
          <p:cNvSpPr>
            <a:spLocks noGrp="1"/>
          </p:cNvSpPr>
          <p:nvPr>
            <p:ph type="body" sz="quarter" idx="18" hasCustomPrompt="1"/>
          </p:nvPr>
        </p:nvSpPr>
        <p:spPr>
          <a:xfrm>
            <a:off x="28956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1" name="Text Placeholder 6"/>
          <p:cNvSpPr>
            <a:spLocks noGrp="1"/>
          </p:cNvSpPr>
          <p:nvPr>
            <p:ph type="body" sz="quarter" idx="19" hasCustomPrompt="1"/>
          </p:nvPr>
        </p:nvSpPr>
        <p:spPr>
          <a:xfrm>
            <a:off x="5114925" y="2057400"/>
            <a:ext cx="1466850" cy="809897"/>
          </a:xfrm>
          <a:prstGeom prst="rect">
            <a:avLst/>
          </a:prstGeom>
          <a:noFill/>
          <a:ln>
            <a:noFill/>
          </a:ln>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2" name="Text Placeholder 6"/>
          <p:cNvSpPr>
            <a:spLocks noGrp="1"/>
          </p:cNvSpPr>
          <p:nvPr>
            <p:ph type="body" sz="quarter" idx="20" hasCustomPrompt="1"/>
          </p:nvPr>
        </p:nvSpPr>
        <p:spPr>
          <a:xfrm>
            <a:off x="7315200" y="205740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3" name="Text Placeholder 6"/>
          <p:cNvSpPr>
            <a:spLocks noGrp="1"/>
          </p:cNvSpPr>
          <p:nvPr>
            <p:ph type="body" sz="quarter" idx="21" hasCustomPrompt="1"/>
          </p:nvPr>
        </p:nvSpPr>
        <p:spPr>
          <a:xfrm>
            <a:off x="9534525" y="2076450"/>
            <a:ext cx="1466850" cy="809897"/>
          </a:xfrm>
          <a:prstGeom prst="rect">
            <a:avLst/>
          </a:prstGeom>
        </p:spPr>
        <p:txBody>
          <a:bodyPr lIns="0"/>
          <a:lstStyle>
            <a:lvl1pPr marL="0" indent="0" algn="l">
              <a:lnSpc>
                <a:spcPct val="100000"/>
              </a:lnSpc>
              <a:buNone/>
              <a:defRPr sz="1600">
                <a:latin typeface="Proxima Nova Black" panose="02000506030000020004" pitchFamily="50"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4" name="Text Placeholder 6"/>
          <p:cNvSpPr>
            <a:spLocks noGrp="1"/>
          </p:cNvSpPr>
          <p:nvPr>
            <p:ph type="body" sz="quarter" idx="12" hasCustomPrompt="1"/>
          </p:nvPr>
        </p:nvSpPr>
        <p:spPr>
          <a:xfrm>
            <a:off x="6858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5" name="Text Placeholder 6"/>
          <p:cNvSpPr>
            <a:spLocks noGrp="1"/>
          </p:cNvSpPr>
          <p:nvPr>
            <p:ph type="body" sz="quarter" idx="22" hasCustomPrompt="1"/>
          </p:nvPr>
        </p:nvSpPr>
        <p:spPr>
          <a:xfrm>
            <a:off x="28956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6" name="Text Placeholder 6"/>
          <p:cNvSpPr>
            <a:spLocks noGrp="1"/>
          </p:cNvSpPr>
          <p:nvPr>
            <p:ph type="body" sz="quarter" idx="23" hasCustomPrompt="1"/>
          </p:nvPr>
        </p:nvSpPr>
        <p:spPr>
          <a:xfrm>
            <a:off x="511492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7" name="Text Placeholder 6"/>
          <p:cNvSpPr>
            <a:spLocks noGrp="1"/>
          </p:cNvSpPr>
          <p:nvPr>
            <p:ph type="body" sz="quarter" idx="24" hasCustomPrompt="1"/>
          </p:nvPr>
        </p:nvSpPr>
        <p:spPr>
          <a:xfrm>
            <a:off x="7315200" y="3076575"/>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sp>
        <p:nvSpPr>
          <p:cNvPr id="38" name="Text Placeholder 6"/>
          <p:cNvSpPr>
            <a:spLocks noGrp="1"/>
          </p:cNvSpPr>
          <p:nvPr>
            <p:ph type="body" sz="quarter" idx="25" hasCustomPrompt="1"/>
          </p:nvPr>
        </p:nvSpPr>
        <p:spPr>
          <a:xfrm>
            <a:off x="9515475" y="3076574"/>
            <a:ext cx="1981200" cy="2276475"/>
          </a:xfrm>
          <a:prstGeom prst="rect">
            <a:avLst/>
          </a:prstGeom>
        </p:spPr>
        <p:txBody>
          <a:bodyPr lIns="0"/>
          <a:lstStyle>
            <a:lvl1pPr marL="0" indent="0">
              <a:lnSpc>
                <a:spcPct val="100000"/>
              </a:lnSpc>
              <a:buNone/>
              <a:defRPr sz="1400">
                <a:latin typeface="Open Sans" panose="020B0606030504020204" pitchFamily="34" charset="0"/>
                <a:ea typeface="Open Sans" panose="020B0606030504020204" pitchFamily="34" charset="0"/>
                <a:cs typeface="Open Sans" panose="020B0606030504020204" pitchFamily="34" charset="0"/>
              </a:defRPr>
            </a:lvl1pPr>
            <a:lvl2pPr marL="457200" indent="0">
              <a:buNone/>
              <a:defRPr sz="1800">
                <a:latin typeface="Open Sans" panose="020B0606030504020204" pitchFamily="34" charset="0"/>
                <a:ea typeface="Open Sans" panose="020B0606030504020204" pitchFamily="34" charset="0"/>
                <a:cs typeface="Open Sans" panose="020B0606030504020204" pitchFamily="34" charset="0"/>
              </a:defRPr>
            </a:lvl2pPr>
            <a:lvl3pPr marL="914400" indent="0">
              <a:buNone/>
              <a:defRPr sz="1600">
                <a:latin typeface="Open Sans" panose="020B0606030504020204" pitchFamily="34" charset="0"/>
                <a:ea typeface="Open Sans" panose="020B0606030504020204" pitchFamily="34" charset="0"/>
                <a:cs typeface="Open Sans" panose="020B0606030504020204" pitchFamily="34" charset="0"/>
              </a:defRPr>
            </a:lvl3pPr>
            <a:lvl4pPr marL="1371600" indent="0">
              <a:buNone/>
              <a:defRPr sz="1400">
                <a:latin typeface="Open Sans" panose="020B0606030504020204" pitchFamily="34" charset="0"/>
                <a:ea typeface="Open Sans" panose="020B0606030504020204" pitchFamily="34" charset="0"/>
                <a:cs typeface="Open Sans" panose="020B0606030504020204" pitchFamily="34" charset="0"/>
              </a:defRPr>
            </a:lvl4pPr>
            <a:lvl5pPr marL="1828800" indent="0">
              <a:buNone/>
              <a:defRPr sz="1200">
                <a:latin typeface="Open Sans" panose="020B0606030504020204" pitchFamily="34" charset="0"/>
                <a:ea typeface="Open Sans" panose="020B0606030504020204" pitchFamily="34" charset="0"/>
                <a:cs typeface="Open Sans" panose="020B0606030504020204" pitchFamily="34" charset="0"/>
              </a:defRPr>
            </a:lvl5pPr>
          </a:lstStyle>
          <a:p>
            <a:pPr lvl="0"/>
            <a:r>
              <a:rPr lang="en-US"/>
              <a:t>Click to edit the text</a:t>
            </a:r>
          </a:p>
        </p:txBody>
      </p:sp>
      <p:pic>
        <p:nvPicPr>
          <p:cNvPr id="22" name="Picture 21">
            <a:extLst>
              <a:ext uri="{FF2B5EF4-FFF2-40B4-BE49-F238E27FC236}">
                <a16:creationId xmlns:a16="http://schemas.microsoft.com/office/drawing/2014/main" id="{D2C70A87-6824-3248-B448-307E7C5BC0C9}"/>
              </a:ext>
            </a:extLst>
          </p:cNvPr>
          <p:cNvPicPr>
            <a:picLocks noChangeAspect="1"/>
          </p:cNvPicPr>
          <p:nvPr userDrawn="1"/>
        </p:nvPicPr>
        <p:blipFill>
          <a:blip r:embed="rId2"/>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9830288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1.emf"/><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image" Target="../media/image1.emf"/><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4"/>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674229508"/>
      </p:ext>
    </p:extLst>
  </p:cSld>
  <p:clrMap bg1="dk1" tx1="lt1" bg2="dk2" tx2="lt2" accent1="accent1" accent2="accent2" accent3="accent3" accent4="accent4" accent5="accent5" accent6="accent6" hlink="hlink" folHlink="folHlink"/>
  <p:sldLayoutIdLst>
    <p:sldLayoutId id="2147484778" r:id="rId1"/>
    <p:sldLayoutId id="2147484779" r:id="rId2"/>
    <p:sldLayoutId id="2147484780" r:id="rId3"/>
    <p:sldLayoutId id="2147484802" r:id="rId4"/>
    <p:sldLayoutId id="2147484781" r:id="rId5"/>
    <p:sldLayoutId id="2147484782" r:id="rId6"/>
    <p:sldLayoutId id="2147484783" r:id="rId7"/>
    <p:sldLayoutId id="2147484784" r:id="rId8"/>
    <p:sldLayoutId id="2147484785" r:id="rId9"/>
    <p:sldLayoutId id="2147484786" r:id="rId10"/>
    <p:sldLayoutId id="2147484787" r:id="rId11"/>
    <p:sldLayoutId id="2147484788"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41790936"/>
      </p:ext>
    </p:extLst>
  </p:cSld>
  <p:clrMap bg1="dk1" tx1="lt1" bg2="dk2" tx2="lt2" accent1="accent1" accent2="accent2" accent3="accent3" accent4="accent4" accent5="accent5" accent6="accent6" hlink="hlink" folHlink="folHlink"/>
  <p:sldLayoutIdLst>
    <p:sldLayoutId id="2147484790" r:id="rId1"/>
    <p:sldLayoutId id="2147484791" r:id="rId2"/>
    <p:sldLayoutId id="2147484792" r:id="rId3"/>
    <p:sldLayoutId id="2147484793" r:id="rId4"/>
    <p:sldLayoutId id="2147484803" r:id="rId5"/>
    <p:sldLayoutId id="2147484794" r:id="rId6"/>
    <p:sldLayoutId id="2147484795" r:id="rId7"/>
    <p:sldLayoutId id="2147484796" r:id="rId8"/>
    <p:sldLayoutId id="2147484797" r:id="rId9"/>
    <p:sldLayoutId id="2147484798" r:id="rId10"/>
    <p:sldLayoutId id="214748479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13"/>
          <a:stretch>
            <a:fillRect/>
          </a:stretch>
        </p:blipFill>
        <p:spPr>
          <a:xfrm>
            <a:off x="9959145" y="5906728"/>
            <a:ext cx="1547055" cy="265471"/>
          </a:xfrm>
          <a:prstGeom prst="rect">
            <a:avLst/>
          </a:prstGeom>
        </p:spPr>
      </p:pic>
    </p:spTree>
    <p:extLst>
      <p:ext uri="{BB962C8B-B14F-4D97-AF65-F5344CB8AC3E}">
        <p14:creationId xmlns:p14="http://schemas.microsoft.com/office/powerpoint/2010/main" val="3849270835"/>
      </p:ext>
    </p:extLst>
  </p:cSld>
  <p:clrMap bg1="dk1" tx1="lt1" bg2="dk2" tx2="lt2" accent1="accent1" accent2="accent2" accent3="accent3" accent4="accent4" accent5="accent5" accent6="accent6" hlink="hlink" folHlink="folHlink"/>
  <p:sldLayoutIdLst>
    <p:sldLayoutId id="2147484844" r:id="rId1"/>
    <p:sldLayoutId id="2147484845" r:id="rId2"/>
    <p:sldLayoutId id="2147484850" r:id="rId3"/>
    <p:sldLayoutId id="2147484849" r:id="rId4"/>
    <p:sldLayoutId id="2147484853" r:id="rId5"/>
    <p:sldLayoutId id="2147484854" r:id="rId6"/>
    <p:sldLayoutId id="2147484855" r:id="rId7"/>
    <p:sldLayoutId id="2147484856" r:id="rId8"/>
    <p:sldLayoutId id="2147484857" r:id="rId9"/>
    <p:sldLayoutId id="2147484858" r:id="rId10"/>
    <p:sldLayoutId id="2147484852"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432">
          <p15:clr>
            <a:srgbClr val="F26B43"/>
          </p15:clr>
        </p15:guide>
        <p15:guide id="4" pos="7248">
          <p15:clr>
            <a:srgbClr val="F26B43"/>
          </p15:clr>
        </p15:guide>
        <p15:guide id="5" orient="horz" pos="432">
          <p15:clr>
            <a:srgbClr val="F26B43"/>
          </p15:clr>
        </p15:guide>
        <p15:guide id="6" orient="horz" pos="864">
          <p15:clr>
            <a:srgbClr val="F26B43"/>
          </p15:clr>
        </p15:guide>
        <p15:guide id="7" orient="horz" pos="3456">
          <p15:clr>
            <a:srgbClr val="F26B43"/>
          </p15:clr>
        </p15:guide>
        <p15:guide id="8" orient="horz" pos="3888">
          <p15:clr>
            <a:srgbClr val="F26B43"/>
          </p15:clr>
        </p15:guide>
        <p15:guide id="9" pos="1680">
          <p15:clr>
            <a:srgbClr val="F26B43"/>
          </p15:clr>
        </p15:guide>
        <p15:guide id="10" pos="1824">
          <p15:clr>
            <a:srgbClr val="F26B43"/>
          </p15:clr>
        </p15:guide>
        <p15:guide id="11" pos="2616">
          <p15:clr>
            <a:srgbClr val="F26B43"/>
          </p15:clr>
        </p15:guide>
        <p15:guide id="12" pos="3072">
          <p15:clr>
            <a:srgbClr val="F26B43"/>
          </p15:clr>
        </p15:guide>
        <p15:guide id="13" pos="2760">
          <p15:clr>
            <a:srgbClr val="F26B43"/>
          </p15:clr>
        </p15:guide>
        <p15:guide id="14" pos="3216">
          <p15:clr>
            <a:srgbClr val="F26B43"/>
          </p15:clr>
        </p15:guide>
        <p15:guide id="15" pos="4464">
          <p15:clr>
            <a:srgbClr val="F26B43"/>
          </p15:clr>
        </p15:guide>
        <p15:guide id="16" pos="4608">
          <p15:clr>
            <a:srgbClr val="F26B43"/>
          </p15:clr>
        </p15:guide>
        <p15:guide id="17" pos="4920">
          <p15:clr>
            <a:srgbClr val="F26B43"/>
          </p15:clr>
        </p15:guide>
        <p15:guide id="18" pos="5064">
          <p15:clr>
            <a:srgbClr val="F26B43"/>
          </p15:clr>
        </p15:guide>
        <p15:guide id="19" pos="5856">
          <p15:clr>
            <a:srgbClr val="F26B43"/>
          </p15:clr>
        </p15:guide>
        <p15:guide id="20" pos="6000">
          <p15:clr>
            <a:srgbClr val="F26B43"/>
          </p15:clr>
        </p15:guide>
        <p15:guide id="21" orient="horz" pos="1296">
          <p15:clr>
            <a:srgbClr val="F26B43"/>
          </p15:clr>
        </p15:guide>
        <p15:guide id="22" orient="horz" pos="1728">
          <p15:clr>
            <a:srgbClr val="F26B43"/>
          </p15:clr>
        </p15:guide>
        <p15:guide id="23" pos="3768">
          <p15:clr>
            <a:srgbClr val="F26B43"/>
          </p15:clr>
        </p15:guide>
        <p15:guide id="24" pos="3912">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3.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3.xml"/><Relationship Id="rId5" Type="http://schemas.openxmlformats.org/officeDocument/2006/relationships/image" Target="../media/image42.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3.xml"/><Relationship Id="rId5" Type="http://schemas.openxmlformats.org/officeDocument/2006/relationships/image" Target="../media/image52.PNG"/><Relationship Id="rId4" Type="http://schemas.openxmlformats.org/officeDocument/2006/relationships/image" Target="../media/image51.PNG"/></Relationships>
</file>

<file path=ppt/slides/_rels/slide24.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3.xml"/><Relationship Id="rId5" Type="http://schemas.openxmlformats.org/officeDocument/2006/relationships/image" Target="../media/image56.PNG"/><Relationship Id="rId4" Type="http://schemas.openxmlformats.org/officeDocument/2006/relationships/image" Target="../media/image55.PNG"/></Relationships>
</file>

<file path=ppt/slides/_rels/slide2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27.xml.rels><?xml version="1.0" encoding="UTF-8" standalone="yes"?>
<Relationships xmlns="http://schemas.openxmlformats.org/package/2006/relationships"><Relationship Id="rId3" Type="http://schemas.openxmlformats.org/officeDocument/2006/relationships/hyperlink" Target="https://caniuse.com/" TargetMode="External"/><Relationship Id="rId2" Type="http://schemas.openxmlformats.org/officeDocument/2006/relationships/hyperlink" Target="http://gs.statcounter.com/" TargetMode="Externa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2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4.PNG"/><Relationship Id="rId1" Type="http://schemas.openxmlformats.org/officeDocument/2006/relationships/slideLayout" Target="../slideLayouts/slideLayout3.xml"/><Relationship Id="rId4" Type="http://schemas.openxmlformats.org/officeDocument/2006/relationships/image" Target="../media/image65.PNG"/></Relationships>
</file>

<file path=ppt/slides/_rels/slide3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831415F-B9DB-4820-AEA0-7D4B3738F685}"/>
              </a:ext>
            </a:extLst>
          </p:cNvPr>
          <p:cNvSpPr>
            <a:spLocks noGrp="1"/>
          </p:cNvSpPr>
          <p:nvPr>
            <p:ph type="title"/>
          </p:nvPr>
        </p:nvSpPr>
        <p:spPr/>
        <p:txBody>
          <a:bodyPr/>
          <a:lstStyle/>
          <a:p>
            <a:r>
              <a:rPr lang="en-US" dirty="0"/>
              <a:t>WELCOME TO THE FUTURE</a:t>
            </a:r>
            <a:endParaRPr lang="uk-UA" u="sng" dirty="0"/>
          </a:p>
        </p:txBody>
      </p:sp>
      <p:sp>
        <p:nvSpPr>
          <p:cNvPr id="5" name="Text Placeholder 4">
            <a:extLst>
              <a:ext uri="{FF2B5EF4-FFF2-40B4-BE49-F238E27FC236}">
                <a16:creationId xmlns:a16="http://schemas.microsoft.com/office/drawing/2014/main" id="{548BC74F-B18A-4578-98FC-BCE7C88CA179}"/>
              </a:ext>
            </a:extLst>
          </p:cNvPr>
          <p:cNvSpPr>
            <a:spLocks noGrp="1"/>
          </p:cNvSpPr>
          <p:nvPr>
            <p:ph type="body" sz="quarter" idx="10"/>
          </p:nvPr>
        </p:nvSpPr>
        <p:spPr/>
        <p:txBody>
          <a:bodyPr/>
          <a:lstStyle/>
          <a:p>
            <a:r>
              <a:rPr lang="en-US" dirty="0"/>
              <a:t>by Volodymyr Hrytsiv </a:t>
            </a:r>
            <a:endParaRPr lang="uk-UA" dirty="0"/>
          </a:p>
        </p:txBody>
      </p:sp>
    </p:spTree>
    <p:extLst>
      <p:ext uri="{BB962C8B-B14F-4D97-AF65-F5344CB8AC3E}">
        <p14:creationId xmlns:p14="http://schemas.microsoft.com/office/powerpoint/2010/main" val="7969525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AF0B634C-F83C-4D88-BC0B-3B862388C1A8}"/>
              </a:ext>
            </a:extLst>
          </p:cNvPr>
          <p:cNvSpPr>
            <a:spLocks noGrp="1"/>
          </p:cNvSpPr>
          <p:nvPr>
            <p:ph type="title"/>
          </p:nvPr>
        </p:nvSpPr>
        <p:spPr>
          <a:xfrm>
            <a:off x="685800" y="376311"/>
            <a:ext cx="10820400" cy="685800"/>
          </a:xfrm>
        </p:spPr>
        <p:txBody>
          <a:bodyPr/>
          <a:lstStyle/>
          <a:p>
            <a:pPr algn="ctr"/>
            <a:r>
              <a:rPr lang="en-US" dirty="0"/>
              <a:t>Site Layout. Best practices. Cross browser’s implementation.</a:t>
            </a:r>
            <a:br>
              <a:rPr lang="en-US" dirty="0"/>
            </a:br>
            <a:endParaRPr lang="uk-UA" dirty="0"/>
          </a:p>
        </p:txBody>
      </p:sp>
      <p:sp>
        <p:nvSpPr>
          <p:cNvPr id="5" name="Text Placeholder 6">
            <a:extLst>
              <a:ext uri="{FF2B5EF4-FFF2-40B4-BE49-F238E27FC236}">
                <a16:creationId xmlns:a16="http://schemas.microsoft.com/office/drawing/2014/main" id="{7C640B8A-850A-472D-A274-224C6E929FAE}"/>
              </a:ext>
            </a:extLst>
          </p:cNvPr>
          <p:cNvSpPr>
            <a:spLocks noGrp="1"/>
          </p:cNvSpPr>
          <p:nvPr>
            <p:ph type="body" sz="quarter" idx="10"/>
          </p:nvPr>
        </p:nvSpPr>
        <p:spPr>
          <a:xfrm>
            <a:off x="772160" y="2057400"/>
            <a:ext cx="10734040" cy="3429000"/>
          </a:xfrm>
        </p:spPr>
        <p:txBody>
          <a:bodyPr/>
          <a:lstStyle/>
          <a:p>
            <a:pPr marL="342900" indent="-342900">
              <a:buFont typeface="Arial" panose="020B0604020202020204" pitchFamily="34" charset="0"/>
              <a:buChar char="•"/>
            </a:pPr>
            <a:r>
              <a:rPr lang="en-US" dirty="0"/>
              <a:t>Normal flow</a:t>
            </a:r>
            <a:endParaRPr lang="ru-RU" dirty="0"/>
          </a:p>
          <a:p>
            <a:pPr marL="342900" indent="-342900">
              <a:buFont typeface="Arial" panose="020B0604020202020204" pitchFamily="34" charset="0"/>
              <a:buChar char="•"/>
            </a:pPr>
            <a:r>
              <a:rPr lang="en-US" dirty="0"/>
              <a:t>The </a:t>
            </a:r>
            <a:r>
              <a:rPr lang="en-US" i="1" dirty="0"/>
              <a:t>display</a:t>
            </a:r>
            <a:r>
              <a:rPr lang="en-US" dirty="0"/>
              <a:t> property</a:t>
            </a:r>
          </a:p>
          <a:p>
            <a:pPr marL="342900" indent="-342900">
              <a:buFont typeface="Arial" panose="020B0604020202020204" pitchFamily="34" charset="0"/>
              <a:buChar char="•"/>
            </a:pPr>
            <a:r>
              <a:rPr lang="en-US" dirty="0"/>
              <a:t>Flexbox</a:t>
            </a:r>
          </a:p>
          <a:p>
            <a:pPr marL="342900" indent="-342900">
              <a:buFont typeface="Arial" panose="020B0604020202020204" pitchFamily="34" charset="0"/>
              <a:buChar char="•"/>
            </a:pPr>
            <a:r>
              <a:rPr lang="en-US" dirty="0"/>
              <a:t>Grid</a:t>
            </a:r>
          </a:p>
          <a:p>
            <a:pPr marL="342900" indent="-342900">
              <a:buFont typeface="Arial" panose="020B0604020202020204" pitchFamily="34" charset="0"/>
              <a:buChar char="•"/>
            </a:pPr>
            <a:r>
              <a:rPr lang="en-US" dirty="0"/>
              <a:t>Floats</a:t>
            </a:r>
          </a:p>
          <a:p>
            <a:pPr marL="342900" indent="-342900">
              <a:buFont typeface="Arial" panose="020B0604020202020204" pitchFamily="34" charset="0"/>
              <a:buChar char="•"/>
            </a:pPr>
            <a:r>
              <a:rPr lang="en-US" dirty="0"/>
              <a:t>Multi-column layout</a:t>
            </a:r>
          </a:p>
        </p:txBody>
      </p:sp>
    </p:spTree>
    <p:extLst>
      <p:ext uri="{BB962C8B-B14F-4D97-AF65-F5344CB8AC3E}">
        <p14:creationId xmlns:p14="http://schemas.microsoft.com/office/powerpoint/2010/main" val="121601850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3">
            <a:extLst>
              <a:ext uri="{FF2B5EF4-FFF2-40B4-BE49-F238E27FC236}">
                <a16:creationId xmlns:a16="http://schemas.microsoft.com/office/drawing/2014/main" id="{0B492251-3ABC-4178-B1D2-59CE6AD286DA}"/>
              </a:ext>
            </a:extLst>
          </p:cNvPr>
          <p:cNvSpPr>
            <a:spLocks noGrp="1"/>
          </p:cNvSpPr>
          <p:nvPr>
            <p:ph type="title"/>
          </p:nvPr>
        </p:nvSpPr>
        <p:spPr>
          <a:xfrm>
            <a:off x="685800" y="685801"/>
            <a:ext cx="10820400" cy="685800"/>
          </a:xfrm>
        </p:spPr>
        <p:txBody>
          <a:bodyPr/>
          <a:lstStyle/>
          <a:p>
            <a:pPr algn="ctr"/>
            <a:r>
              <a:rPr lang="en-US" dirty="0"/>
              <a:t>Normal Flow</a:t>
            </a:r>
            <a:endParaRPr lang="uk-UA" dirty="0"/>
          </a:p>
        </p:txBody>
      </p:sp>
      <p:pic>
        <p:nvPicPr>
          <p:cNvPr id="7" name="Рисунок 6">
            <a:extLst>
              <a:ext uri="{FF2B5EF4-FFF2-40B4-BE49-F238E27FC236}">
                <a16:creationId xmlns:a16="http://schemas.microsoft.com/office/drawing/2014/main" id="{0D5A64F3-23A6-4089-8381-9C11EDE32C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62612" y="1477108"/>
            <a:ext cx="3681677" cy="4304714"/>
          </a:xfrm>
          <a:prstGeom prst="rect">
            <a:avLst/>
          </a:prstGeom>
        </p:spPr>
      </p:pic>
      <p:pic>
        <p:nvPicPr>
          <p:cNvPr id="8" name="Рисунок 7">
            <a:extLst>
              <a:ext uri="{FF2B5EF4-FFF2-40B4-BE49-F238E27FC236}">
                <a16:creationId xmlns:a16="http://schemas.microsoft.com/office/drawing/2014/main" id="{9CFDD801-D2D5-4997-8ADE-AE36400567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53109" y="1477108"/>
            <a:ext cx="3846289" cy="4304714"/>
          </a:xfrm>
          <a:prstGeom prst="rect">
            <a:avLst/>
          </a:prstGeom>
        </p:spPr>
      </p:pic>
      <p:pic>
        <p:nvPicPr>
          <p:cNvPr id="9" name="Рисунок 8">
            <a:extLst>
              <a:ext uri="{FF2B5EF4-FFF2-40B4-BE49-F238E27FC236}">
                <a16:creationId xmlns:a16="http://schemas.microsoft.com/office/drawing/2014/main" id="{7DB67C6E-3F7B-47CB-A104-16E1FDA9C74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61252" y="1477108"/>
            <a:ext cx="3727935" cy="4304714"/>
          </a:xfrm>
          <a:prstGeom prst="rect">
            <a:avLst/>
          </a:prstGeom>
        </p:spPr>
      </p:pic>
    </p:spTree>
    <p:extLst>
      <p:ext uri="{BB962C8B-B14F-4D97-AF65-F5344CB8AC3E}">
        <p14:creationId xmlns:p14="http://schemas.microsoft.com/office/powerpoint/2010/main" val="1856492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5753DA-CDC2-4DA7-A1DC-E99E193D6DDA}"/>
              </a:ext>
            </a:extLst>
          </p:cNvPr>
          <p:cNvSpPr>
            <a:spLocks noGrp="1"/>
          </p:cNvSpPr>
          <p:nvPr>
            <p:ph type="title"/>
          </p:nvPr>
        </p:nvSpPr>
        <p:spPr/>
        <p:txBody>
          <a:bodyPr/>
          <a:lstStyle/>
          <a:p>
            <a:r>
              <a:rPr lang="en-US" b="1" dirty="0"/>
              <a:t>The display property</a:t>
            </a:r>
            <a:br>
              <a:rPr lang="en-US" b="1" dirty="0"/>
            </a:br>
            <a:endParaRPr lang="uk-UA" dirty="0"/>
          </a:p>
        </p:txBody>
      </p:sp>
      <p:sp>
        <p:nvSpPr>
          <p:cNvPr id="5" name="Текст 4">
            <a:extLst>
              <a:ext uri="{FF2B5EF4-FFF2-40B4-BE49-F238E27FC236}">
                <a16:creationId xmlns:a16="http://schemas.microsoft.com/office/drawing/2014/main" id="{23DDF622-4901-4872-998A-B59793A4B540}"/>
              </a:ext>
            </a:extLst>
          </p:cNvPr>
          <p:cNvSpPr>
            <a:spLocks noGrp="1"/>
          </p:cNvSpPr>
          <p:nvPr>
            <p:ph type="body" sz="quarter" idx="10"/>
          </p:nvPr>
        </p:nvSpPr>
        <p:spPr/>
        <p:txBody>
          <a:bodyPr/>
          <a:lstStyle/>
          <a:p>
            <a:r>
              <a:rPr lang="en-US" dirty="0"/>
              <a:t>The main methods of achieving page layout in CSS are all values of the </a:t>
            </a:r>
            <a:r>
              <a:rPr lang="en-US" b="1" i="1" dirty="0"/>
              <a:t>display</a:t>
            </a:r>
            <a:r>
              <a:rPr lang="en-US" dirty="0"/>
              <a:t> property.</a:t>
            </a:r>
          </a:p>
          <a:p>
            <a:r>
              <a:rPr lang="en-US" dirty="0"/>
              <a:t>The fact that you can change the value of </a:t>
            </a:r>
            <a:r>
              <a:rPr lang="en-US" b="1" i="1" dirty="0"/>
              <a:t>display </a:t>
            </a:r>
            <a:r>
              <a:rPr lang="en-US" dirty="0"/>
              <a:t>for any element means that you can pick HTML elements for their semantic meaning, without being concerned about how they will look. </a:t>
            </a:r>
            <a:r>
              <a:rPr lang="en-US"/>
              <a:t>The way they look is something that you can change.</a:t>
            </a:r>
            <a:endParaRPr lang="en-US" b="1" i="1" dirty="0"/>
          </a:p>
          <a:p>
            <a:r>
              <a:rPr lang="en-US" dirty="0"/>
              <a:t>The two values most important for our purposes when discussing layout are </a:t>
            </a:r>
            <a:r>
              <a:rPr lang="en-US" b="1" i="1" dirty="0" err="1"/>
              <a:t>display:flex</a:t>
            </a:r>
            <a:r>
              <a:rPr lang="en-US" dirty="0"/>
              <a:t>,</a:t>
            </a:r>
          </a:p>
          <a:p>
            <a:r>
              <a:rPr lang="en-US" dirty="0"/>
              <a:t>and </a:t>
            </a:r>
            <a:r>
              <a:rPr lang="en-US" b="1" i="1" dirty="0"/>
              <a:t>display: grid.</a:t>
            </a:r>
          </a:p>
          <a:p>
            <a:endParaRPr lang="uk-UA" b="1" i="1" dirty="0"/>
          </a:p>
        </p:txBody>
      </p:sp>
    </p:spTree>
    <p:extLst>
      <p:ext uri="{BB962C8B-B14F-4D97-AF65-F5344CB8AC3E}">
        <p14:creationId xmlns:p14="http://schemas.microsoft.com/office/powerpoint/2010/main" val="15260616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1">
            <a:extLst>
              <a:ext uri="{FF2B5EF4-FFF2-40B4-BE49-F238E27FC236}">
                <a16:creationId xmlns:a16="http://schemas.microsoft.com/office/drawing/2014/main" id="{D138E155-4CAC-4735-B136-18A39E41797D}"/>
              </a:ext>
            </a:extLst>
          </p:cNvPr>
          <p:cNvSpPr>
            <a:spLocks noGrp="1"/>
          </p:cNvSpPr>
          <p:nvPr>
            <p:ph type="title"/>
          </p:nvPr>
        </p:nvSpPr>
        <p:spPr>
          <a:xfrm>
            <a:off x="685800" y="685800"/>
            <a:ext cx="10820400" cy="685800"/>
          </a:xfrm>
        </p:spPr>
        <p:txBody>
          <a:bodyPr/>
          <a:lstStyle/>
          <a:p>
            <a:r>
              <a:rPr lang="en-US" dirty="0"/>
              <a:t>Flexbox</a:t>
            </a:r>
            <a:endParaRPr lang="uk-UA" dirty="0"/>
          </a:p>
        </p:txBody>
      </p:sp>
      <p:sp>
        <p:nvSpPr>
          <p:cNvPr id="5" name="Текст 2">
            <a:extLst>
              <a:ext uri="{FF2B5EF4-FFF2-40B4-BE49-F238E27FC236}">
                <a16:creationId xmlns:a16="http://schemas.microsoft.com/office/drawing/2014/main" id="{EE6085A6-FF38-4DD8-A272-4BA066987708}"/>
              </a:ext>
            </a:extLst>
          </p:cNvPr>
          <p:cNvSpPr>
            <a:spLocks noGrp="1"/>
          </p:cNvSpPr>
          <p:nvPr>
            <p:ph type="body" sz="quarter" idx="10"/>
          </p:nvPr>
        </p:nvSpPr>
        <p:spPr>
          <a:xfrm>
            <a:off x="685800" y="2057400"/>
            <a:ext cx="10820400" cy="3429000"/>
          </a:xfrm>
        </p:spPr>
        <p:txBody>
          <a:bodyPr/>
          <a:lstStyle/>
          <a:p>
            <a:pPr marL="342900" indent="-342900">
              <a:buFont typeface="Arial" panose="020B0604020202020204" pitchFamily="34" charset="0"/>
              <a:buChar char="•"/>
            </a:pPr>
            <a:r>
              <a:rPr lang="en-US" dirty="0"/>
              <a:t>Vertically centering a block of content inside its parent.</a:t>
            </a:r>
          </a:p>
          <a:p>
            <a:pPr marL="342900" indent="-342900">
              <a:buFont typeface="Arial" panose="020B0604020202020204" pitchFamily="34" charset="0"/>
              <a:buChar char="•"/>
            </a:pPr>
            <a:r>
              <a:rPr lang="en-US" dirty="0"/>
              <a:t>Making all the children of a container take up an equal amount of the available width/height, regardless of how much width/height is available</a:t>
            </a:r>
          </a:p>
          <a:p>
            <a:pPr marL="342900" indent="-342900">
              <a:buFont typeface="Arial" panose="020B0604020202020204" pitchFamily="34" charset="0"/>
              <a:buChar char="•"/>
            </a:pPr>
            <a:r>
              <a:rPr lang="en-US" dirty="0"/>
              <a:t>Making all columns in a multiple column layout adopt the same height even if they contain a different amount of content.</a:t>
            </a:r>
            <a:endParaRPr lang="uk-UA" dirty="0"/>
          </a:p>
        </p:txBody>
      </p:sp>
    </p:spTree>
    <p:extLst>
      <p:ext uri="{BB962C8B-B14F-4D97-AF65-F5344CB8AC3E}">
        <p14:creationId xmlns:p14="http://schemas.microsoft.com/office/powerpoint/2010/main" val="3118177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89C1B92-534C-47A0-B35C-7F8EBB8DA40C}"/>
              </a:ext>
            </a:extLst>
          </p:cNvPr>
          <p:cNvSpPr>
            <a:spLocks noGrp="1"/>
          </p:cNvSpPr>
          <p:nvPr>
            <p:ph type="title"/>
          </p:nvPr>
        </p:nvSpPr>
        <p:spPr/>
        <p:txBody>
          <a:bodyPr/>
          <a:lstStyle/>
          <a:p>
            <a:r>
              <a:rPr lang="en-US" dirty="0"/>
              <a:t>Directions and Size</a:t>
            </a:r>
            <a:endParaRPr lang="uk-UA" dirty="0"/>
          </a:p>
        </p:txBody>
      </p:sp>
      <p:pic>
        <p:nvPicPr>
          <p:cNvPr id="6" name="Рисунок 5">
            <a:extLst>
              <a:ext uri="{FF2B5EF4-FFF2-40B4-BE49-F238E27FC236}">
                <a16:creationId xmlns:a16="http://schemas.microsoft.com/office/drawing/2014/main" id="{E55A63DA-A007-4699-8DCD-523767A7D158}"/>
              </a:ext>
            </a:extLst>
          </p:cNvPr>
          <p:cNvPicPr>
            <a:picLocks noChangeAspect="1"/>
          </p:cNvPicPr>
          <p:nvPr/>
        </p:nvPicPr>
        <p:blipFill>
          <a:blip r:embed="rId2"/>
          <a:stretch>
            <a:fillRect/>
          </a:stretch>
        </p:blipFill>
        <p:spPr>
          <a:xfrm>
            <a:off x="6668086" y="2284828"/>
            <a:ext cx="5276850" cy="3285977"/>
          </a:xfrm>
          <a:prstGeom prst="rect">
            <a:avLst/>
          </a:prstGeom>
        </p:spPr>
      </p:pic>
      <p:sp>
        <p:nvSpPr>
          <p:cNvPr id="5" name="Text Placeholder 4">
            <a:extLst>
              <a:ext uri="{FF2B5EF4-FFF2-40B4-BE49-F238E27FC236}">
                <a16:creationId xmlns:a16="http://schemas.microsoft.com/office/drawing/2014/main" id="{8FA807B4-AFD7-4059-940E-031033A6C169}"/>
              </a:ext>
            </a:extLst>
          </p:cNvPr>
          <p:cNvSpPr>
            <a:spLocks noGrp="1"/>
          </p:cNvSpPr>
          <p:nvPr>
            <p:ph type="body" sz="quarter" idx="10"/>
          </p:nvPr>
        </p:nvSpPr>
        <p:spPr>
          <a:xfrm>
            <a:off x="165295" y="2015197"/>
            <a:ext cx="6502791" cy="4427806"/>
          </a:xfrm>
        </p:spPr>
        <p:txBody>
          <a:bodyPr/>
          <a:lstStyle/>
          <a:p>
            <a:pPr marL="342900" indent="-342900">
              <a:buFont typeface="Arial" panose="020B0604020202020204" pitchFamily="34" charset="0"/>
              <a:buChar char="•"/>
            </a:pPr>
            <a:r>
              <a:rPr lang="en-US" dirty="0"/>
              <a:t>The </a:t>
            </a:r>
            <a:r>
              <a:rPr lang="en-US" b="1" dirty="0"/>
              <a:t>main axis</a:t>
            </a:r>
            <a:r>
              <a:rPr lang="en-US" dirty="0"/>
              <a:t> is the axis running in the direction the flex items are being laid out in (e.g. as rows across the page, or columns down the page.) The start and end of this axis are called the </a:t>
            </a:r>
            <a:r>
              <a:rPr lang="en-US" b="1" dirty="0"/>
              <a:t>main start</a:t>
            </a:r>
            <a:r>
              <a:rPr lang="en-US" dirty="0"/>
              <a:t> and </a:t>
            </a:r>
            <a:r>
              <a:rPr lang="en-US" b="1" dirty="0"/>
              <a:t>main end</a:t>
            </a:r>
            <a:r>
              <a:rPr lang="en-US" dirty="0"/>
              <a:t>.</a:t>
            </a:r>
            <a:r>
              <a:rPr lang="uk-UA" dirty="0"/>
              <a:t>(</a:t>
            </a:r>
            <a:r>
              <a:rPr lang="en-US" b="1" i="1" dirty="0" err="1"/>
              <a:t>flex-direction:row</a:t>
            </a:r>
            <a:r>
              <a:rPr lang="uk-UA" dirty="0"/>
              <a:t>)</a:t>
            </a:r>
            <a:endParaRPr lang="en-US" dirty="0"/>
          </a:p>
          <a:p>
            <a:pPr marL="342900" indent="-342900">
              <a:buFont typeface="Arial" panose="020B0604020202020204" pitchFamily="34" charset="0"/>
              <a:buChar char="•"/>
            </a:pPr>
            <a:r>
              <a:rPr lang="en-US" dirty="0"/>
              <a:t>The </a:t>
            </a:r>
            <a:r>
              <a:rPr lang="en-US" b="1" dirty="0"/>
              <a:t>cross axis</a:t>
            </a:r>
            <a:r>
              <a:rPr lang="en-US" dirty="0"/>
              <a:t> is the axis running perpendicular to the direction the flex items are being laid out in. The start and end of this axis are called the </a:t>
            </a:r>
            <a:r>
              <a:rPr lang="en-US" b="1" dirty="0"/>
              <a:t>cross start</a:t>
            </a:r>
            <a:r>
              <a:rPr lang="en-US" dirty="0"/>
              <a:t> and </a:t>
            </a:r>
            <a:r>
              <a:rPr lang="en-US" b="1" dirty="0"/>
              <a:t>cross end</a:t>
            </a:r>
            <a:r>
              <a:rPr lang="en-US" dirty="0"/>
              <a:t>.</a:t>
            </a:r>
          </a:p>
          <a:p>
            <a:pPr marL="342900" indent="-342900">
              <a:buFont typeface="Arial" panose="020B0604020202020204" pitchFamily="34" charset="0"/>
              <a:buChar char="•"/>
            </a:pPr>
            <a:r>
              <a:rPr lang="en-US" dirty="0"/>
              <a:t>The parent element has </a:t>
            </a:r>
            <a:r>
              <a:rPr lang="pl-PL" dirty="0"/>
              <a:t>display: </a:t>
            </a:r>
            <a:r>
              <a:rPr lang="pl-PL" dirty="0" err="1"/>
              <a:t>flex</a:t>
            </a:r>
            <a:r>
              <a:rPr lang="pl-PL" dirty="0"/>
              <a:t> set on </a:t>
            </a:r>
            <a:r>
              <a:rPr lang="pl-PL" dirty="0" err="1"/>
              <a:t>it</a:t>
            </a:r>
            <a:r>
              <a:rPr lang="pl-PL" dirty="0"/>
              <a:t> ( the &lt;</a:t>
            </a:r>
            <a:r>
              <a:rPr lang="pl-PL" dirty="0" err="1"/>
              <a:t>section</a:t>
            </a:r>
            <a:r>
              <a:rPr lang="pl-PL" dirty="0"/>
              <a:t>&gt; in </a:t>
            </a:r>
            <a:r>
              <a:rPr lang="pl-PL" dirty="0" err="1"/>
              <a:t>our</a:t>
            </a:r>
            <a:r>
              <a:rPr lang="pl-PL" dirty="0"/>
              <a:t> </a:t>
            </a:r>
            <a:r>
              <a:rPr lang="pl-PL" dirty="0" err="1"/>
              <a:t>example</a:t>
            </a:r>
            <a:r>
              <a:rPr lang="pl-PL" dirty="0"/>
              <a:t>) </a:t>
            </a:r>
            <a:r>
              <a:rPr lang="pl-PL" dirty="0" err="1"/>
              <a:t>is</a:t>
            </a:r>
            <a:r>
              <a:rPr lang="pl-PL" dirty="0"/>
              <a:t> </a:t>
            </a:r>
            <a:r>
              <a:rPr lang="pl-PL" dirty="0" err="1"/>
              <a:t>called</a:t>
            </a:r>
            <a:r>
              <a:rPr lang="pl-PL" dirty="0"/>
              <a:t> a </a:t>
            </a:r>
            <a:r>
              <a:rPr lang="pl-PL" dirty="0" err="1"/>
              <a:t>flex</a:t>
            </a:r>
            <a:r>
              <a:rPr lang="pl-PL" dirty="0"/>
              <a:t> </a:t>
            </a:r>
            <a:r>
              <a:rPr lang="pl-PL" dirty="0" err="1"/>
              <a:t>container</a:t>
            </a:r>
            <a:r>
              <a:rPr lang="pl-PL" dirty="0"/>
              <a:t>.</a:t>
            </a:r>
          </a:p>
          <a:p>
            <a:pPr marL="342900" indent="-342900">
              <a:buFont typeface="Arial" panose="020B0604020202020204" pitchFamily="34" charset="0"/>
              <a:buChar char="•"/>
            </a:pPr>
            <a:r>
              <a:rPr lang="en-US" dirty="0"/>
              <a:t>The items being laid out as flexible boxes inside the flex container are called </a:t>
            </a:r>
            <a:r>
              <a:rPr lang="en-US" b="1" dirty="0"/>
              <a:t>flex items</a:t>
            </a:r>
            <a:r>
              <a:rPr lang="pl-PL" b="1" dirty="0"/>
              <a:t> </a:t>
            </a:r>
            <a:r>
              <a:rPr lang="pl-PL" dirty="0"/>
              <a:t>(the</a:t>
            </a:r>
            <a:r>
              <a:rPr lang="pl-PL" b="1" dirty="0"/>
              <a:t> &lt;</a:t>
            </a:r>
            <a:r>
              <a:rPr lang="pl-PL" b="1" dirty="0" err="1"/>
              <a:t>article</a:t>
            </a:r>
            <a:r>
              <a:rPr lang="pl-PL" b="1" dirty="0"/>
              <a:t>&gt; </a:t>
            </a:r>
            <a:r>
              <a:rPr lang="pl-PL" dirty="0" err="1"/>
              <a:t>elements</a:t>
            </a:r>
            <a:r>
              <a:rPr lang="pl-PL" dirty="0"/>
              <a:t> in </a:t>
            </a:r>
            <a:r>
              <a:rPr lang="pl-PL" dirty="0" err="1"/>
              <a:t>our</a:t>
            </a:r>
            <a:r>
              <a:rPr lang="pl-PL" dirty="0"/>
              <a:t> </a:t>
            </a:r>
            <a:r>
              <a:rPr lang="pl-PL" dirty="0" err="1"/>
              <a:t>example</a:t>
            </a:r>
            <a:r>
              <a:rPr lang="pl-PL" dirty="0"/>
              <a:t>)</a:t>
            </a: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en-US" dirty="0"/>
          </a:p>
          <a:p>
            <a:pPr marL="342900" indent="-342900">
              <a:buFont typeface="Arial" panose="020B0604020202020204" pitchFamily="34" charset="0"/>
              <a:buChar char="•"/>
            </a:pPr>
            <a:endParaRPr lang="uk-UA" dirty="0"/>
          </a:p>
        </p:txBody>
      </p:sp>
    </p:spTree>
    <p:extLst>
      <p:ext uri="{BB962C8B-B14F-4D97-AF65-F5344CB8AC3E}">
        <p14:creationId xmlns:p14="http://schemas.microsoft.com/office/powerpoint/2010/main" val="3440774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19795D1-B493-4F50-9672-CEF7180EAF89}"/>
              </a:ext>
            </a:extLst>
          </p:cNvPr>
          <p:cNvSpPr>
            <a:spLocks noGrp="1"/>
          </p:cNvSpPr>
          <p:nvPr>
            <p:ph type="title"/>
          </p:nvPr>
        </p:nvSpPr>
        <p:spPr/>
        <p:txBody>
          <a:bodyPr/>
          <a:lstStyle/>
          <a:p>
            <a:r>
              <a:rPr lang="pl-PL" dirty="0" err="1"/>
              <a:t>Wrapping</a:t>
            </a:r>
            <a:endParaRPr lang="uk-UA" dirty="0"/>
          </a:p>
        </p:txBody>
      </p:sp>
      <p:pic>
        <p:nvPicPr>
          <p:cNvPr id="5" name="Рисунок 4">
            <a:extLst>
              <a:ext uri="{FF2B5EF4-FFF2-40B4-BE49-F238E27FC236}">
                <a16:creationId xmlns:a16="http://schemas.microsoft.com/office/drawing/2014/main" id="{51CA63E0-204B-4FBF-9E4C-1ADE0CBED7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2932" y="1873758"/>
            <a:ext cx="4485340" cy="3521608"/>
          </a:xfrm>
          <a:prstGeom prst="rect">
            <a:avLst/>
          </a:prstGeom>
        </p:spPr>
      </p:pic>
      <p:pic>
        <p:nvPicPr>
          <p:cNvPr id="7" name="Рисунок 6">
            <a:extLst>
              <a:ext uri="{FF2B5EF4-FFF2-40B4-BE49-F238E27FC236}">
                <a16:creationId xmlns:a16="http://schemas.microsoft.com/office/drawing/2014/main" id="{414D6EBE-18C0-4919-AAFE-6A3D6CEB7D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51030" y="2889195"/>
            <a:ext cx="4485340" cy="3519045"/>
          </a:xfrm>
          <a:prstGeom prst="rect">
            <a:avLst/>
          </a:prstGeom>
        </p:spPr>
      </p:pic>
      <p:pic>
        <p:nvPicPr>
          <p:cNvPr id="6" name="Рисунок 5">
            <a:extLst>
              <a:ext uri="{FF2B5EF4-FFF2-40B4-BE49-F238E27FC236}">
                <a16:creationId xmlns:a16="http://schemas.microsoft.com/office/drawing/2014/main" id="{9BF37A25-E254-43D7-8DF2-9CD8FFFCA3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13642" y="2171996"/>
            <a:ext cx="2238687" cy="485843"/>
          </a:xfrm>
          <a:prstGeom prst="rect">
            <a:avLst/>
          </a:prstGeom>
        </p:spPr>
      </p:pic>
      <p:sp>
        <p:nvSpPr>
          <p:cNvPr id="8" name="TextBox 7">
            <a:extLst>
              <a:ext uri="{FF2B5EF4-FFF2-40B4-BE49-F238E27FC236}">
                <a16:creationId xmlns:a16="http://schemas.microsoft.com/office/drawing/2014/main" id="{DC566FF7-EC76-4AE5-9C9B-73D3789934BF}"/>
              </a:ext>
            </a:extLst>
          </p:cNvPr>
          <p:cNvSpPr txBox="1"/>
          <p:nvPr/>
        </p:nvSpPr>
        <p:spPr>
          <a:xfrm>
            <a:off x="7808554" y="2230251"/>
            <a:ext cx="329296" cy="369332"/>
          </a:xfrm>
          <a:prstGeom prst="rect">
            <a:avLst/>
          </a:prstGeom>
          <a:noFill/>
        </p:spPr>
        <p:txBody>
          <a:bodyPr wrap="square" rtlCol="0">
            <a:spAutoFit/>
          </a:bodyPr>
          <a:lstStyle/>
          <a:p>
            <a:r>
              <a:rPr lang="en-US" dirty="0">
                <a:solidFill>
                  <a:schemeClr val="bg1"/>
                </a:solidFill>
              </a:rPr>
              <a:t>=</a:t>
            </a:r>
            <a:endParaRPr lang="uk-UA" dirty="0">
              <a:solidFill>
                <a:schemeClr val="bg1"/>
              </a:solidFill>
            </a:endParaRPr>
          </a:p>
        </p:txBody>
      </p:sp>
      <p:pic>
        <p:nvPicPr>
          <p:cNvPr id="10" name="Рисунок 9">
            <a:extLst>
              <a:ext uri="{FF2B5EF4-FFF2-40B4-BE49-F238E27FC236}">
                <a16:creationId xmlns:a16="http://schemas.microsoft.com/office/drawing/2014/main" id="{02B71A25-5752-4BC0-95CB-C4D8D95906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150745" y="2218530"/>
            <a:ext cx="2210108" cy="381053"/>
          </a:xfrm>
          <a:prstGeom prst="rect">
            <a:avLst/>
          </a:prstGeom>
        </p:spPr>
      </p:pic>
    </p:spTree>
    <p:extLst>
      <p:ext uri="{BB962C8B-B14F-4D97-AF65-F5344CB8AC3E}">
        <p14:creationId xmlns:p14="http://schemas.microsoft.com/office/powerpoint/2010/main" val="10004801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EFFF0D9-F54A-4B1B-9129-A82187247A1A}"/>
              </a:ext>
            </a:extLst>
          </p:cNvPr>
          <p:cNvSpPr>
            <a:spLocks noGrp="1"/>
          </p:cNvSpPr>
          <p:nvPr>
            <p:ph type="title"/>
          </p:nvPr>
        </p:nvSpPr>
        <p:spPr/>
        <p:txBody>
          <a:bodyPr/>
          <a:lstStyle/>
          <a:p>
            <a:r>
              <a:rPr lang="en-US" b="1" dirty="0"/>
              <a:t>Flexible sizing of flex items</a:t>
            </a:r>
            <a:br>
              <a:rPr lang="en-US" b="1" dirty="0"/>
            </a:br>
            <a:endParaRPr lang="uk-UA" dirty="0"/>
          </a:p>
        </p:txBody>
      </p:sp>
      <p:pic>
        <p:nvPicPr>
          <p:cNvPr id="5" name="Рисунок 4">
            <a:extLst>
              <a:ext uri="{FF2B5EF4-FFF2-40B4-BE49-F238E27FC236}">
                <a16:creationId xmlns:a16="http://schemas.microsoft.com/office/drawing/2014/main" id="{6AB42DA2-81FC-4466-9E22-6982429AFF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66424" y="2291607"/>
            <a:ext cx="1362265" cy="771633"/>
          </a:xfrm>
          <a:prstGeom prst="rect">
            <a:avLst/>
          </a:prstGeom>
        </p:spPr>
      </p:pic>
      <p:pic>
        <p:nvPicPr>
          <p:cNvPr id="7" name="Рисунок 6">
            <a:extLst>
              <a:ext uri="{FF2B5EF4-FFF2-40B4-BE49-F238E27FC236}">
                <a16:creationId xmlns:a16="http://schemas.microsoft.com/office/drawing/2014/main" id="{850473E0-242E-4A10-92A4-81B45C65DE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356" y="3249276"/>
            <a:ext cx="2572109" cy="762106"/>
          </a:xfrm>
          <a:prstGeom prst="rect">
            <a:avLst/>
          </a:prstGeom>
        </p:spPr>
      </p:pic>
      <p:pic>
        <p:nvPicPr>
          <p:cNvPr id="9" name="Рисунок 8">
            <a:extLst>
              <a:ext uri="{FF2B5EF4-FFF2-40B4-BE49-F238E27FC236}">
                <a16:creationId xmlns:a16="http://schemas.microsoft.com/office/drawing/2014/main" id="{FBD57723-BA38-4BE7-87BA-A30FBBDA877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2356" y="4250528"/>
            <a:ext cx="2486372" cy="1638529"/>
          </a:xfrm>
          <a:prstGeom prst="rect">
            <a:avLst/>
          </a:prstGeom>
        </p:spPr>
      </p:pic>
      <p:pic>
        <p:nvPicPr>
          <p:cNvPr id="11" name="Рисунок 10">
            <a:extLst>
              <a:ext uri="{FF2B5EF4-FFF2-40B4-BE49-F238E27FC236}">
                <a16:creationId xmlns:a16="http://schemas.microsoft.com/office/drawing/2014/main" id="{1CC4492E-BE6C-4022-8687-6EBAF0CB967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18770" y="2100077"/>
            <a:ext cx="6487430" cy="2657846"/>
          </a:xfrm>
          <a:prstGeom prst="rect">
            <a:avLst/>
          </a:prstGeom>
        </p:spPr>
      </p:pic>
    </p:spTree>
    <p:extLst>
      <p:ext uri="{BB962C8B-B14F-4D97-AF65-F5344CB8AC3E}">
        <p14:creationId xmlns:p14="http://schemas.microsoft.com/office/powerpoint/2010/main" val="40066272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7CF9E22-29F6-4D89-B6B7-689CC5ABD8F8}"/>
              </a:ext>
            </a:extLst>
          </p:cNvPr>
          <p:cNvSpPr>
            <a:spLocks noGrp="1"/>
          </p:cNvSpPr>
          <p:nvPr>
            <p:ph type="title"/>
          </p:nvPr>
        </p:nvSpPr>
        <p:spPr/>
        <p:txBody>
          <a:bodyPr/>
          <a:lstStyle/>
          <a:p>
            <a:r>
              <a:rPr lang="en-US" b="1" dirty="0"/>
              <a:t>Ordering flex items</a:t>
            </a:r>
            <a:br>
              <a:rPr lang="en-US" b="1" dirty="0"/>
            </a:br>
            <a:br>
              <a:rPr lang="en-US" b="1" dirty="0"/>
            </a:br>
            <a:endParaRPr lang="uk-UA" dirty="0"/>
          </a:p>
        </p:txBody>
      </p:sp>
      <p:pic>
        <p:nvPicPr>
          <p:cNvPr id="6" name="Рисунок 5">
            <a:extLst>
              <a:ext uri="{FF2B5EF4-FFF2-40B4-BE49-F238E27FC236}">
                <a16:creationId xmlns:a16="http://schemas.microsoft.com/office/drawing/2014/main" id="{ACEBE619-0859-458F-9C81-F1EE4F6C04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433" y="4250834"/>
            <a:ext cx="5511567" cy="2607166"/>
          </a:xfrm>
          <a:prstGeom prst="rect">
            <a:avLst/>
          </a:prstGeom>
        </p:spPr>
      </p:pic>
      <p:pic>
        <p:nvPicPr>
          <p:cNvPr id="8" name="Рисунок 7">
            <a:extLst>
              <a:ext uri="{FF2B5EF4-FFF2-40B4-BE49-F238E27FC236}">
                <a16:creationId xmlns:a16="http://schemas.microsoft.com/office/drawing/2014/main" id="{1FDB06FF-6C19-46BC-AE91-BB9B5EFA01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72776" y="1760464"/>
            <a:ext cx="5511566" cy="3112028"/>
          </a:xfrm>
          <a:prstGeom prst="rect">
            <a:avLst/>
          </a:prstGeom>
        </p:spPr>
      </p:pic>
      <p:pic>
        <p:nvPicPr>
          <p:cNvPr id="10" name="Рисунок 9">
            <a:extLst>
              <a:ext uri="{FF2B5EF4-FFF2-40B4-BE49-F238E27FC236}">
                <a16:creationId xmlns:a16="http://schemas.microsoft.com/office/drawing/2014/main" id="{FF949ED9-B17F-474F-A174-DF0823FCB08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672776" y="4872492"/>
            <a:ext cx="2534004" cy="1657581"/>
          </a:xfrm>
          <a:prstGeom prst="rect">
            <a:avLst/>
          </a:prstGeom>
        </p:spPr>
      </p:pic>
      <p:sp>
        <p:nvSpPr>
          <p:cNvPr id="12" name="Text Placeholder 6">
            <a:extLst>
              <a:ext uri="{FF2B5EF4-FFF2-40B4-BE49-F238E27FC236}">
                <a16:creationId xmlns:a16="http://schemas.microsoft.com/office/drawing/2014/main" id="{143848B8-1ACB-4A63-8128-6BC6F14F973F}"/>
              </a:ext>
            </a:extLst>
          </p:cNvPr>
          <p:cNvSpPr>
            <a:spLocks noGrp="1"/>
          </p:cNvSpPr>
          <p:nvPr>
            <p:ph type="body" sz="quarter" idx="10"/>
          </p:nvPr>
        </p:nvSpPr>
        <p:spPr>
          <a:xfrm>
            <a:off x="304538" y="1926119"/>
            <a:ext cx="6368238" cy="2130283"/>
          </a:xfrm>
        </p:spPr>
        <p:txBody>
          <a:bodyPr/>
          <a:lstStyle/>
          <a:p>
            <a:pPr marL="342900" indent="-342900">
              <a:buFont typeface="Arial" panose="020B0604020202020204" pitchFamily="34" charset="0"/>
              <a:buChar char="•"/>
            </a:pPr>
            <a:r>
              <a:rPr lang="en-US" sz="1200" dirty="0"/>
              <a:t>By default, all flex items have an </a:t>
            </a:r>
            <a:r>
              <a:rPr lang="en-US" sz="1200" b="1" dirty="0"/>
              <a:t>order</a:t>
            </a:r>
            <a:r>
              <a:rPr lang="en-US" sz="1200" dirty="0"/>
              <a:t> value 0</a:t>
            </a:r>
          </a:p>
          <a:p>
            <a:pPr marL="342900" indent="-342900">
              <a:buFont typeface="Arial" panose="020B0604020202020204" pitchFamily="34" charset="0"/>
              <a:buChar char="•"/>
            </a:pPr>
            <a:r>
              <a:rPr lang="en-US" sz="1200" dirty="0"/>
              <a:t>Flex items with higher order values set on them will appear later in the display order than items with lower order values.</a:t>
            </a:r>
          </a:p>
          <a:p>
            <a:pPr marL="342900" indent="-342900">
              <a:buFont typeface="Arial" panose="020B0604020202020204" pitchFamily="34" charset="0"/>
              <a:buChar char="•"/>
            </a:pPr>
            <a:r>
              <a:rPr lang="en-US" sz="1200" dirty="0"/>
              <a:t>Flex items with the same order value will appear in their source order. So if you have four items with order values of 2, 1, 1, and 0 set on them respectively, their display order would be 4th, 2nd, 3rd, then 1st.</a:t>
            </a:r>
          </a:p>
          <a:p>
            <a:pPr marL="342900" indent="-342900">
              <a:buFont typeface="Arial" panose="020B0604020202020204" pitchFamily="34" charset="0"/>
              <a:buChar char="•"/>
            </a:pPr>
            <a:r>
              <a:rPr lang="en-US" sz="1200" dirty="0"/>
              <a:t>The 3rd item appears after the 2nd because it has the same order value and is after it in the source order.</a:t>
            </a:r>
            <a:endParaRPr lang="uk-UA" sz="1200" dirty="0"/>
          </a:p>
        </p:txBody>
      </p:sp>
    </p:spTree>
    <p:extLst>
      <p:ext uri="{BB962C8B-B14F-4D97-AF65-F5344CB8AC3E}">
        <p14:creationId xmlns:p14="http://schemas.microsoft.com/office/powerpoint/2010/main" val="40990866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B83802C-29E3-45CD-A6E0-F16A224A6958}"/>
              </a:ext>
            </a:extLst>
          </p:cNvPr>
          <p:cNvSpPr>
            <a:spLocks noGrp="1"/>
          </p:cNvSpPr>
          <p:nvPr>
            <p:ph type="title"/>
          </p:nvPr>
        </p:nvSpPr>
        <p:spPr/>
        <p:txBody>
          <a:bodyPr/>
          <a:lstStyle/>
          <a:p>
            <a:r>
              <a:rPr lang="en-US" dirty="0"/>
              <a:t>CSS Grid Layout</a:t>
            </a:r>
            <a:endParaRPr lang="uk-UA" dirty="0"/>
          </a:p>
        </p:txBody>
      </p:sp>
      <p:sp>
        <p:nvSpPr>
          <p:cNvPr id="3" name="Текст 2">
            <a:extLst>
              <a:ext uri="{FF2B5EF4-FFF2-40B4-BE49-F238E27FC236}">
                <a16:creationId xmlns:a16="http://schemas.microsoft.com/office/drawing/2014/main" id="{A45715D3-E8AC-41F5-A1F5-A3CC019CE1A8}"/>
              </a:ext>
            </a:extLst>
          </p:cNvPr>
          <p:cNvSpPr>
            <a:spLocks noGrp="1"/>
          </p:cNvSpPr>
          <p:nvPr>
            <p:ph type="body" sz="quarter" idx="10"/>
          </p:nvPr>
        </p:nvSpPr>
        <p:spPr>
          <a:xfrm>
            <a:off x="390379" y="2057400"/>
            <a:ext cx="3914335" cy="4114799"/>
          </a:xfrm>
        </p:spPr>
        <p:txBody>
          <a:bodyPr/>
          <a:lstStyle/>
          <a:p>
            <a:pPr marL="342900" indent="-342900">
              <a:buFont typeface="Arial" panose="020B0604020202020204" pitchFamily="34" charset="0"/>
              <a:buChar char="•"/>
            </a:pPr>
            <a:r>
              <a:rPr lang="en-US" dirty="0"/>
              <a:t>CSS Grid Layout is a two-dimensional layout system for the web. It lets you lay content out in rows and columns, and has many features that make building complex layouts straightforward.</a:t>
            </a:r>
          </a:p>
          <a:p>
            <a:pPr marL="342900" indent="-342900">
              <a:buFont typeface="Arial" panose="020B0604020202020204" pitchFamily="34" charset="0"/>
              <a:buChar char="•"/>
            </a:pPr>
            <a:r>
              <a:rPr lang="en-US" dirty="0"/>
              <a:t>A grid will typically have </a:t>
            </a:r>
            <a:r>
              <a:rPr lang="en-US" b="1" dirty="0"/>
              <a:t>columns</a:t>
            </a:r>
            <a:r>
              <a:rPr lang="en-US" dirty="0"/>
              <a:t>, </a:t>
            </a:r>
            <a:r>
              <a:rPr lang="en-US" b="1" dirty="0"/>
              <a:t>rows</a:t>
            </a:r>
            <a:r>
              <a:rPr lang="en-US" dirty="0"/>
              <a:t>, and then gaps between each row and column — commonly referred to as </a:t>
            </a:r>
            <a:r>
              <a:rPr lang="en-US" b="1" dirty="0"/>
              <a:t>gutters</a:t>
            </a:r>
            <a:r>
              <a:rPr lang="en-US" dirty="0"/>
              <a:t>.</a:t>
            </a:r>
            <a:br>
              <a:rPr lang="en-US" dirty="0"/>
            </a:br>
            <a:endParaRPr lang="uk-UA" dirty="0"/>
          </a:p>
        </p:txBody>
      </p:sp>
      <p:pic>
        <p:nvPicPr>
          <p:cNvPr id="5" name="Рисунок 4">
            <a:extLst>
              <a:ext uri="{FF2B5EF4-FFF2-40B4-BE49-F238E27FC236}">
                <a16:creationId xmlns:a16="http://schemas.microsoft.com/office/drawing/2014/main" id="{07A3A069-CBEC-4421-A508-F96120005C5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0976" y="2341329"/>
            <a:ext cx="7323613" cy="3327951"/>
          </a:xfrm>
          <a:prstGeom prst="rect">
            <a:avLst/>
          </a:prstGeom>
        </p:spPr>
      </p:pic>
    </p:spTree>
    <p:extLst>
      <p:ext uri="{BB962C8B-B14F-4D97-AF65-F5344CB8AC3E}">
        <p14:creationId xmlns:p14="http://schemas.microsoft.com/office/powerpoint/2010/main" val="4267067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6C1FBAC-4D69-4595-ABA8-198B4394810D}"/>
              </a:ext>
            </a:extLst>
          </p:cNvPr>
          <p:cNvSpPr>
            <a:spLocks noGrp="1"/>
          </p:cNvSpPr>
          <p:nvPr>
            <p:ph type="title"/>
          </p:nvPr>
        </p:nvSpPr>
        <p:spPr/>
        <p:txBody>
          <a:bodyPr/>
          <a:lstStyle/>
          <a:p>
            <a:r>
              <a:rPr lang="en-US" dirty="0"/>
              <a:t>Creating greed  in CSS</a:t>
            </a:r>
            <a:endParaRPr lang="uk-UA" dirty="0"/>
          </a:p>
        </p:txBody>
      </p:sp>
      <p:pic>
        <p:nvPicPr>
          <p:cNvPr id="5" name="Рисунок 4">
            <a:extLst>
              <a:ext uri="{FF2B5EF4-FFF2-40B4-BE49-F238E27FC236}">
                <a16:creationId xmlns:a16="http://schemas.microsoft.com/office/drawing/2014/main" id="{552F7A02-51C4-462A-891A-399FD1256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565433"/>
            <a:ext cx="4420217" cy="990738"/>
          </a:xfrm>
          <a:prstGeom prst="rect">
            <a:avLst/>
          </a:prstGeom>
        </p:spPr>
      </p:pic>
      <p:pic>
        <p:nvPicPr>
          <p:cNvPr id="7" name="Рисунок 6">
            <a:extLst>
              <a:ext uri="{FF2B5EF4-FFF2-40B4-BE49-F238E27FC236}">
                <a16:creationId xmlns:a16="http://schemas.microsoft.com/office/drawing/2014/main" id="{D88B3CFC-1787-41DE-B001-7EB83D3CCB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86511" y="2199252"/>
            <a:ext cx="5811061" cy="1276528"/>
          </a:xfrm>
          <a:prstGeom prst="rect">
            <a:avLst/>
          </a:prstGeom>
        </p:spPr>
      </p:pic>
      <p:pic>
        <p:nvPicPr>
          <p:cNvPr id="9" name="Рисунок 8">
            <a:extLst>
              <a:ext uri="{FF2B5EF4-FFF2-40B4-BE49-F238E27FC236}">
                <a16:creationId xmlns:a16="http://schemas.microsoft.com/office/drawing/2014/main" id="{EAE2A3AB-A960-478F-B953-71311D00512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85800" y="3683054"/>
            <a:ext cx="3772426" cy="1066949"/>
          </a:xfrm>
          <a:prstGeom prst="rect">
            <a:avLst/>
          </a:prstGeom>
        </p:spPr>
      </p:pic>
      <p:pic>
        <p:nvPicPr>
          <p:cNvPr id="11" name="Рисунок 10">
            <a:extLst>
              <a:ext uri="{FF2B5EF4-FFF2-40B4-BE49-F238E27FC236}">
                <a16:creationId xmlns:a16="http://schemas.microsoft.com/office/drawing/2014/main" id="{B976807C-D877-4AC0-B302-09D8BDEB712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86511" y="3683054"/>
            <a:ext cx="5544324" cy="1276528"/>
          </a:xfrm>
          <a:prstGeom prst="rect">
            <a:avLst/>
          </a:prstGeom>
        </p:spPr>
      </p:pic>
      <p:sp>
        <p:nvSpPr>
          <p:cNvPr id="12" name="TextBox 11">
            <a:extLst>
              <a:ext uri="{FF2B5EF4-FFF2-40B4-BE49-F238E27FC236}">
                <a16:creationId xmlns:a16="http://schemas.microsoft.com/office/drawing/2014/main" id="{235E5B01-47A9-4B53-A6BA-45ACD8D20A6C}"/>
              </a:ext>
            </a:extLst>
          </p:cNvPr>
          <p:cNvSpPr txBox="1"/>
          <p:nvPr/>
        </p:nvSpPr>
        <p:spPr>
          <a:xfrm>
            <a:off x="685800" y="2106620"/>
            <a:ext cx="2104359" cy="369332"/>
          </a:xfrm>
          <a:prstGeom prst="rect">
            <a:avLst/>
          </a:prstGeom>
          <a:noFill/>
        </p:spPr>
        <p:txBody>
          <a:bodyPr wrap="none" rtlCol="0">
            <a:spAutoFit/>
          </a:bodyPr>
          <a:lstStyle/>
          <a:p>
            <a:pPr marL="285750" indent="-285750">
              <a:buFont typeface="Arial" panose="020B0604020202020204" pitchFamily="34" charset="0"/>
              <a:buChar char="•"/>
            </a:pPr>
            <a:r>
              <a:rPr lang="en-US" b="1" dirty="0">
                <a:solidFill>
                  <a:schemeClr val="bg1"/>
                </a:solidFill>
              </a:rPr>
              <a:t>Defining a grid</a:t>
            </a:r>
            <a:endParaRPr lang="uk-UA" b="1" dirty="0">
              <a:solidFill>
                <a:schemeClr val="bg1"/>
              </a:solidFill>
            </a:endParaRPr>
          </a:p>
        </p:txBody>
      </p:sp>
      <p:sp>
        <p:nvSpPr>
          <p:cNvPr id="13" name="TextBox 12">
            <a:extLst>
              <a:ext uri="{FF2B5EF4-FFF2-40B4-BE49-F238E27FC236}">
                <a16:creationId xmlns:a16="http://schemas.microsoft.com/office/drawing/2014/main" id="{1A5AC11C-F4C2-4E72-A194-AD2EB33E3547}"/>
              </a:ext>
            </a:extLst>
          </p:cNvPr>
          <p:cNvSpPr txBox="1"/>
          <p:nvPr/>
        </p:nvSpPr>
        <p:spPr>
          <a:xfrm>
            <a:off x="685800" y="4876886"/>
            <a:ext cx="2708242" cy="369332"/>
          </a:xfrm>
          <a:prstGeom prst="rect">
            <a:avLst/>
          </a:prstGeom>
          <a:noFill/>
        </p:spPr>
        <p:txBody>
          <a:bodyPr wrap="none" rtlCol="0">
            <a:spAutoFit/>
          </a:bodyPr>
          <a:lstStyle/>
          <a:p>
            <a:pPr marL="285750" indent="-285750">
              <a:buFont typeface="Arial" panose="020B0604020202020204" pitchFamily="34" charset="0"/>
              <a:buChar char="•"/>
            </a:pPr>
            <a:r>
              <a:rPr lang="en-US" b="1" dirty="0">
                <a:solidFill>
                  <a:schemeClr val="bg1"/>
                </a:solidFill>
              </a:rPr>
              <a:t>Gaps between tracks</a:t>
            </a:r>
            <a:endParaRPr lang="uk-UA" b="1" dirty="0">
              <a:solidFill>
                <a:schemeClr val="bg1"/>
              </a:solidFill>
            </a:endParaRPr>
          </a:p>
        </p:txBody>
      </p:sp>
      <p:pic>
        <p:nvPicPr>
          <p:cNvPr id="15" name="Рисунок 14">
            <a:extLst>
              <a:ext uri="{FF2B5EF4-FFF2-40B4-BE49-F238E27FC236}">
                <a16:creationId xmlns:a16="http://schemas.microsoft.com/office/drawing/2014/main" id="{85F23A61-D30F-4F67-A349-0491D3082A5C}"/>
              </a:ext>
            </a:extLst>
          </p:cNvPr>
          <p:cNvPicPr>
            <a:picLocks noChangeAspect="1"/>
          </p:cNvPicPr>
          <p:nvPr/>
        </p:nvPicPr>
        <p:blipFill>
          <a:blip r:embed="rId6"/>
          <a:stretch>
            <a:fillRect/>
          </a:stretch>
        </p:blipFill>
        <p:spPr>
          <a:xfrm>
            <a:off x="5986511" y="5156508"/>
            <a:ext cx="5495925" cy="1657350"/>
          </a:xfrm>
          <a:prstGeom prst="rect">
            <a:avLst/>
          </a:prstGeom>
        </p:spPr>
      </p:pic>
      <p:pic>
        <p:nvPicPr>
          <p:cNvPr id="17" name="Рисунок 16">
            <a:extLst>
              <a:ext uri="{FF2B5EF4-FFF2-40B4-BE49-F238E27FC236}">
                <a16:creationId xmlns:a16="http://schemas.microsoft.com/office/drawing/2014/main" id="{D61F7427-9922-4709-B6B5-D9CCE0632C7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5800" y="5373101"/>
            <a:ext cx="3648584" cy="1362265"/>
          </a:xfrm>
          <a:prstGeom prst="rect">
            <a:avLst/>
          </a:prstGeom>
        </p:spPr>
      </p:pic>
    </p:spTree>
    <p:extLst>
      <p:ext uri="{BB962C8B-B14F-4D97-AF65-F5344CB8AC3E}">
        <p14:creationId xmlns:p14="http://schemas.microsoft.com/office/powerpoint/2010/main" val="20413190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AAF661C-A615-4545-9BAC-6099169EC568}"/>
              </a:ext>
            </a:extLst>
          </p:cNvPr>
          <p:cNvSpPr>
            <a:spLocks noGrp="1"/>
          </p:cNvSpPr>
          <p:nvPr>
            <p:ph type="title"/>
          </p:nvPr>
        </p:nvSpPr>
        <p:spPr/>
        <p:txBody>
          <a:bodyPr/>
          <a:lstStyle/>
          <a:p>
            <a:r>
              <a:rPr lang="en-US" dirty="0"/>
              <a:t>The implicit and explicit grid</a:t>
            </a:r>
            <a:endParaRPr lang="uk-UA" dirty="0"/>
          </a:p>
        </p:txBody>
      </p:sp>
      <p:pic>
        <p:nvPicPr>
          <p:cNvPr id="5" name="Рисунок 4">
            <a:extLst>
              <a:ext uri="{FF2B5EF4-FFF2-40B4-BE49-F238E27FC236}">
                <a16:creationId xmlns:a16="http://schemas.microsoft.com/office/drawing/2014/main" id="{6DBEACF0-7555-45C0-9EE7-A5FA4F6B56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447788"/>
            <a:ext cx="3905795" cy="1381318"/>
          </a:xfrm>
          <a:prstGeom prst="rect">
            <a:avLst/>
          </a:prstGeom>
        </p:spPr>
      </p:pic>
      <p:pic>
        <p:nvPicPr>
          <p:cNvPr id="7" name="Рисунок 6">
            <a:extLst>
              <a:ext uri="{FF2B5EF4-FFF2-40B4-BE49-F238E27FC236}">
                <a16:creationId xmlns:a16="http://schemas.microsoft.com/office/drawing/2014/main" id="{C70C805B-09E5-4902-BA35-513FC67130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2447788"/>
            <a:ext cx="5534797" cy="3343742"/>
          </a:xfrm>
          <a:prstGeom prst="rect">
            <a:avLst/>
          </a:prstGeom>
        </p:spPr>
      </p:pic>
    </p:spTree>
    <p:extLst>
      <p:ext uri="{BB962C8B-B14F-4D97-AF65-F5344CB8AC3E}">
        <p14:creationId xmlns:p14="http://schemas.microsoft.com/office/powerpoint/2010/main" val="24055329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3FFAE-1EB4-49E8-86E0-46702ACE2B9B}"/>
              </a:ext>
            </a:extLst>
          </p:cNvPr>
          <p:cNvSpPr>
            <a:spLocks noGrp="1"/>
          </p:cNvSpPr>
          <p:nvPr>
            <p:ph type="title"/>
          </p:nvPr>
        </p:nvSpPr>
        <p:spPr/>
        <p:txBody>
          <a:bodyPr/>
          <a:lstStyle/>
          <a:p>
            <a:r>
              <a:rPr lang="en-US" b="1" dirty="0"/>
              <a:t>Line-based placement</a:t>
            </a:r>
            <a:br>
              <a:rPr lang="en-US" b="1" dirty="0"/>
            </a:br>
            <a:endParaRPr lang="uk-UA" dirty="0"/>
          </a:p>
        </p:txBody>
      </p:sp>
      <p:pic>
        <p:nvPicPr>
          <p:cNvPr id="5" name="Рисунок 4">
            <a:extLst>
              <a:ext uri="{FF2B5EF4-FFF2-40B4-BE49-F238E27FC236}">
                <a16:creationId xmlns:a16="http://schemas.microsoft.com/office/drawing/2014/main" id="{700E8815-A131-437B-B4D6-509F3B9E4F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86067" y="2044350"/>
            <a:ext cx="6571834" cy="3493524"/>
          </a:xfrm>
          <a:prstGeom prst="rect">
            <a:avLst/>
          </a:prstGeom>
        </p:spPr>
      </p:pic>
      <p:pic>
        <p:nvPicPr>
          <p:cNvPr id="9" name="Рисунок 8">
            <a:extLst>
              <a:ext uri="{FF2B5EF4-FFF2-40B4-BE49-F238E27FC236}">
                <a16:creationId xmlns:a16="http://schemas.microsoft.com/office/drawing/2014/main" id="{5C708A88-5E8F-4A43-A686-0DEFAF761B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44" y="2044350"/>
            <a:ext cx="3953427" cy="4163006"/>
          </a:xfrm>
          <a:prstGeom prst="rect">
            <a:avLst/>
          </a:prstGeom>
        </p:spPr>
      </p:pic>
    </p:spTree>
    <p:extLst>
      <p:ext uri="{BB962C8B-B14F-4D97-AF65-F5344CB8AC3E}">
        <p14:creationId xmlns:p14="http://schemas.microsoft.com/office/powerpoint/2010/main" val="189878928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3FFAE-1EB4-49E8-86E0-46702ACE2B9B}"/>
              </a:ext>
            </a:extLst>
          </p:cNvPr>
          <p:cNvSpPr>
            <a:spLocks noGrp="1"/>
          </p:cNvSpPr>
          <p:nvPr>
            <p:ph type="title"/>
          </p:nvPr>
        </p:nvSpPr>
        <p:spPr/>
        <p:txBody>
          <a:bodyPr/>
          <a:lstStyle/>
          <a:p>
            <a:r>
              <a:rPr lang="en-US" b="1" dirty="0"/>
              <a:t>Line-based placement</a:t>
            </a:r>
            <a:br>
              <a:rPr lang="en-US" b="1" dirty="0"/>
            </a:br>
            <a:endParaRPr lang="uk-UA" dirty="0"/>
          </a:p>
        </p:txBody>
      </p:sp>
      <p:pic>
        <p:nvPicPr>
          <p:cNvPr id="4" name="Рисунок 3">
            <a:extLst>
              <a:ext uri="{FF2B5EF4-FFF2-40B4-BE49-F238E27FC236}">
                <a16:creationId xmlns:a16="http://schemas.microsoft.com/office/drawing/2014/main" id="{6775029E-958A-4C86-A5A3-0E2A66B5BD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920241"/>
            <a:ext cx="2372056" cy="4448796"/>
          </a:xfrm>
          <a:prstGeom prst="rect">
            <a:avLst/>
          </a:prstGeom>
        </p:spPr>
      </p:pic>
      <p:pic>
        <p:nvPicPr>
          <p:cNvPr id="7" name="Рисунок 6">
            <a:extLst>
              <a:ext uri="{FF2B5EF4-FFF2-40B4-BE49-F238E27FC236}">
                <a16:creationId xmlns:a16="http://schemas.microsoft.com/office/drawing/2014/main" id="{4722E2CA-0BE5-4FDC-B0EC-8257FE653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96751" y="1920241"/>
            <a:ext cx="7746609" cy="3619040"/>
          </a:xfrm>
          <a:prstGeom prst="rect">
            <a:avLst/>
          </a:prstGeom>
        </p:spPr>
      </p:pic>
    </p:spTree>
    <p:extLst>
      <p:ext uri="{BB962C8B-B14F-4D97-AF65-F5344CB8AC3E}">
        <p14:creationId xmlns:p14="http://schemas.microsoft.com/office/powerpoint/2010/main" val="29635564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753FFAE-1EB4-49E8-86E0-46702ACE2B9B}"/>
              </a:ext>
            </a:extLst>
          </p:cNvPr>
          <p:cNvSpPr>
            <a:spLocks noGrp="1"/>
          </p:cNvSpPr>
          <p:nvPr>
            <p:ph type="title"/>
          </p:nvPr>
        </p:nvSpPr>
        <p:spPr/>
        <p:txBody>
          <a:bodyPr/>
          <a:lstStyle/>
          <a:p>
            <a:r>
              <a:rPr lang="en-US" b="1" dirty="0"/>
              <a:t>Positioning with grid-template-areas</a:t>
            </a:r>
            <a:br>
              <a:rPr lang="en-US" b="1" dirty="0"/>
            </a:br>
            <a:br>
              <a:rPr lang="en-US" b="1" dirty="0"/>
            </a:br>
            <a:endParaRPr lang="uk-UA" dirty="0"/>
          </a:p>
        </p:txBody>
      </p:sp>
      <p:pic>
        <p:nvPicPr>
          <p:cNvPr id="7" name="Рисунок 6">
            <a:extLst>
              <a:ext uri="{FF2B5EF4-FFF2-40B4-BE49-F238E27FC236}">
                <a16:creationId xmlns:a16="http://schemas.microsoft.com/office/drawing/2014/main" id="{4722E2CA-0BE5-4FDC-B0EC-8257FE653A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53856" y="1765496"/>
            <a:ext cx="7746609" cy="3619040"/>
          </a:xfrm>
          <a:prstGeom prst="rect">
            <a:avLst/>
          </a:prstGeom>
        </p:spPr>
      </p:pic>
      <p:pic>
        <p:nvPicPr>
          <p:cNvPr id="5" name="Рисунок 4">
            <a:extLst>
              <a:ext uri="{FF2B5EF4-FFF2-40B4-BE49-F238E27FC236}">
                <a16:creationId xmlns:a16="http://schemas.microsoft.com/office/drawing/2014/main" id="{E8A90BB6-D4A3-44B9-A3E8-11D9096507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878037"/>
            <a:ext cx="2512363" cy="4546179"/>
          </a:xfrm>
          <a:prstGeom prst="rect">
            <a:avLst/>
          </a:prstGeom>
        </p:spPr>
      </p:pic>
    </p:spTree>
    <p:extLst>
      <p:ext uri="{BB962C8B-B14F-4D97-AF65-F5344CB8AC3E}">
        <p14:creationId xmlns:p14="http://schemas.microsoft.com/office/powerpoint/2010/main" val="18146834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BC061A-C7C3-45E2-AB9C-73860FF36382}"/>
              </a:ext>
            </a:extLst>
          </p:cNvPr>
          <p:cNvSpPr>
            <a:spLocks noGrp="1"/>
          </p:cNvSpPr>
          <p:nvPr>
            <p:ph type="title"/>
          </p:nvPr>
        </p:nvSpPr>
        <p:spPr/>
        <p:txBody>
          <a:bodyPr/>
          <a:lstStyle/>
          <a:p>
            <a:r>
              <a:rPr lang="en-US" b="1" dirty="0"/>
              <a:t>A CSS Grid, grid framework</a:t>
            </a:r>
            <a:br>
              <a:rPr lang="en-US" b="1" dirty="0"/>
            </a:br>
            <a:endParaRPr lang="uk-UA" dirty="0"/>
          </a:p>
        </p:txBody>
      </p:sp>
      <p:pic>
        <p:nvPicPr>
          <p:cNvPr id="5" name="Рисунок 4">
            <a:extLst>
              <a:ext uri="{FF2B5EF4-FFF2-40B4-BE49-F238E27FC236}">
                <a16:creationId xmlns:a16="http://schemas.microsoft.com/office/drawing/2014/main" id="{AA699E4C-CF38-4327-993E-25D2F65B16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6928" y="1961255"/>
            <a:ext cx="6249272" cy="3067478"/>
          </a:xfrm>
          <a:prstGeom prst="rect">
            <a:avLst/>
          </a:prstGeom>
        </p:spPr>
      </p:pic>
      <p:pic>
        <p:nvPicPr>
          <p:cNvPr id="7" name="Рисунок 6">
            <a:extLst>
              <a:ext uri="{FF2B5EF4-FFF2-40B4-BE49-F238E27FC236}">
                <a16:creationId xmlns:a16="http://schemas.microsoft.com/office/drawing/2014/main" id="{77B601A3-7793-49C7-BC0D-35269408CF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5800" y="1961255"/>
            <a:ext cx="4305901" cy="4305901"/>
          </a:xfrm>
          <a:prstGeom prst="rect">
            <a:avLst/>
          </a:prstGeom>
        </p:spPr>
      </p:pic>
    </p:spTree>
    <p:extLst>
      <p:ext uri="{BB962C8B-B14F-4D97-AF65-F5344CB8AC3E}">
        <p14:creationId xmlns:p14="http://schemas.microsoft.com/office/powerpoint/2010/main" val="36247740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B474207-EBCC-4659-B2C7-C9BD6A0DF1D0}"/>
              </a:ext>
            </a:extLst>
          </p:cNvPr>
          <p:cNvSpPr>
            <a:spLocks noGrp="1"/>
          </p:cNvSpPr>
          <p:nvPr>
            <p:ph type="title"/>
          </p:nvPr>
        </p:nvSpPr>
        <p:spPr/>
        <p:txBody>
          <a:bodyPr/>
          <a:lstStyle/>
          <a:p>
            <a:r>
              <a:rPr lang="en-US" dirty="0"/>
              <a:t>Grid and flexbox</a:t>
            </a:r>
            <a:endParaRPr lang="uk-UA" dirty="0"/>
          </a:p>
        </p:txBody>
      </p:sp>
      <p:pic>
        <p:nvPicPr>
          <p:cNvPr id="5" name="Рисунок 4">
            <a:extLst>
              <a:ext uri="{FF2B5EF4-FFF2-40B4-BE49-F238E27FC236}">
                <a16:creationId xmlns:a16="http://schemas.microsoft.com/office/drawing/2014/main" id="{35783A9A-2152-43BE-9665-6E320C06E6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197" y="3222764"/>
            <a:ext cx="2191056" cy="1648055"/>
          </a:xfrm>
          <a:prstGeom prst="rect">
            <a:avLst/>
          </a:prstGeom>
        </p:spPr>
      </p:pic>
      <p:pic>
        <p:nvPicPr>
          <p:cNvPr id="7" name="Рисунок 6">
            <a:extLst>
              <a:ext uri="{FF2B5EF4-FFF2-40B4-BE49-F238E27FC236}">
                <a16:creationId xmlns:a16="http://schemas.microsoft.com/office/drawing/2014/main" id="{A8BB1B2D-A817-4CC4-B3AD-15F02848CA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20197" y="3146553"/>
            <a:ext cx="1991003" cy="1724266"/>
          </a:xfrm>
          <a:prstGeom prst="rect">
            <a:avLst/>
          </a:prstGeom>
        </p:spPr>
      </p:pic>
      <p:pic>
        <p:nvPicPr>
          <p:cNvPr id="9" name="Рисунок 8">
            <a:extLst>
              <a:ext uri="{FF2B5EF4-FFF2-40B4-BE49-F238E27FC236}">
                <a16:creationId xmlns:a16="http://schemas.microsoft.com/office/drawing/2014/main" id="{57DE1E7C-4FAF-4DEF-ACF0-8B70AC6CA2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197" y="5581534"/>
            <a:ext cx="4001058" cy="990738"/>
          </a:xfrm>
          <a:prstGeom prst="rect">
            <a:avLst/>
          </a:prstGeom>
        </p:spPr>
      </p:pic>
      <p:sp>
        <p:nvSpPr>
          <p:cNvPr id="10" name="TextBox 9">
            <a:extLst>
              <a:ext uri="{FF2B5EF4-FFF2-40B4-BE49-F238E27FC236}">
                <a16:creationId xmlns:a16="http://schemas.microsoft.com/office/drawing/2014/main" id="{9E86E152-5616-4FAB-87DE-179023138254}"/>
              </a:ext>
            </a:extLst>
          </p:cNvPr>
          <p:cNvSpPr txBox="1"/>
          <p:nvPr/>
        </p:nvSpPr>
        <p:spPr>
          <a:xfrm>
            <a:off x="543197" y="2777221"/>
            <a:ext cx="787791" cy="369332"/>
          </a:xfrm>
          <a:prstGeom prst="rect">
            <a:avLst/>
          </a:prstGeom>
          <a:noFill/>
        </p:spPr>
        <p:txBody>
          <a:bodyPr wrap="square" rtlCol="0">
            <a:spAutoFit/>
          </a:bodyPr>
          <a:lstStyle/>
          <a:p>
            <a:r>
              <a:rPr lang="en-US" dirty="0">
                <a:solidFill>
                  <a:schemeClr val="bg1"/>
                </a:solidFill>
              </a:rPr>
              <a:t>HTML</a:t>
            </a:r>
            <a:endParaRPr lang="uk-UA" dirty="0">
              <a:solidFill>
                <a:schemeClr val="bg1"/>
              </a:solidFill>
            </a:endParaRPr>
          </a:p>
        </p:txBody>
      </p:sp>
      <p:sp>
        <p:nvSpPr>
          <p:cNvPr id="11" name="TextBox 10">
            <a:extLst>
              <a:ext uri="{FF2B5EF4-FFF2-40B4-BE49-F238E27FC236}">
                <a16:creationId xmlns:a16="http://schemas.microsoft.com/office/drawing/2014/main" id="{ABA80562-610A-450D-9EF2-160446A13B0D}"/>
              </a:ext>
            </a:extLst>
          </p:cNvPr>
          <p:cNvSpPr txBox="1"/>
          <p:nvPr/>
        </p:nvSpPr>
        <p:spPr>
          <a:xfrm>
            <a:off x="3320197" y="2777221"/>
            <a:ext cx="990977" cy="369332"/>
          </a:xfrm>
          <a:prstGeom prst="rect">
            <a:avLst/>
          </a:prstGeom>
          <a:noFill/>
        </p:spPr>
        <p:txBody>
          <a:bodyPr wrap="none" rtlCol="0">
            <a:spAutoFit/>
          </a:bodyPr>
          <a:lstStyle/>
          <a:p>
            <a:r>
              <a:rPr lang="en-US" dirty="0">
                <a:solidFill>
                  <a:schemeClr val="bg1"/>
                </a:solidFill>
              </a:rPr>
              <a:t>CSS flex</a:t>
            </a:r>
            <a:endParaRPr lang="uk-UA" dirty="0">
              <a:solidFill>
                <a:schemeClr val="bg1"/>
              </a:solidFill>
            </a:endParaRPr>
          </a:p>
        </p:txBody>
      </p:sp>
      <p:sp>
        <p:nvSpPr>
          <p:cNvPr id="12" name="TextBox 11">
            <a:extLst>
              <a:ext uri="{FF2B5EF4-FFF2-40B4-BE49-F238E27FC236}">
                <a16:creationId xmlns:a16="http://schemas.microsoft.com/office/drawing/2014/main" id="{642E8860-D6EC-4440-91DD-E8B8DF373AB3}"/>
              </a:ext>
            </a:extLst>
          </p:cNvPr>
          <p:cNvSpPr txBox="1"/>
          <p:nvPr/>
        </p:nvSpPr>
        <p:spPr>
          <a:xfrm>
            <a:off x="543197" y="5135991"/>
            <a:ext cx="1045479" cy="369332"/>
          </a:xfrm>
          <a:prstGeom prst="rect">
            <a:avLst/>
          </a:prstGeom>
          <a:noFill/>
        </p:spPr>
        <p:txBody>
          <a:bodyPr wrap="none" rtlCol="0">
            <a:spAutoFit/>
          </a:bodyPr>
          <a:lstStyle/>
          <a:p>
            <a:r>
              <a:rPr lang="en-US" dirty="0">
                <a:solidFill>
                  <a:schemeClr val="bg1"/>
                </a:solidFill>
              </a:rPr>
              <a:t>CSS grid</a:t>
            </a:r>
            <a:endParaRPr lang="uk-UA" dirty="0">
              <a:solidFill>
                <a:schemeClr val="bg1"/>
              </a:solidFill>
            </a:endParaRPr>
          </a:p>
        </p:txBody>
      </p:sp>
      <p:pic>
        <p:nvPicPr>
          <p:cNvPr id="14" name="Рисунок 13">
            <a:extLst>
              <a:ext uri="{FF2B5EF4-FFF2-40B4-BE49-F238E27FC236}">
                <a16:creationId xmlns:a16="http://schemas.microsoft.com/office/drawing/2014/main" id="{C042ACCC-FFD8-4127-B7AD-9977DE7F4CA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7145" y="3699080"/>
            <a:ext cx="6077798" cy="1171739"/>
          </a:xfrm>
          <a:prstGeom prst="rect">
            <a:avLst/>
          </a:prstGeom>
        </p:spPr>
      </p:pic>
      <p:pic>
        <p:nvPicPr>
          <p:cNvPr id="16" name="Рисунок 15">
            <a:extLst>
              <a:ext uri="{FF2B5EF4-FFF2-40B4-BE49-F238E27FC236}">
                <a16:creationId xmlns:a16="http://schemas.microsoft.com/office/drawing/2014/main" id="{EEA3B739-EC28-470E-B241-7E6663A1992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720806" y="5400533"/>
            <a:ext cx="6068272" cy="1171739"/>
          </a:xfrm>
          <a:prstGeom prst="rect">
            <a:avLst/>
          </a:prstGeom>
        </p:spPr>
      </p:pic>
      <p:sp>
        <p:nvSpPr>
          <p:cNvPr id="3" name="TextBox 2">
            <a:extLst>
              <a:ext uri="{FF2B5EF4-FFF2-40B4-BE49-F238E27FC236}">
                <a16:creationId xmlns:a16="http://schemas.microsoft.com/office/drawing/2014/main" id="{1097C95B-434A-4853-9FB2-6E47A257BF42}"/>
              </a:ext>
            </a:extLst>
          </p:cNvPr>
          <p:cNvSpPr txBox="1"/>
          <p:nvPr/>
        </p:nvSpPr>
        <p:spPr>
          <a:xfrm>
            <a:off x="463650" y="1883507"/>
            <a:ext cx="11511293" cy="646331"/>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bg1"/>
                </a:solidFill>
              </a:rPr>
              <a:t>when you wrap flex items, each new row (or column when working by column) becomes a new flex container.</a:t>
            </a:r>
          </a:p>
          <a:p>
            <a:r>
              <a:rPr lang="en-US" dirty="0">
                <a:solidFill>
                  <a:schemeClr val="bg1"/>
                </a:solidFill>
              </a:rPr>
              <a:t> Space distribution happens across the row.</a:t>
            </a:r>
            <a:endParaRPr lang="uk-UA" dirty="0">
              <a:solidFill>
                <a:schemeClr val="bg1"/>
              </a:solidFill>
            </a:endParaRPr>
          </a:p>
        </p:txBody>
      </p:sp>
    </p:spTree>
    <p:extLst>
      <p:ext uri="{BB962C8B-B14F-4D97-AF65-F5344CB8AC3E}">
        <p14:creationId xmlns:p14="http://schemas.microsoft.com/office/powerpoint/2010/main" val="4993072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C26496E-9680-431A-94C4-93EEFDC98F31}"/>
              </a:ext>
            </a:extLst>
          </p:cNvPr>
          <p:cNvSpPr>
            <a:spLocks noGrp="1"/>
          </p:cNvSpPr>
          <p:nvPr>
            <p:ph type="title"/>
          </p:nvPr>
        </p:nvSpPr>
        <p:spPr/>
        <p:txBody>
          <a:bodyPr/>
          <a:lstStyle/>
          <a:p>
            <a:r>
              <a:rPr lang="en-US" dirty="0"/>
              <a:t>Floats</a:t>
            </a:r>
            <a:endParaRPr lang="uk-UA" dirty="0"/>
          </a:p>
        </p:txBody>
      </p:sp>
      <p:sp>
        <p:nvSpPr>
          <p:cNvPr id="3" name="Текст 2">
            <a:extLst>
              <a:ext uri="{FF2B5EF4-FFF2-40B4-BE49-F238E27FC236}">
                <a16:creationId xmlns:a16="http://schemas.microsoft.com/office/drawing/2014/main" id="{1380C257-41D1-4934-9A26-67FB11F6340E}"/>
              </a:ext>
            </a:extLst>
          </p:cNvPr>
          <p:cNvSpPr>
            <a:spLocks noGrp="1"/>
          </p:cNvSpPr>
          <p:nvPr>
            <p:ph type="body" sz="quarter" idx="10"/>
          </p:nvPr>
        </p:nvSpPr>
        <p:spPr/>
        <p:txBody>
          <a:bodyPr/>
          <a:lstStyle/>
          <a:p>
            <a:pPr marL="342900" indent="-342900">
              <a:buFont typeface="Arial" panose="020B0604020202020204" pitchFamily="34" charset="0"/>
              <a:buChar char="•"/>
            </a:pPr>
            <a:r>
              <a:rPr lang="en-US" dirty="0"/>
              <a:t>Originally for floating images inside blocks of text, the </a:t>
            </a:r>
            <a:r>
              <a:rPr lang="en-US" b="1" i="1" dirty="0"/>
              <a:t>float </a:t>
            </a:r>
            <a:r>
              <a:rPr lang="en-US" dirty="0"/>
              <a:t>property became one of the most commonly used tools for creating multiple column layouts on webpages. With the advent of flexbox and grid it has now returned to its original purpose.</a:t>
            </a:r>
          </a:p>
          <a:p>
            <a:pPr marL="342900" indent="-342900">
              <a:buFont typeface="Arial" panose="020B0604020202020204" pitchFamily="34" charset="0"/>
              <a:buChar char="•"/>
            </a:pPr>
            <a:r>
              <a:rPr lang="en-US" dirty="0"/>
              <a:t>Floats have commonly been used to create entire web site layouts featuring multiple columns of information floated so they sit alongside one another (the default behavior would be for the columns to sit below one another, in the same order as they appear in the source). There are newer, better layout techniques available and so use of floats in this way should be regarded as a legacy technique.</a:t>
            </a:r>
            <a:endParaRPr lang="uk-UA" b="1" i="1" dirty="0"/>
          </a:p>
        </p:txBody>
      </p:sp>
    </p:spTree>
    <p:extLst>
      <p:ext uri="{BB962C8B-B14F-4D97-AF65-F5344CB8AC3E}">
        <p14:creationId xmlns:p14="http://schemas.microsoft.com/office/powerpoint/2010/main" val="40393854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00E1321-F931-46BA-9D8F-8EF36AD52051}"/>
              </a:ext>
            </a:extLst>
          </p:cNvPr>
          <p:cNvSpPr>
            <a:spLocks noGrp="1"/>
          </p:cNvSpPr>
          <p:nvPr>
            <p:ph type="title"/>
          </p:nvPr>
        </p:nvSpPr>
        <p:spPr/>
        <p:txBody>
          <a:bodyPr/>
          <a:lstStyle/>
          <a:p>
            <a:r>
              <a:rPr lang="en-US" dirty="0"/>
              <a:t>Simple float example</a:t>
            </a:r>
            <a:endParaRPr lang="uk-UA" dirty="0"/>
          </a:p>
        </p:txBody>
      </p:sp>
      <p:pic>
        <p:nvPicPr>
          <p:cNvPr id="5" name="Рисунок 4">
            <a:extLst>
              <a:ext uri="{FF2B5EF4-FFF2-40B4-BE49-F238E27FC236}">
                <a16:creationId xmlns:a16="http://schemas.microsoft.com/office/drawing/2014/main" id="{E721E02F-D35D-4006-85F7-4054371846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69578" y="1955235"/>
            <a:ext cx="7568112" cy="2286319"/>
          </a:xfrm>
          <a:prstGeom prst="rect">
            <a:avLst/>
          </a:prstGeom>
        </p:spPr>
      </p:pic>
      <p:pic>
        <p:nvPicPr>
          <p:cNvPr id="7" name="Рисунок 6">
            <a:extLst>
              <a:ext uri="{FF2B5EF4-FFF2-40B4-BE49-F238E27FC236}">
                <a16:creationId xmlns:a16="http://schemas.microsoft.com/office/drawing/2014/main" id="{2404A1A7-D165-4C53-B951-6ABC0918A8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310" y="1879025"/>
            <a:ext cx="3715268" cy="2438740"/>
          </a:xfrm>
          <a:prstGeom prst="rect">
            <a:avLst/>
          </a:prstGeom>
        </p:spPr>
      </p:pic>
      <p:pic>
        <p:nvPicPr>
          <p:cNvPr id="9" name="Рисунок 8">
            <a:extLst>
              <a:ext uri="{FF2B5EF4-FFF2-40B4-BE49-F238E27FC236}">
                <a16:creationId xmlns:a16="http://schemas.microsoft.com/office/drawing/2014/main" id="{4071B212-275D-421F-8303-E5E2F67D4E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4310" y="5009386"/>
            <a:ext cx="3077004" cy="1648055"/>
          </a:xfrm>
          <a:prstGeom prst="rect">
            <a:avLst/>
          </a:prstGeom>
        </p:spPr>
      </p:pic>
      <p:pic>
        <p:nvPicPr>
          <p:cNvPr id="11" name="Рисунок 10">
            <a:extLst>
              <a:ext uri="{FF2B5EF4-FFF2-40B4-BE49-F238E27FC236}">
                <a16:creationId xmlns:a16="http://schemas.microsoft.com/office/drawing/2014/main" id="{34C3B9AD-0048-4E5F-9F64-71F31ADAAC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85323" y="4439579"/>
            <a:ext cx="7336622" cy="2217862"/>
          </a:xfrm>
          <a:prstGeom prst="rect">
            <a:avLst/>
          </a:prstGeom>
        </p:spPr>
      </p:pic>
    </p:spTree>
    <p:extLst>
      <p:ext uri="{BB962C8B-B14F-4D97-AF65-F5344CB8AC3E}">
        <p14:creationId xmlns:p14="http://schemas.microsoft.com/office/powerpoint/2010/main" val="15678264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902D375-269E-4F58-A207-2557B034044E}"/>
              </a:ext>
            </a:extLst>
          </p:cNvPr>
          <p:cNvSpPr>
            <a:spLocks noGrp="1"/>
          </p:cNvSpPr>
          <p:nvPr>
            <p:ph type="title"/>
          </p:nvPr>
        </p:nvSpPr>
        <p:spPr/>
        <p:txBody>
          <a:bodyPr/>
          <a:lstStyle/>
          <a:p>
            <a:r>
              <a:rPr lang="en-US" dirty="0"/>
              <a:t>Simple float example</a:t>
            </a:r>
            <a:endParaRPr lang="uk-UA" dirty="0"/>
          </a:p>
        </p:txBody>
      </p:sp>
      <p:pic>
        <p:nvPicPr>
          <p:cNvPr id="4" name="Рисунок 3">
            <a:extLst>
              <a:ext uri="{FF2B5EF4-FFF2-40B4-BE49-F238E27FC236}">
                <a16:creationId xmlns:a16="http://schemas.microsoft.com/office/drawing/2014/main" id="{22753EE1-907F-4C67-B17E-764F2E887BD0}"/>
              </a:ext>
            </a:extLst>
          </p:cNvPr>
          <p:cNvPicPr>
            <a:picLocks noChangeAspect="1"/>
          </p:cNvPicPr>
          <p:nvPr/>
        </p:nvPicPr>
        <p:blipFill>
          <a:blip r:embed="rId2"/>
          <a:stretch>
            <a:fillRect/>
          </a:stretch>
        </p:blipFill>
        <p:spPr>
          <a:xfrm>
            <a:off x="5626344" y="1919287"/>
            <a:ext cx="5581650" cy="3019425"/>
          </a:xfrm>
          <a:prstGeom prst="rect">
            <a:avLst/>
          </a:prstGeom>
        </p:spPr>
      </p:pic>
      <p:pic>
        <p:nvPicPr>
          <p:cNvPr id="6" name="Рисунок 5">
            <a:extLst>
              <a:ext uri="{FF2B5EF4-FFF2-40B4-BE49-F238E27FC236}">
                <a16:creationId xmlns:a16="http://schemas.microsoft.com/office/drawing/2014/main" id="{446533AB-7B21-421B-819E-8003C8D175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7961" y="2819314"/>
            <a:ext cx="3486637" cy="1219370"/>
          </a:xfrm>
          <a:prstGeom prst="rect">
            <a:avLst/>
          </a:prstGeom>
        </p:spPr>
      </p:pic>
    </p:spTree>
    <p:extLst>
      <p:ext uri="{BB962C8B-B14F-4D97-AF65-F5344CB8AC3E}">
        <p14:creationId xmlns:p14="http://schemas.microsoft.com/office/powerpoint/2010/main" val="39171356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ACBDBA1-60BC-4E4A-BA96-F2B9D594D52C}"/>
              </a:ext>
            </a:extLst>
          </p:cNvPr>
          <p:cNvSpPr>
            <a:spLocks noGrp="1"/>
          </p:cNvSpPr>
          <p:nvPr>
            <p:ph type="title"/>
          </p:nvPr>
        </p:nvSpPr>
        <p:spPr/>
        <p:txBody>
          <a:bodyPr/>
          <a:lstStyle/>
          <a:p>
            <a:r>
              <a:rPr lang="en-US" b="1" dirty="0"/>
              <a:t>Clearing floats</a:t>
            </a:r>
            <a:br>
              <a:rPr lang="en-US" b="1" dirty="0"/>
            </a:br>
            <a:endParaRPr lang="uk-UA" dirty="0"/>
          </a:p>
        </p:txBody>
      </p:sp>
      <p:pic>
        <p:nvPicPr>
          <p:cNvPr id="5" name="Рисунок 4">
            <a:extLst>
              <a:ext uri="{FF2B5EF4-FFF2-40B4-BE49-F238E27FC236}">
                <a16:creationId xmlns:a16="http://schemas.microsoft.com/office/drawing/2014/main" id="{E99CB99B-B030-4213-949E-FDB80D10F00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368137"/>
            <a:ext cx="1876687" cy="752580"/>
          </a:xfrm>
          <a:prstGeom prst="rect">
            <a:avLst/>
          </a:prstGeom>
        </p:spPr>
      </p:pic>
      <p:pic>
        <p:nvPicPr>
          <p:cNvPr id="7" name="Рисунок 6">
            <a:extLst>
              <a:ext uri="{FF2B5EF4-FFF2-40B4-BE49-F238E27FC236}">
                <a16:creationId xmlns:a16="http://schemas.microsoft.com/office/drawing/2014/main" id="{5B5943DA-3608-4C80-9DF3-20EC8BE912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4861" y="1956178"/>
            <a:ext cx="5544324" cy="3677163"/>
          </a:xfrm>
          <a:prstGeom prst="rect">
            <a:avLst/>
          </a:prstGeom>
        </p:spPr>
      </p:pic>
      <p:sp>
        <p:nvSpPr>
          <p:cNvPr id="8" name="TextBox 7">
            <a:extLst>
              <a:ext uri="{FF2B5EF4-FFF2-40B4-BE49-F238E27FC236}">
                <a16:creationId xmlns:a16="http://schemas.microsoft.com/office/drawing/2014/main" id="{A2E4AACD-A652-4A8B-991A-623391E0EE93}"/>
              </a:ext>
            </a:extLst>
          </p:cNvPr>
          <p:cNvSpPr txBox="1"/>
          <p:nvPr/>
        </p:nvSpPr>
        <p:spPr>
          <a:xfrm>
            <a:off x="513664" y="3790037"/>
            <a:ext cx="4747654" cy="1477328"/>
          </a:xfrm>
          <a:prstGeom prst="rect">
            <a:avLst/>
          </a:prstGeom>
          <a:noFill/>
        </p:spPr>
        <p:txBody>
          <a:bodyPr wrap="square" rtlCol="0">
            <a:spAutoFit/>
          </a:bodyPr>
          <a:lstStyle/>
          <a:p>
            <a:r>
              <a:rPr lang="en-US" dirty="0">
                <a:solidFill>
                  <a:schemeClr val="bg1"/>
                </a:solidFill>
              </a:rPr>
              <a:t>The clear property accepts the following values:</a:t>
            </a:r>
          </a:p>
          <a:p>
            <a:pPr marL="285750" indent="-285750">
              <a:buFont typeface="Arial" panose="020B0604020202020204" pitchFamily="34" charset="0"/>
              <a:buChar char="•"/>
            </a:pPr>
            <a:r>
              <a:rPr lang="en-US" i="1" dirty="0">
                <a:solidFill>
                  <a:schemeClr val="bg1"/>
                </a:solidFill>
              </a:rPr>
              <a:t>left:</a:t>
            </a:r>
            <a:r>
              <a:rPr lang="en-US" dirty="0">
                <a:solidFill>
                  <a:schemeClr val="bg1"/>
                </a:solidFill>
              </a:rPr>
              <a:t> Clear items floated to the left.</a:t>
            </a:r>
          </a:p>
          <a:p>
            <a:pPr marL="285750" indent="-285750">
              <a:buFont typeface="Arial" panose="020B0604020202020204" pitchFamily="34" charset="0"/>
              <a:buChar char="•"/>
            </a:pPr>
            <a:r>
              <a:rPr lang="en-US" i="1" dirty="0">
                <a:solidFill>
                  <a:schemeClr val="bg1"/>
                </a:solidFill>
              </a:rPr>
              <a:t>right: </a:t>
            </a:r>
            <a:r>
              <a:rPr lang="en-US" dirty="0">
                <a:solidFill>
                  <a:schemeClr val="bg1"/>
                </a:solidFill>
              </a:rPr>
              <a:t>Clear items floated to the right.</a:t>
            </a:r>
          </a:p>
          <a:p>
            <a:pPr marL="285750" indent="-285750">
              <a:buFont typeface="Arial" panose="020B0604020202020204" pitchFamily="34" charset="0"/>
              <a:buChar char="•"/>
            </a:pPr>
            <a:r>
              <a:rPr lang="en-US" i="1" dirty="0">
                <a:solidFill>
                  <a:schemeClr val="bg1"/>
                </a:solidFill>
              </a:rPr>
              <a:t>both: </a:t>
            </a:r>
            <a:r>
              <a:rPr lang="en-US" dirty="0">
                <a:solidFill>
                  <a:schemeClr val="bg1"/>
                </a:solidFill>
              </a:rPr>
              <a:t>Clear any floated items, left or right.</a:t>
            </a:r>
            <a:endParaRPr lang="uk-UA" dirty="0">
              <a:solidFill>
                <a:schemeClr val="bg1"/>
              </a:solidFill>
            </a:endParaRPr>
          </a:p>
        </p:txBody>
      </p:sp>
    </p:spTree>
    <p:extLst>
      <p:ext uri="{BB962C8B-B14F-4D97-AF65-F5344CB8AC3E}">
        <p14:creationId xmlns:p14="http://schemas.microsoft.com/office/powerpoint/2010/main" val="6527983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1FFE53B-1530-4695-B42A-C5198BA35CC6}"/>
              </a:ext>
            </a:extLst>
          </p:cNvPr>
          <p:cNvSpPr>
            <a:spLocks noGrp="1"/>
          </p:cNvSpPr>
          <p:nvPr>
            <p:ph type="title"/>
          </p:nvPr>
        </p:nvSpPr>
        <p:spPr>
          <a:xfrm>
            <a:off x="459545" y="545124"/>
            <a:ext cx="11046655" cy="685800"/>
          </a:xfrm>
        </p:spPr>
        <p:txBody>
          <a:bodyPr/>
          <a:lstStyle/>
          <a:p>
            <a:r>
              <a:rPr lang="en-US" b="1" dirty="0"/>
              <a:t>Clearing boxes wrapped around a float</a:t>
            </a:r>
            <a:br>
              <a:rPr lang="en-US" b="1" dirty="0"/>
            </a:br>
            <a:endParaRPr lang="uk-UA" dirty="0"/>
          </a:p>
        </p:txBody>
      </p:sp>
      <p:pic>
        <p:nvPicPr>
          <p:cNvPr id="5" name="Рисунок 4">
            <a:extLst>
              <a:ext uri="{FF2B5EF4-FFF2-40B4-BE49-F238E27FC236}">
                <a16:creationId xmlns:a16="http://schemas.microsoft.com/office/drawing/2014/main" id="{514BF904-ABFC-4DA4-A3F9-EE4402102F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9545" y="1928509"/>
            <a:ext cx="3096057" cy="1200318"/>
          </a:xfrm>
          <a:prstGeom prst="rect">
            <a:avLst/>
          </a:prstGeom>
        </p:spPr>
      </p:pic>
      <p:pic>
        <p:nvPicPr>
          <p:cNvPr id="7" name="Рисунок 6">
            <a:extLst>
              <a:ext uri="{FF2B5EF4-FFF2-40B4-BE49-F238E27FC236}">
                <a16:creationId xmlns:a16="http://schemas.microsoft.com/office/drawing/2014/main" id="{9D7049F9-0472-4444-ABC8-277CA93952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90116" y="1928509"/>
            <a:ext cx="5534797" cy="3219899"/>
          </a:xfrm>
          <a:prstGeom prst="rect">
            <a:avLst/>
          </a:prstGeom>
        </p:spPr>
      </p:pic>
    </p:spTree>
    <p:extLst>
      <p:ext uri="{BB962C8B-B14F-4D97-AF65-F5344CB8AC3E}">
        <p14:creationId xmlns:p14="http://schemas.microsoft.com/office/powerpoint/2010/main" val="32220890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FF69A99-4D25-4B92-BFA4-B391FD0485BC}"/>
              </a:ext>
            </a:extLst>
          </p:cNvPr>
          <p:cNvSpPr>
            <a:spLocks noGrp="1"/>
          </p:cNvSpPr>
          <p:nvPr>
            <p:ph type="title"/>
          </p:nvPr>
        </p:nvSpPr>
        <p:spPr/>
        <p:txBody>
          <a:bodyPr/>
          <a:lstStyle/>
          <a:p>
            <a:r>
              <a:rPr lang="en-US" dirty="0"/>
              <a:t>Solution</a:t>
            </a:r>
            <a:endParaRPr lang="uk-UA" dirty="0"/>
          </a:p>
        </p:txBody>
      </p:sp>
      <p:sp>
        <p:nvSpPr>
          <p:cNvPr id="4" name="TextBox 3">
            <a:extLst>
              <a:ext uri="{FF2B5EF4-FFF2-40B4-BE49-F238E27FC236}">
                <a16:creationId xmlns:a16="http://schemas.microsoft.com/office/drawing/2014/main" id="{2B24CE4C-4280-42CF-AD52-B6C4579F8735}"/>
              </a:ext>
            </a:extLst>
          </p:cNvPr>
          <p:cNvSpPr txBox="1"/>
          <p:nvPr/>
        </p:nvSpPr>
        <p:spPr>
          <a:xfrm>
            <a:off x="526071" y="1782338"/>
            <a:ext cx="2170402" cy="369332"/>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bg1"/>
                </a:solidFill>
              </a:rPr>
              <a:t>The </a:t>
            </a:r>
            <a:r>
              <a:rPr lang="en-US" dirty="0" err="1">
                <a:solidFill>
                  <a:schemeClr val="bg1"/>
                </a:solidFill>
              </a:rPr>
              <a:t>clearfix</a:t>
            </a:r>
            <a:r>
              <a:rPr lang="en-US" dirty="0">
                <a:solidFill>
                  <a:schemeClr val="bg1"/>
                </a:solidFill>
              </a:rPr>
              <a:t> </a:t>
            </a:r>
            <a:r>
              <a:rPr lang="en-US" dirty="0" err="1">
                <a:solidFill>
                  <a:schemeClr val="bg1"/>
                </a:solidFill>
              </a:rPr>
              <a:t>huck</a:t>
            </a:r>
            <a:endParaRPr lang="uk-UA" dirty="0">
              <a:solidFill>
                <a:schemeClr val="bg1"/>
              </a:solidFill>
            </a:endParaRPr>
          </a:p>
        </p:txBody>
      </p:sp>
      <p:pic>
        <p:nvPicPr>
          <p:cNvPr id="6" name="Рисунок 5">
            <a:extLst>
              <a:ext uri="{FF2B5EF4-FFF2-40B4-BE49-F238E27FC236}">
                <a16:creationId xmlns:a16="http://schemas.microsoft.com/office/drawing/2014/main" id="{1327C6C5-44C1-4DA0-842A-D34F445D38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4427" y="2213317"/>
            <a:ext cx="1992046" cy="1046150"/>
          </a:xfrm>
          <a:prstGeom prst="rect">
            <a:avLst/>
          </a:prstGeom>
        </p:spPr>
      </p:pic>
      <p:pic>
        <p:nvPicPr>
          <p:cNvPr id="8" name="Рисунок 7">
            <a:extLst>
              <a:ext uri="{FF2B5EF4-FFF2-40B4-BE49-F238E27FC236}">
                <a16:creationId xmlns:a16="http://schemas.microsoft.com/office/drawing/2014/main" id="{6F5280AF-D319-49FB-A896-64C6897CD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3141" y="3618878"/>
            <a:ext cx="3439005" cy="1343212"/>
          </a:xfrm>
          <a:prstGeom prst="rect">
            <a:avLst/>
          </a:prstGeom>
        </p:spPr>
      </p:pic>
      <p:pic>
        <p:nvPicPr>
          <p:cNvPr id="10" name="Рисунок 9">
            <a:extLst>
              <a:ext uri="{FF2B5EF4-FFF2-40B4-BE49-F238E27FC236}">
                <a16:creationId xmlns:a16="http://schemas.microsoft.com/office/drawing/2014/main" id="{5F0ACAB3-D775-4FA3-9FDD-143B11972F2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3944" y="5341845"/>
            <a:ext cx="3419952" cy="1390844"/>
          </a:xfrm>
          <a:prstGeom prst="rect">
            <a:avLst/>
          </a:prstGeom>
        </p:spPr>
      </p:pic>
      <p:pic>
        <p:nvPicPr>
          <p:cNvPr id="12" name="Рисунок 11">
            <a:extLst>
              <a:ext uri="{FF2B5EF4-FFF2-40B4-BE49-F238E27FC236}">
                <a16:creationId xmlns:a16="http://schemas.microsoft.com/office/drawing/2014/main" id="{18247C72-C467-4074-84D4-7458EA724CA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54727" y="1844185"/>
            <a:ext cx="5658640" cy="4029637"/>
          </a:xfrm>
          <a:prstGeom prst="rect">
            <a:avLst/>
          </a:prstGeom>
        </p:spPr>
      </p:pic>
      <p:sp>
        <p:nvSpPr>
          <p:cNvPr id="13" name="TextBox 12">
            <a:extLst>
              <a:ext uri="{FF2B5EF4-FFF2-40B4-BE49-F238E27FC236}">
                <a16:creationId xmlns:a16="http://schemas.microsoft.com/office/drawing/2014/main" id="{CBA3E5B3-4526-4BE7-AE39-F8204BE53333}"/>
              </a:ext>
            </a:extLst>
          </p:cNvPr>
          <p:cNvSpPr txBox="1"/>
          <p:nvPr/>
        </p:nvSpPr>
        <p:spPr>
          <a:xfrm>
            <a:off x="538398" y="3244334"/>
            <a:ext cx="1992725" cy="369332"/>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bg1"/>
                </a:solidFill>
              </a:rPr>
              <a:t>Using overflow</a:t>
            </a:r>
            <a:endParaRPr lang="uk-UA" dirty="0">
              <a:solidFill>
                <a:schemeClr val="bg1"/>
              </a:solidFill>
            </a:endParaRPr>
          </a:p>
        </p:txBody>
      </p:sp>
      <p:sp>
        <p:nvSpPr>
          <p:cNvPr id="14" name="TextBox 13">
            <a:extLst>
              <a:ext uri="{FF2B5EF4-FFF2-40B4-BE49-F238E27FC236}">
                <a16:creationId xmlns:a16="http://schemas.microsoft.com/office/drawing/2014/main" id="{2ABD0CDE-AE1A-4E74-BAC1-496D43D180BA}"/>
              </a:ext>
            </a:extLst>
          </p:cNvPr>
          <p:cNvSpPr txBox="1"/>
          <p:nvPr/>
        </p:nvSpPr>
        <p:spPr>
          <a:xfrm>
            <a:off x="526071" y="4978595"/>
            <a:ext cx="2244717" cy="369332"/>
          </a:xfrm>
          <a:prstGeom prst="rect">
            <a:avLst/>
          </a:prstGeom>
          <a:noFill/>
        </p:spPr>
        <p:txBody>
          <a:bodyPr wrap="none" rtlCol="0">
            <a:spAutoFit/>
          </a:bodyPr>
          <a:lstStyle/>
          <a:p>
            <a:pPr marL="285750" indent="-285750">
              <a:buFont typeface="Arial" panose="020B0604020202020204" pitchFamily="34" charset="0"/>
              <a:buChar char="•"/>
            </a:pPr>
            <a:r>
              <a:rPr lang="en-US" dirty="0">
                <a:solidFill>
                  <a:schemeClr val="bg1"/>
                </a:solidFill>
              </a:rPr>
              <a:t>display: flow-root</a:t>
            </a:r>
            <a:endParaRPr lang="uk-UA" dirty="0">
              <a:solidFill>
                <a:schemeClr val="bg1"/>
              </a:solidFill>
            </a:endParaRPr>
          </a:p>
        </p:txBody>
      </p:sp>
    </p:spTree>
    <p:extLst>
      <p:ext uri="{BB962C8B-B14F-4D97-AF65-F5344CB8AC3E}">
        <p14:creationId xmlns:p14="http://schemas.microsoft.com/office/powerpoint/2010/main" val="18187554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D816E82-FE2E-4817-A3DB-5401F480E9FE}"/>
              </a:ext>
            </a:extLst>
          </p:cNvPr>
          <p:cNvSpPr>
            <a:spLocks noGrp="1"/>
          </p:cNvSpPr>
          <p:nvPr>
            <p:ph type="title"/>
          </p:nvPr>
        </p:nvSpPr>
        <p:spPr/>
        <p:txBody>
          <a:bodyPr/>
          <a:lstStyle/>
          <a:p>
            <a:r>
              <a:rPr lang="en-US" b="1" dirty="0"/>
              <a:t>Multiple-column layout</a:t>
            </a:r>
            <a:br>
              <a:rPr lang="en-US" b="1" dirty="0"/>
            </a:br>
            <a:endParaRPr lang="uk-UA" dirty="0"/>
          </a:p>
        </p:txBody>
      </p:sp>
      <p:pic>
        <p:nvPicPr>
          <p:cNvPr id="5" name="Рисунок 4">
            <a:extLst>
              <a:ext uri="{FF2B5EF4-FFF2-40B4-BE49-F238E27FC236}">
                <a16:creationId xmlns:a16="http://schemas.microsoft.com/office/drawing/2014/main" id="{1B19013B-E9D1-4659-9724-9A12731E59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2189611"/>
            <a:ext cx="2152950" cy="790685"/>
          </a:xfrm>
          <a:prstGeom prst="rect">
            <a:avLst/>
          </a:prstGeom>
        </p:spPr>
      </p:pic>
      <p:pic>
        <p:nvPicPr>
          <p:cNvPr id="7" name="Рисунок 6">
            <a:extLst>
              <a:ext uri="{FF2B5EF4-FFF2-40B4-BE49-F238E27FC236}">
                <a16:creationId xmlns:a16="http://schemas.microsoft.com/office/drawing/2014/main" id="{38D5978E-6BC9-487B-B9A1-6CAFF97967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16712" y="1751428"/>
            <a:ext cx="4668620" cy="2856563"/>
          </a:xfrm>
          <a:prstGeom prst="rect">
            <a:avLst/>
          </a:prstGeom>
        </p:spPr>
      </p:pic>
      <p:pic>
        <p:nvPicPr>
          <p:cNvPr id="9" name="Рисунок 8">
            <a:extLst>
              <a:ext uri="{FF2B5EF4-FFF2-40B4-BE49-F238E27FC236}">
                <a16:creationId xmlns:a16="http://schemas.microsoft.com/office/drawing/2014/main" id="{A5401CE5-26F9-4707-B430-596C48B4276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12451" y="4747048"/>
            <a:ext cx="6672881" cy="1558208"/>
          </a:xfrm>
          <a:prstGeom prst="rect">
            <a:avLst/>
          </a:prstGeom>
        </p:spPr>
      </p:pic>
      <p:pic>
        <p:nvPicPr>
          <p:cNvPr id="11" name="Рисунок 10">
            <a:extLst>
              <a:ext uri="{FF2B5EF4-FFF2-40B4-BE49-F238E27FC236}">
                <a16:creationId xmlns:a16="http://schemas.microsoft.com/office/drawing/2014/main" id="{2508EC5D-6C2F-4304-80F2-0A8E210F7F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7378" y="4830015"/>
            <a:ext cx="2314898" cy="762106"/>
          </a:xfrm>
          <a:prstGeom prst="rect">
            <a:avLst/>
          </a:prstGeom>
        </p:spPr>
      </p:pic>
    </p:spTree>
    <p:extLst>
      <p:ext uri="{BB962C8B-B14F-4D97-AF65-F5344CB8AC3E}">
        <p14:creationId xmlns:p14="http://schemas.microsoft.com/office/powerpoint/2010/main" val="14303210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C813B694-47FE-4847-BBAB-5000F97386FA}"/>
              </a:ext>
            </a:extLst>
          </p:cNvPr>
          <p:cNvSpPr>
            <a:spLocks noGrp="1"/>
          </p:cNvSpPr>
          <p:nvPr>
            <p:ph type="title"/>
          </p:nvPr>
        </p:nvSpPr>
        <p:spPr/>
        <p:txBody>
          <a:bodyPr/>
          <a:lstStyle/>
          <a:p>
            <a:r>
              <a:rPr lang="en-US" b="1" dirty="0"/>
              <a:t>Spanning columns</a:t>
            </a:r>
            <a:br>
              <a:rPr lang="en-US" b="1" dirty="0"/>
            </a:br>
            <a:endParaRPr lang="uk-UA" dirty="0"/>
          </a:p>
        </p:txBody>
      </p:sp>
      <p:pic>
        <p:nvPicPr>
          <p:cNvPr id="5" name="Рисунок 4">
            <a:extLst>
              <a:ext uri="{FF2B5EF4-FFF2-40B4-BE49-F238E27FC236}">
                <a16:creationId xmlns:a16="http://schemas.microsoft.com/office/drawing/2014/main" id="{AFB93CEC-B06D-4D9C-83CB-136737879F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8972" y="2469163"/>
            <a:ext cx="3400900" cy="1114581"/>
          </a:xfrm>
          <a:prstGeom prst="rect">
            <a:avLst/>
          </a:prstGeom>
        </p:spPr>
      </p:pic>
      <p:pic>
        <p:nvPicPr>
          <p:cNvPr id="7" name="Рисунок 6">
            <a:extLst>
              <a:ext uri="{FF2B5EF4-FFF2-40B4-BE49-F238E27FC236}">
                <a16:creationId xmlns:a16="http://schemas.microsoft.com/office/drawing/2014/main" id="{502E9160-24B4-4DF9-BE0B-CBE440360C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19873" y="2272216"/>
            <a:ext cx="8238174" cy="2834356"/>
          </a:xfrm>
          <a:prstGeom prst="rect">
            <a:avLst/>
          </a:prstGeom>
        </p:spPr>
      </p:pic>
    </p:spTree>
    <p:extLst>
      <p:ext uri="{BB962C8B-B14F-4D97-AF65-F5344CB8AC3E}">
        <p14:creationId xmlns:p14="http://schemas.microsoft.com/office/powerpoint/2010/main" val="35485931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79C562A-8DB1-407C-B518-0FE5BDD2A716}"/>
              </a:ext>
            </a:extLst>
          </p:cNvPr>
          <p:cNvSpPr>
            <a:spLocks noGrp="1"/>
          </p:cNvSpPr>
          <p:nvPr>
            <p:ph type="title"/>
          </p:nvPr>
        </p:nvSpPr>
        <p:spPr/>
        <p:txBody>
          <a:bodyPr/>
          <a:lstStyle/>
          <a:p>
            <a:r>
              <a:rPr lang="en-US" b="1" dirty="0"/>
              <a:t>Columns and fragmentation</a:t>
            </a:r>
            <a:br>
              <a:rPr lang="en-US" b="1" dirty="0"/>
            </a:br>
            <a:endParaRPr lang="uk-UA" dirty="0"/>
          </a:p>
        </p:txBody>
      </p:sp>
      <p:pic>
        <p:nvPicPr>
          <p:cNvPr id="5" name="Рисунок 4">
            <a:extLst>
              <a:ext uri="{FF2B5EF4-FFF2-40B4-BE49-F238E27FC236}">
                <a16:creationId xmlns:a16="http://schemas.microsoft.com/office/drawing/2014/main" id="{7652DCA5-C981-4394-89DD-DBC3E19192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38871" y="1783375"/>
            <a:ext cx="2723791" cy="2830416"/>
          </a:xfrm>
          <a:prstGeom prst="rect">
            <a:avLst/>
          </a:prstGeom>
        </p:spPr>
      </p:pic>
      <p:pic>
        <p:nvPicPr>
          <p:cNvPr id="7" name="Рисунок 6">
            <a:extLst>
              <a:ext uri="{FF2B5EF4-FFF2-40B4-BE49-F238E27FC236}">
                <a16:creationId xmlns:a16="http://schemas.microsoft.com/office/drawing/2014/main" id="{634E3841-0C80-431E-BD20-B425C876740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8336" y="4779381"/>
            <a:ext cx="3553321" cy="1895740"/>
          </a:xfrm>
          <a:prstGeom prst="rect">
            <a:avLst/>
          </a:prstGeom>
        </p:spPr>
      </p:pic>
      <p:pic>
        <p:nvPicPr>
          <p:cNvPr id="9" name="Рисунок 8">
            <a:extLst>
              <a:ext uri="{FF2B5EF4-FFF2-40B4-BE49-F238E27FC236}">
                <a16:creationId xmlns:a16="http://schemas.microsoft.com/office/drawing/2014/main" id="{8B53C4A0-E8A0-4483-8965-95A5A1A8AB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44430" y="3586516"/>
            <a:ext cx="2972452" cy="3088605"/>
          </a:xfrm>
          <a:prstGeom prst="rect">
            <a:avLst/>
          </a:prstGeom>
        </p:spPr>
      </p:pic>
      <p:pic>
        <p:nvPicPr>
          <p:cNvPr id="11" name="Рисунок 10">
            <a:extLst>
              <a:ext uri="{FF2B5EF4-FFF2-40B4-BE49-F238E27FC236}">
                <a16:creationId xmlns:a16="http://schemas.microsoft.com/office/drawing/2014/main" id="{020CF1BA-300E-43C0-A32A-EBAE765660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4855" y="1910858"/>
            <a:ext cx="2410704" cy="1675658"/>
          </a:xfrm>
          <a:prstGeom prst="rect">
            <a:avLst/>
          </a:prstGeom>
        </p:spPr>
      </p:pic>
    </p:spTree>
    <p:extLst>
      <p:ext uri="{BB962C8B-B14F-4D97-AF65-F5344CB8AC3E}">
        <p14:creationId xmlns:p14="http://schemas.microsoft.com/office/powerpoint/2010/main" val="2778498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8A4BADA-FCBA-4954-BF91-140C5BDC4FD8}"/>
              </a:ext>
            </a:extLst>
          </p:cNvPr>
          <p:cNvSpPr>
            <a:spLocks noGrp="1"/>
          </p:cNvSpPr>
          <p:nvPr>
            <p:ph type="title"/>
          </p:nvPr>
        </p:nvSpPr>
        <p:spPr/>
        <p:txBody>
          <a:bodyPr/>
          <a:lstStyle/>
          <a:p>
            <a:r>
              <a:rPr lang="en-US" dirty="0"/>
              <a:t>Cross </a:t>
            </a:r>
            <a:r>
              <a:rPr lang="en-US"/>
              <a:t>browser implementation</a:t>
            </a:r>
            <a:endParaRPr lang="uk-UA"/>
          </a:p>
        </p:txBody>
      </p:sp>
      <p:sp>
        <p:nvSpPr>
          <p:cNvPr id="3" name="Текст 2">
            <a:extLst>
              <a:ext uri="{FF2B5EF4-FFF2-40B4-BE49-F238E27FC236}">
                <a16:creationId xmlns:a16="http://schemas.microsoft.com/office/drawing/2014/main" id="{E6DBD407-F27C-4B18-BF5E-CF4639296D4F}"/>
              </a:ext>
            </a:extLst>
          </p:cNvPr>
          <p:cNvSpPr>
            <a:spLocks noGrp="1"/>
          </p:cNvSpPr>
          <p:nvPr>
            <p:ph type="body" sz="quarter" idx="10"/>
          </p:nvPr>
        </p:nvSpPr>
        <p:spPr/>
        <p:txBody>
          <a:bodyPr/>
          <a:lstStyle/>
          <a:p>
            <a:pPr marL="342900" indent="-342900">
              <a:buFont typeface="Arial" panose="020B0604020202020204" pitchFamily="34" charset="0"/>
              <a:buChar char="•"/>
            </a:pPr>
            <a:r>
              <a:rPr lang="en-US" b="1" dirty="0"/>
              <a:t> </a:t>
            </a:r>
            <a:r>
              <a:rPr lang="en-US" dirty="0"/>
              <a:t>find out the number of visitors coming to your site using older browsers (</a:t>
            </a:r>
            <a:r>
              <a:rPr lang="en-US" u="sng" dirty="0" err="1">
                <a:hlinkClick r:id="rId2"/>
              </a:rPr>
              <a:t>Statcounter</a:t>
            </a:r>
            <a:r>
              <a:rPr lang="en-US" dirty="0"/>
              <a:t>)</a:t>
            </a:r>
          </a:p>
          <a:p>
            <a:pPr marL="342900" indent="-342900">
              <a:buFont typeface="Arial" panose="020B0604020202020204" pitchFamily="34" charset="0"/>
              <a:buChar char="•"/>
            </a:pPr>
            <a:r>
              <a:rPr lang="en-US" dirty="0"/>
              <a:t> consider the type of devices and the way people use your site</a:t>
            </a:r>
          </a:p>
          <a:p>
            <a:pPr marL="342900" indent="-342900">
              <a:buFont typeface="Arial" panose="020B0604020202020204" pitchFamily="34" charset="0"/>
              <a:buChar char="•"/>
            </a:pPr>
            <a:r>
              <a:rPr lang="en-US" dirty="0"/>
              <a:t> find out about how well a feature is supported (</a:t>
            </a:r>
            <a:r>
              <a:rPr lang="en-US" dirty="0">
                <a:hlinkClick r:id="rId3"/>
              </a:rPr>
              <a:t>Can I Use</a:t>
            </a:r>
            <a:r>
              <a:rPr lang="en-US" dirty="0"/>
              <a:t>)</a:t>
            </a:r>
            <a:endParaRPr lang="en-US" b="1" dirty="0"/>
          </a:p>
        </p:txBody>
      </p:sp>
    </p:spTree>
    <p:extLst>
      <p:ext uri="{BB962C8B-B14F-4D97-AF65-F5344CB8AC3E}">
        <p14:creationId xmlns:p14="http://schemas.microsoft.com/office/powerpoint/2010/main" val="16830101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E5B0180-0CE8-4069-BADF-393EABC6EECF}"/>
              </a:ext>
            </a:extLst>
          </p:cNvPr>
          <p:cNvSpPr>
            <a:spLocks noGrp="1"/>
          </p:cNvSpPr>
          <p:nvPr>
            <p:ph type="title"/>
          </p:nvPr>
        </p:nvSpPr>
        <p:spPr/>
        <p:txBody>
          <a:bodyPr/>
          <a:lstStyle/>
          <a:p>
            <a:r>
              <a:rPr lang="en-US" b="1" dirty="0"/>
              <a:t>Creating fallbacks in CSS</a:t>
            </a:r>
            <a:br>
              <a:rPr lang="en-US" b="1" dirty="0"/>
            </a:br>
            <a:endParaRPr lang="uk-UA" dirty="0"/>
          </a:p>
        </p:txBody>
      </p:sp>
      <p:pic>
        <p:nvPicPr>
          <p:cNvPr id="5" name="Рисунок 4">
            <a:extLst>
              <a:ext uri="{FF2B5EF4-FFF2-40B4-BE49-F238E27FC236}">
                <a16:creationId xmlns:a16="http://schemas.microsoft.com/office/drawing/2014/main" id="{9C706025-97C0-493E-9038-689389FABE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9314" y="2402683"/>
            <a:ext cx="3543795" cy="3686689"/>
          </a:xfrm>
          <a:prstGeom prst="rect">
            <a:avLst/>
          </a:prstGeom>
        </p:spPr>
      </p:pic>
      <p:pic>
        <p:nvPicPr>
          <p:cNvPr id="7" name="Рисунок 6">
            <a:extLst>
              <a:ext uri="{FF2B5EF4-FFF2-40B4-BE49-F238E27FC236}">
                <a16:creationId xmlns:a16="http://schemas.microsoft.com/office/drawing/2014/main" id="{D9988207-C5EB-4CD7-BCC7-9F01701F98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994" y="3305382"/>
            <a:ext cx="3524742" cy="1209844"/>
          </a:xfrm>
          <a:prstGeom prst="rect">
            <a:avLst/>
          </a:prstGeom>
        </p:spPr>
      </p:pic>
      <p:pic>
        <p:nvPicPr>
          <p:cNvPr id="9" name="Рисунок 8">
            <a:extLst>
              <a:ext uri="{FF2B5EF4-FFF2-40B4-BE49-F238E27FC236}">
                <a16:creationId xmlns:a16="http://schemas.microsoft.com/office/drawing/2014/main" id="{965B8ABC-C4FD-4615-BBB7-47E07F6A99F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2687" y="2760087"/>
            <a:ext cx="3915321" cy="771633"/>
          </a:xfrm>
          <a:prstGeom prst="rect">
            <a:avLst/>
          </a:prstGeom>
        </p:spPr>
      </p:pic>
      <p:sp>
        <p:nvSpPr>
          <p:cNvPr id="10" name="TextBox 9">
            <a:extLst>
              <a:ext uri="{FF2B5EF4-FFF2-40B4-BE49-F238E27FC236}">
                <a16:creationId xmlns:a16="http://schemas.microsoft.com/office/drawing/2014/main" id="{6A6D76F6-EAC1-4CC1-A176-625D4C9C3D0E}"/>
              </a:ext>
            </a:extLst>
          </p:cNvPr>
          <p:cNvSpPr txBox="1"/>
          <p:nvPr/>
        </p:nvSpPr>
        <p:spPr>
          <a:xfrm>
            <a:off x="1391478" y="2961237"/>
            <a:ext cx="784189" cy="369332"/>
          </a:xfrm>
          <a:prstGeom prst="rect">
            <a:avLst/>
          </a:prstGeom>
          <a:noFill/>
        </p:spPr>
        <p:txBody>
          <a:bodyPr wrap="none" rtlCol="0">
            <a:spAutoFit/>
          </a:bodyPr>
          <a:lstStyle/>
          <a:p>
            <a:r>
              <a:rPr lang="en-US" dirty="0">
                <a:solidFill>
                  <a:schemeClr val="bg1"/>
                </a:solidFill>
              </a:rPr>
              <a:t>HTML</a:t>
            </a:r>
            <a:endParaRPr lang="uk-UA" dirty="0">
              <a:solidFill>
                <a:schemeClr val="bg1"/>
              </a:solidFill>
            </a:endParaRPr>
          </a:p>
        </p:txBody>
      </p:sp>
      <p:sp>
        <p:nvSpPr>
          <p:cNvPr id="11" name="TextBox 10">
            <a:extLst>
              <a:ext uri="{FF2B5EF4-FFF2-40B4-BE49-F238E27FC236}">
                <a16:creationId xmlns:a16="http://schemas.microsoft.com/office/drawing/2014/main" id="{3A8BC889-7505-4C7A-A92E-0CC026F2FEE9}"/>
              </a:ext>
            </a:extLst>
          </p:cNvPr>
          <p:cNvSpPr txBox="1"/>
          <p:nvPr/>
        </p:nvSpPr>
        <p:spPr>
          <a:xfrm>
            <a:off x="5521804" y="2033351"/>
            <a:ext cx="574196" cy="369332"/>
          </a:xfrm>
          <a:prstGeom prst="rect">
            <a:avLst/>
          </a:prstGeom>
          <a:noFill/>
        </p:spPr>
        <p:txBody>
          <a:bodyPr wrap="none" rtlCol="0">
            <a:spAutoFit/>
          </a:bodyPr>
          <a:lstStyle/>
          <a:p>
            <a:r>
              <a:rPr lang="en-US" dirty="0">
                <a:solidFill>
                  <a:schemeClr val="bg1"/>
                </a:solidFill>
              </a:rPr>
              <a:t>CSS</a:t>
            </a:r>
            <a:endParaRPr lang="uk-UA" dirty="0">
              <a:solidFill>
                <a:schemeClr val="bg1"/>
              </a:solidFill>
            </a:endParaRPr>
          </a:p>
        </p:txBody>
      </p:sp>
    </p:spTree>
    <p:extLst>
      <p:ext uri="{BB962C8B-B14F-4D97-AF65-F5344CB8AC3E}">
        <p14:creationId xmlns:p14="http://schemas.microsoft.com/office/powerpoint/2010/main" val="2163860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25945D78-EA21-4F88-B7FA-3ED4F650A07E}"/>
              </a:ext>
            </a:extLst>
          </p:cNvPr>
          <p:cNvSpPr>
            <a:spLocks noGrp="1"/>
          </p:cNvSpPr>
          <p:nvPr>
            <p:ph type="title"/>
          </p:nvPr>
        </p:nvSpPr>
        <p:spPr/>
        <p:txBody>
          <a:bodyPr/>
          <a:lstStyle/>
          <a:p>
            <a:r>
              <a:rPr lang="en-US" b="1" dirty="0"/>
              <a:t>Feature queries</a:t>
            </a:r>
            <a:br>
              <a:rPr lang="en-US" b="1" dirty="0"/>
            </a:br>
            <a:endParaRPr lang="uk-UA" dirty="0"/>
          </a:p>
        </p:txBody>
      </p:sp>
      <p:pic>
        <p:nvPicPr>
          <p:cNvPr id="4" name="Рисунок 3">
            <a:extLst>
              <a:ext uri="{FF2B5EF4-FFF2-40B4-BE49-F238E27FC236}">
                <a16:creationId xmlns:a16="http://schemas.microsoft.com/office/drawing/2014/main" id="{B6B0B43A-45A0-4F83-A5DB-1223DD353E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8246" y="3318634"/>
            <a:ext cx="3524742" cy="1209844"/>
          </a:xfrm>
          <a:prstGeom prst="rect">
            <a:avLst/>
          </a:prstGeom>
        </p:spPr>
      </p:pic>
      <p:sp>
        <p:nvSpPr>
          <p:cNvPr id="5" name="TextBox 4">
            <a:extLst>
              <a:ext uri="{FF2B5EF4-FFF2-40B4-BE49-F238E27FC236}">
                <a16:creationId xmlns:a16="http://schemas.microsoft.com/office/drawing/2014/main" id="{35CFDB51-7DA3-4178-919E-08BA13C584E9}"/>
              </a:ext>
            </a:extLst>
          </p:cNvPr>
          <p:cNvSpPr txBox="1"/>
          <p:nvPr/>
        </p:nvSpPr>
        <p:spPr>
          <a:xfrm>
            <a:off x="1404730" y="2974489"/>
            <a:ext cx="784189" cy="369332"/>
          </a:xfrm>
          <a:prstGeom prst="rect">
            <a:avLst/>
          </a:prstGeom>
          <a:noFill/>
        </p:spPr>
        <p:txBody>
          <a:bodyPr wrap="none" rtlCol="0">
            <a:spAutoFit/>
          </a:bodyPr>
          <a:lstStyle/>
          <a:p>
            <a:r>
              <a:rPr lang="en-US" dirty="0">
                <a:solidFill>
                  <a:schemeClr val="bg1"/>
                </a:solidFill>
              </a:rPr>
              <a:t>HTML</a:t>
            </a:r>
            <a:endParaRPr lang="uk-UA" dirty="0">
              <a:solidFill>
                <a:schemeClr val="bg1"/>
              </a:solidFill>
            </a:endParaRPr>
          </a:p>
        </p:txBody>
      </p:sp>
      <p:pic>
        <p:nvPicPr>
          <p:cNvPr id="7" name="Рисунок 6">
            <a:extLst>
              <a:ext uri="{FF2B5EF4-FFF2-40B4-BE49-F238E27FC236}">
                <a16:creationId xmlns:a16="http://schemas.microsoft.com/office/drawing/2014/main" id="{C532EEDB-9B81-456B-9ED2-FFE81D515E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11465" y="2239670"/>
            <a:ext cx="3083249" cy="4467894"/>
          </a:xfrm>
          <a:prstGeom prst="rect">
            <a:avLst/>
          </a:prstGeom>
        </p:spPr>
      </p:pic>
      <p:sp>
        <p:nvSpPr>
          <p:cNvPr id="8" name="TextBox 7">
            <a:extLst>
              <a:ext uri="{FF2B5EF4-FFF2-40B4-BE49-F238E27FC236}">
                <a16:creationId xmlns:a16="http://schemas.microsoft.com/office/drawing/2014/main" id="{F8BFF0B3-C138-424C-8E7F-B6D7C1DA8BAE}"/>
              </a:ext>
            </a:extLst>
          </p:cNvPr>
          <p:cNvSpPr txBox="1"/>
          <p:nvPr/>
        </p:nvSpPr>
        <p:spPr>
          <a:xfrm>
            <a:off x="5521804" y="1870338"/>
            <a:ext cx="574196" cy="369332"/>
          </a:xfrm>
          <a:prstGeom prst="rect">
            <a:avLst/>
          </a:prstGeom>
          <a:noFill/>
        </p:spPr>
        <p:txBody>
          <a:bodyPr wrap="none" rtlCol="0">
            <a:spAutoFit/>
          </a:bodyPr>
          <a:lstStyle/>
          <a:p>
            <a:r>
              <a:rPr lang="en-US" dirty="0">
                <a:solidFill>
                  <a:schemeClr val="bg1"/>
                </a:solidFill>
              </a:rPr>
              <a:t>CSS</a:t>
            </a:r>
            <a:endParaRPr lang="uk-UA" dirty="0">
              <a:solidFill>
                <a:schemeClr val="bg1"/>
              </a:solidFill>
            </a:endParaRPr>
          </a:p>
        </p:txBody>
      </p:sp>
      <p:pic>
        <p:nvPicPr>
          <p:cNvPr id="9" name="Рисунок 8">
            <a:extLst>
              <a:ext uri="{FF2B5EF4-FFF2-40B4-BE49-F238E27FC236}">
                <a16:creationId xmlns:a16="http://schemas.microsoft.com/office/drawing/2014/main" id="{8746BF51-131F-4B6D-9F1C-7C983B5C4A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04392" y="3151923"/>
            <a:ext cx="3915321" cy="771633"/>
          </a:xfrm>
          <a:prstGeom prst="rect">
            <a:avLst/>
          </a:prstGeom>
        </p:spPr>
      </p:pic>
    </p:spTree>
    <p:extLst>
      <p:ext uri="{BB962C8B-B14F-4D97-AF65-F5344CB8AC3E}">
        <p14:creationId xmlns:p14="http://schemas.microsoft.com/office/powerpoint/2010/main" val="22848045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asted-image.png"/>
          <p:cNvPicPr>
            <a:picLocks noChangeAspect="1"/>
          </p:cNvPicPr>
          <p:nvPr/>
        </p:nvPicPr>
        <p:blipFill>
          <a:blip r:embed="rId2"/>
          <a:stretch>
            <a:fillRect/>
          </a:stretch>
        </p:blipFill>
        <p:spPr>
          <a:xfrm>
            <a:off x="0" y="0"/>
            <a:ext cx="12192000" cy="6858000"/>
          </a:xfrm>
          <a:prstGeom prst="rect">
            <a:avLst/>
          </a:prstGeom>
          <a:ln w="12700">
            <a:miter lim="400000"/>
          </a:ln>
        </p:spPr>
      </p:pic>
    </p:spTree>
    <p:extLst>
      <p:ext uri="{BB962C8B-B14F-4D97-AF65-F5344CB8AC3E}">
        <p14:creationId xmlns:p14="http://schemas.microsoft.com/office/powerpoint/2010/main" val="1735758878"/>
      </p:ext>
    </p:extLst>
  </p:cSld>
  <p:clrMapOvr>
    <a:masterClrMapping/>
  </p:clrMapOvr>
</p:sld>
</file>

<file path=ppt/theme/theme1.xml><?xml version="1.0" encoding="utf-8"?>
<a:theme xmlns:a="http://schemas.openxmlformats.org/drawingml/2006/main" name="1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2.xml><?xml version="1.0" encoding="utf-8"?>
<a:theme xmlns:a="http://schemas.openxmlformats.org/drawingml/2006/main" name="2_GRADIENT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3.xml><?xml version="1.0" encoding="utf-8"?>
<a:theme xmlns:a="http://schemas.openxmlformats.org/drawingml/2006/main" name="2_DARK THEME">
  <a:themeElements>
    <a:clrScheme name="SOFTSERVE">
      <a:dk1>
        <a:sysClr val="windowText" lastClr="000000"/>
      </a:dk1>
      <a:lt1>
        <a:sysClr val="window" lastClr="FFFFFF"/>
      </a:lt1>
      <a:dk2>
        <a:srgbClr val="000000"/>
      </a:dk2>
      <a:lt2>
        <a:srgbClr val="FFFFFF"/>
      </a:lt2>
      <a:accent1>
        <a:srgbClr val="00B188"/>
      </a:accent1>
      <a:accent2>
        <a:srgbClr val="9F26B5"/>
      </a:accent2>
      <a:accent3>
        <a:srgbClr val="4E5FAB"/>
      </a:accent3>
      <a:accent4>
        <a:srgbClr val="95D600"/>
      </a:accent4>
      <a:accent5>
        <a:srgbClr val="D41B5D"/>
      </a:accent5>
      <a:accent6>
        <a:srgbClr val="00A6CE"/>
      </a:accent6>
      <a:hlink>
        <a:srgbClr val="00A6CE"/>
      </a:hlink>
      <a:folHlink>
        <a:srgbClr val="4E5FAB"/>
      </a:folHlink>
    </a:clrScheme>
    <a:fontScheme name="Custom 1">
      <a:majorFont>
        <a:latin typeface="Proxima Nova Black"/>
        <a:ea typeface=""/>
        <a:cs typeface=""/>
      </a:majorFont>
      <a:minorFont>
        <a:latin typeface="Open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7" id="{EDBDD289-3946-6C44-95DC-76383EF7028A}" vid="{6D763B00-EF50-F542-BB8F-59F84E5659F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x041a__x043e__x043c__x0435__x0442__x0430__x0440_ xmlns="835f28f2-30f1-4728-84d2-86d96e143488"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195FC54A15F344D83577B1CDDD67A5D" ma:contentTypeVersion="13" ma:contentTypeDescription="Create a new document." ma:contentTypeScope="" ma:versionID="30ded57c9b2156718eb8cc7b0e4246dc">
  <xsd:schema xmlns:xsd="http://www.w3.org/2001/XMLSchema" xmlns:xs="http://www.w3.org/2001/XMLSchema" xmlns:p="http://schemas.microsoft.com/office/2006/metadata/properties" xmlns:ns2="341e6018-ac0a-4dfb-8409-db9e0d25502e" xmlns:ns3="835f28f2-30f1-4728-84d2-86d96e143488" targetNamespace="http://schemas.microsoft.com/office/2006/metadata/properties" ma:root="true" ma:fieldsID="a0d1831635397921c92a19e568dfc949" ns2:_="" ns3:_="">
    <xsd:import namespace="341e6018-ac0a-4dfb-8409-db9e0d25502e"/>
    <xsd:import namespace="835f28f2-30f1-4728-84d2-86d96e143488"/>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DateTaken" minOccurs="0"/>
                <xsd:element ref="ns3:MediaServiceAutoTags" minOccurs="0"/>
                <xsd:element ref="ns3:MediaServiceLocation" minOccurs="0"/>
                <xsd:element ref="ns3:MediaServiceOCR" minOccurs="0"/>
                <xsd:element ref="ns3:_x041a__x043e__x043c__x0435__x0442__x0430__x0440_" minOccurs="0"/>
                <xsd:element ref="ns3:MediaServiceGenerationTime" minOccurs="0"/>
                <xsd:element ref="ns3:MediaServiceEventHashCode" minOccurs="0"/>
                <xsd:element ref="ns3:MediaServiceAutoKeyPoints" minOccurs="0"/>
                <xsd:element ref="ns3: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41e6018-ac0a-4dfb-8409-db9e0d25502e"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5f28f2-30f1-4728-84d2-86d96e143488" elementFormDefault="qualified">
    <xsd:import namespace="http://schemas.microsoft.com/office/2006/documentManagement/types"/>
    <xsd:import namespace="http://schemas.microsoft.com/office/infopath/2007/PartnerControls"/>
    <xsd:element name="MediaServiceMetadata" ma:index="10" nillable="true" ma:displayName="MediaServiceMetadata" ma:description="" ma:hidden="true" ma:internalName="MediaServiceMetadata" ma:readOnly="true">
      <xsd:simpleType>
        <xsd:restriction base="dms:Note"/>
      </xsd:simpleType>
    </xsd:element>
    <xsd:element name="MediaServiceFastMetadata" ma:index="11" nillable="true" ma:displayName="MediaServiceFastMetadata" ma:description="" ma:hidden="true" ma:internalName="MediaServiceFastMetadata" ma:readOnly="true">
      <xsd:simpleType>
        <xsd:restriction base="dms:Note"/>
      </xsd:simpleType>
    </xsd:element>
    <xsd:element name="MediaServiceDateTaken" ma:index="12" nillable="true" ma:displayName="MediaServiceDateTaken" ma:description="" ma:hidden="true" ma:internalName="MediaServiceDateTaken" ma:readOnly="true">
      <xsd:simpleType>
        <xsd:restriction base="dms:Text"/>
      </xsd:simpleType>
    </xsd:element>
    <xsd:element name="MediaServiceAutoTags" ma:index="13" nillable="true" ma:displayName="MediaServiceAutoTags" ma:description="" ma:internalName="MediaServiceAutoTags" ma:readOnly="true">
      <xsd:simpleType>
        <xsd:restriction base="dms:Text"/>
      </xsd:simpleType>
    </xsd:element>
    <xsd:element name="MediaServiceLocation" ma:index="14" nillable="true" ma:displayName="MediaServiceLocation" ma:description="" ma:internalName="MediaServiceLocation" ma:readOnly="true">
      <xsd:simpleType>
        <xsd:restriction base="dms:Text"/>
      </xsd:simpleType>
    </xsd:element>
    <xsd:element name="MediaServiceOCR" ma:index="15" nillable="true" ma:displayName="MediaServiceOCR" ma:internalName="MediaServiceOCR" ma:readOnly="true">
      <xsd:simpleType>
        <xsd:restriction base="dms:Note">
          <xsd:maxLength value="255"/>
        </xsd:restriction>
      </xsd:simpleType>
    </xsd:element>
    <xsd:element name="_x041a__x043e__x043c__x0435__x0442__x0430__x0440_" ma:index="16" nillable="true" ma:displayName="Кометар" ma:internalName="_x041a__x043e__x043c__x0435__x0442__x0430__x0440_">
      <xsd:simpleType>
        <xsd:restriction base="dms:Text">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96B3B9E-03D8-4766-BF45-6129617CF026}">
  <ds:schemaRefs>
    <ds:schemaRef ds:uri="http://schemas.microsoft.com/sharepoint/v3/contenttype/forms"/>
  </ds:schemaRefs>
</ds:datastoreItem>
</file>

<file path=customXml/itemProps2.xml><?xml version="1.0" encoding="utf-8"?>
<ds:datastoreItem xmlns:ds="http://schemas.openxmlformats.org/officeDocument/2006/customXml" ds:itemID="{E9033E08-7FE9-4F6D-B155-A8777B4A5A57}">
  <ds:schemaRefs>
    <ds:schemaRef ds:uri="341e6018-ac0a-4dfb-8409-db9e0d25502e"/>
    <ds:schemaRef ds:uri="835f28f2-30f1-4728-84d2-86d96e14348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5BCFD5A9-9FF3-42E0-89D7-BF5BFC61DD60}">
  <ds:schemaRefs>
    <ds:schemaRef ds:uri="341e6018-ac0a-4dfb-8409-db9e0d25502e"/>
    <ds:schemaRef ds:uri="835f28f2-30f1-4728-84d2-86d96e14348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1935</TotalTime>
  <Words>829</Words>
  <Application>Microsoft Office PowerPoint</Application>
  <PresentationFormat>Широкоэкранный</PresentationFormat>
  <Paragraphs>78</Paragraphs>
  <Slides>30</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3</vt:i4>
      </vt:variant>
      <vt:variant>
        <vt:lpstr>Заголовки слайдов</vt:lpstr>
      </vt:variant>
      <vt:variant>
        <vt:i4>30</vt:i4>
      </vt:variant>
    </vt:vector>
  </HeadingPairs>
  <TitlesOfParts>
    <vt:vector size="38" baseType="lpstr">
      <vt:lpstr>Arial</vt:lpstr>
      <vt:lpstr>Calibri</vt:lpstr>
      <vt:lpstr>Open Sans</vt:lpstr>
      <vt:lpstr>Open Sans Regular</vt:lpstr>
      <vt:lpstr>Proxima Nova Black</vt:lpstr>
      <vt:lpstr>1_GRADIENT THEME</vt:lpstr>
      <vt:lpstr>2_GRADIENT THEME</vt:lpstr>
      <vt:lpstr>2_DARK THEME</vt:lpstr>
      <vt:lpstr>WELCOME TO THE FUTURE</vt:lpstr>
      <vt:lpstr>Site Layout. Best practices. Cross browser’s implementation. </vt:lpstr>
      <vt:lpstr>Normal Flow</vt:lpstr>
      <vt:lpstr>The display property </vt:lpstr>
      <vt:lpstr>Flexbox</vt:lpstr>
      <vt:lpstr>Directions and Size</vt:lpstr>
      <vt:lpstr>Wrapping</vt:lpstr>
      <vt:lpstr>Flexible sizing of flex items </vt:lpstr>
      <vt:lpstr>Ordering flex items  </vt:lpstr>
      <vt:lpstr>CSS Grid Layout</vt:lpstr>
      <vt:lpstr>Creating greed  in CSS</vt:lpstr>
      <vt:lpstr>The implicit and explicit grid</vt:lpstr>
      <vt:lpstr>Line-based placement </vt:lpstr>
      <vt:lpstr>Line-based placement </vt:lpstr>
      <vt:lpstr>Positioning with grid-template-areas  </vt:lpstr>
      <vt:lpstr>A CSS Grid, grid framework </vt:lpstr>
      <vt:lpstr>Grid and flexbox</vt:lpstr>
      <vt:lpstr>Floats</vt:lpstr>
      <vt:lpstr>Simple float example</vt:lpstr>
      <vt:lpstr>Simple float example</vt:lpstr>
      <vt:lpstr>Clearing floats </vt:lpstr>
      <vt:lpstr>Clearing boxes wrapped around a float </vt:lpstr>
      <vt:lpstr>Solution</vt:lpstr>
      <vt:lpstr>Multiple-column layout </vt:lpstr>
      <vt:lpstr>Spanning columns </vt:lpstr>
      <vt:lpstr>Columns and fragmentation </vt:lpstr>
      <vt:lpstr>Cross browser implementation</vt:lpstr>
      <vt:lpstr>Creating fallbacks in CSS </vt:lpstr>
      <vt:lpstr>Feature queries </vt:lpstr>
      <vt:lpstr>Презентация PowerPoint</vt:lpstr>
    </vt:vector>
  </TitlesOfParts>
  <Company>Verint Systems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508/WCAG SERVICE</dc:title>
  <dc:creator>Strutynska, Viktoriya</dc:creator>
  <cp:lastModifiedBy>Volodymyr Hrytsiv</cp:lastModifiedBy>
  <cp:revision>43</cp:revision>
  <dcterms:created xsi:type="dcterms:W3CDTF">2018-11-02T13:55:27Z</dcterms:created>
  <dcterms:modified xsi:type="dcterms:W3CDTF">2020-03-31T08:44:40Z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0x0101004195FC54A15F344D83577B1CDDD67A5D</vt:lpwstr>
  </property>
</Properties>
</file>